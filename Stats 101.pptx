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9"/>
  </p:notesMasterIdLst>
  <p:sldIdLst>
    <p:sldId id="256" r:id="rId2"/>
    <p:sldId id="257" r:id="rId3"/>
    <p:sldId id="258" r:id="rId4"/>
    <p:sldId id="259" r:id="rId5"/>
    <p:sldId id="273" r:id="rId6"/>
    <p:sldId id="260" r:id="rId7"/>
    <p:sldId id="264" r:id="rId8"/>
    <p:sldId id="310" r:id="rId9"/>
    <p:sldId id="311" r:id="rId10"/>
    <p:sldId id="312" r:id="rId11"/>
    <p:sldId id="266" r:id="rId12"/>
    <p:sldId id="313" r:id="rId13"/>
    <p:sldId id="314" r:id="rId14"/>
    <p:sldId id="268" r:id="rId15"/>
    <p:sldId id="267" r:id="rId16"/>
    <p:sldId id="269" r:id="rId17"/>
    <p:sldId id="271" r:id="rId18"/>
    <p:sldId id="272" r:id="rId19"/>
    <p:sldId id="261" r:id="rId20"/>
    <p:sldId id="274" r:id="rId21"/>
    <p:sldId id="276" r:id="rId22"/>
    <p:sldId id="277" r:id="rId23"/>
    <p:sldId id="278" r:id="rId24"/>
    <p:sldId id="275" r:id="rId25"/>
    <p:sldId id="282" r:id="rId26"/>
    <p:sldId id="280" r:id="rId27"/>
    <p:sldId id="262" r:id="rId28"/>
    <p:sldId id="283" r:id="rId29"/>
    <p:sldId id="285" r:id="rId30"/>
    <p:sldId id="284" r:id="rId31"/>
    <p:sldId id="263" r:id="rId32"/>
    <p:sldId id="287" r:id="rId33"/>
    <p:sldId id="289" r:id="rId34"/>
    <p:sldId id="331" r:id="rId35"/>
    <p:sldId id="295" r:id="rId36"/>
    <p:sldId id="291" r:id="rId37"/>
    <p:sldId id="296" r:id="rId38"/>
    <p:sldId id="320" r:id="rId39"/>
    <p:sldId id="305" r:id="rId40"/>
    <p:sldId id="294" r:id="rId41"/>
    <p:sldId id="308" r:id="rId42"/>
    <p:sldId id="304" r:id="rId43"/>
    <p:sldId id="318" r:id="rId44"/>
    <p:sldId id="317" r:id="rId45"/>
    <p:sldId id="319" r:id="rId46"/>
    <p:sldId id="301" r:id="rId47"/>
    <p:sldId id="321" r:id="rId48"/>
    <p:sldId id="322" r:id="rId49"/>
    <p:sldId id="323" r:id="rId50"/>
    <p:sldId id="324" r:id="rId51"/>
    <p:sldId id="325" r:id="rId52"/>
    <p:sldId id="326" r:id="rId53"/>
    <p:sldId id="327" r:id="rId54"/>
    <p:sldId id="298" r:id="rId55"/>
    <p:sldId id="329" r:id="rId56"/>
    <p:sldId id="330" r:id="rId57"/>
    <p:sldId id="302"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ilestone 1" id="{C1F13746-121D-4EF7-B594-2A4E1BB45633}">
          <p14:sldIdLst>
            <p14:sldId id="256"/>
            <p14:sldId id="257"/>
            <p14:sldId id="258"/>
            <p14:sldId id="259"/>
            <p14:sldId id="273"/>
          </p14:sldIdLst>
        </p14:section>
        <p14:section name="Central Tendency" id="{ACFB44D6-C6CF-4F2F-819D-00A82EA664E6}">
          <p14:sldIdLst>
            <p14:sldId id="260"/>
            <p14:sldId id="264"/>
            <p14:sldId id="310"/>
            <p14:sldId id="311"/>
            <p14:sldId id="312"/>
            <p14:sldId id="266"/>
            <p14:sldId id="313"/>
            <p14:sldId id="314"/>
            <p14:sldId id="268"/>
            <p14:sldId id="267"/>
            <p14:sldId id="269"/>
            <p14:sldId id="271"/>
            <p14:sldId id="272"/>
          </p14:sldIdLst>
        </p14:section>
        <p14:section name="Regression" id="{D81BBB71-2874-41EA-919E-23FAB80656BF}">
          <p14:sldIdLst>
            <p14:sldId id="261"/>
            <p14:sldId id="274"/>
            <p14:sldId id="276"/>
            <p14:sldId id="277"/>
            <p14:sldId id="278"/>
            <p14:sldId id="275"/>
            <p14:sldId id="282"/>
            <p14:sldId id="280"/>
          </p14:sldIdLst>
        </p14:section>
        <p14:section name="Clustering" id="{87AEB215-F0BF-4230-906A-428367D58A69}">
          <p14:sldIdLst>
            <p14:sldId id="262"/>
            <p14:sldId id="283"/>
            <p14:sldId id="285"/>
            <p14:sldId id="284"/>
          </p14:sldIdLst>
        </p14:section>
        <p14:section name="Forecasting" id="{62F76551-EFD0-4C2A-9088-6ED4D6048744}">
          <p14:sldIdLst>
            <p14:sldId id="263"/>
            <p14:sldId id="287"/>
            <p14:sldId id="289"/>
            <p14:sldId id="331"/>
            <p14:sldId id="295"/>
            <p14:sldId id="291"/>
          </p14:sldIdLst>
        </p14:section>
        <p14:section name="Milestone 2" id="{B89D5FC0-317B-48E7-9C32-7B08A4313E0B}">
          <p14:sldIdLst>
            <p14:sldId id="296"/>
            <p14:sldId id="320"/>
          </p14:sldIdLst>
        </p14:section>
        <p14:section name="DAX Patterns" id="{1748F2F8-387D-4863-A8F4-0C69C6ADC73C}">
          <p14:sldIdLst>
            <p14:sldId id="305"/>
            <p14:sldId id="294"/>
            <p14:sldId id="308"/>
            <p14:sldId id="304"/>
          </p14:sldIdLst>
        </p14:section>
        <p14:section name="Box &amp; Whiskers" id="{13FFA02D-947F-49F8-A938-E5202AD9F135}">
          <p14:sldIdLst>
            <p14:sldId id="318"/>
            <p14:sldId id="317"/>
            <p14:sldId id="319"/>
            <p14:sldId id="301"/>
            <p14:sldId id="321"/>
            <p14:sldId id="322"/>
            <p14:sldId id="323"/>
            <p14:sldId id="324"/>
            <p14:sldId id="325"/>
            <p14:sldId id="326"/>
            <p14:sldId id="327"/>
          </p14:sldIdLst>
        </p14:section>
        <p14:section name="Milestone 3" id="{E36F909E-BCD0-42D5-BD90-79D8164DFBEF}">
          <p14:sldIdLst>
            <p14:sldId id="298"/>
            <p14:sldId id="329"/>
            <p14:sldId id="330"/>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8377A"/>
    <a:srgbClr val="156082"/>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F97BE1-EACA-4802-BFB1-B2A98059CEF4}" v="2" dt="2026-05-17T13:38:35.1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46" autoAdjust="0"/>
    <p:restoredTop sz="68889" autoAdjust="0"/>
  </p:normalViewPr>
  <p:slideViewPr>
    <p:cSldViewPr snapToGrid="0">
      <p:cViewPr varScale="1">
        <p:scale>
          <a:sx n="57" d="100"/>
          <a:sy n="57" d="100"/>
        </p:scale>
        <p:origin x="185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Ooi" userId="64342a81-1d38-401a-b609-a620517f3e03" providerId="ADAL" clId="{068CA156-3DE4-40ED-AAD3-1580C66E6A4B}"/>
    <pc:docChg chg="custSel modSld">
      <pc:chgData name="Alex Ooi" userId="64342a81-1d38-401a-b609-a620517f3e03" providerId="ADAL" clId="{068CA156-3DE4-40ED-AAD3-1580C66E6A4B}" dt="2026-05-17T13:42:13.692" v="562" actId="6549"/>
      <pc:docMkLst>
        <pc:docMk/>
      </pc:docMkLst>
      <pc:sldChg chg="modSp mod">
        <pc:chgData name="Alex Ooi" userId="64342a81-1d38-401a-b609-a620517f3e03" providerId="ADAL" clId="{068CA156-3DE4-40ED-AAD3-1580C66E6A4B}" dt="2026-05-17T11:14:06.811" v="25" actId="20577"/>
        <pc:sldMkLst>
          <pc:docMk/>
          <pc:sldMk cId="1910222933" sldId="283"/>
        </pc:sldMkLst>
        <pc:spChg chg="mod">
          <ac:chgData name="Alex Ooi" userId="64342a81-1d38-401a-b609-a620517f3e03" providerId="ADAL" clId="{068CA156-3DE4-40ED-AAD3-1580C66E6A4B}" dt="2026-05-17T11:14:03.732" v="20" actId="20577"/>
          <ac:spMkLst>
            <pc:docMk/>
            <pc:sldMk cId="1910222933" sldId="283"/>
            <ac:spMk id="10" creationId="{B415AAAE-BA7B-45DC-FDB8-7E1064E305FE}"/>
          </ac:spMkLst>
        </pc:spChg>
        <pc:spChg chg="mod">
          <ac:chgData name="Alex Ooi" userId="64342a81-1d38-401a-b609-a620517f3e03" providerId="ADAL" clId="{068CA156-3DE4-40ED-AAD3-1580C66E6A4B}" dt="2026-05-17T11:14:06.811" v="25" actId="20577"/>
          <ac:spMkLst>
            <pc:docMk/>
            <pc:sldMk cId="1910222933" sldId="283"/>
            <ac:spMk id="11" creationId="{C1849847-1F24-92D2-5D93-7E658739DF8C}"/>
          </ac:spMkLst>
        </pc:spChg>
      </pc:sldChg>
      <pc:sldChg chg="modSp mod">
        <pc:chgData name="Alex Ooi" userId="64342a81-1d38-401a-b609-a620517f3e03" providerId="ADAL" clId="{068CA156-3DE4-40ED-AAD3-1580C66E6A4B}" dt="2026-05-17T13:42:13.692" v="562" actId="6549"/>
        <pc:sldMkLst>
          <pc:docMk/>
          <pc:sldMk cId="2147193343" sldId="301"/>
        </pc:sldMkLst>
        <pc:spChg chg="mod">
          <ac:chgData name="Alex Ooi" userId="64342a81-1d38-401a-b609-a620517f3e03" providerId="ADAL" clId="{068CA156-3DE4-40ED-AAD3-1580C66E6A4B}" dt="2026-05-17T13:42:13.692" v="562" actId="6549"/>
          <ac:spMkLst>
            <pc:docMk/>
            <pc:sldMk cId="2147193343" sldId="301"/>
            <ac:spMk id="3" creationId="{308A2314-63A6-FF11-49C7-D00841F3AE71}"/>
          </ac:spMkLst>
        </pc:spChg>
      </pc:sldChg>
      <pc:sldChg chg="modSp mod modShow">
        <pc:chgData name="Alex Ooi" userId="64342a81-1d38-401a-b609-a620517f3e03" providerId="ADAL" clId="{068CA156-3DE4-40ED-AAD3-1580C66E6A4B}" dt="2026-05-05T13:31:59.104" v="18" actId="6549"/>
        <pc:sldMkLst>
          <pc:docMk/>
          <pc:sldMk cId="1653237077" sldId="304"/>
        </pc:sldMkLst>
        <pc:spChg chg="mod">
          <ac:chgData name="Alex Ooi" userId="64342a81-1d38-401a-b609-a620517f3e03" providerId="ADAL" clId="{068CA156-3DE4-40ED-AAD3-1580C66E6A4B}" dt="2026-05-05T13:31:59.104" v="18" actId="6549"/>
          <ac:spMkLst>
            <pc:docMk/>
            <pc:sldMk cId="1653237077" sldId="304"/>
            <ac:spMk id="5" creationId="{9FB2BE29-5B6C-9E00-BBE6-2AB3D3C7F43C}"/>
          </ac:spMkLst>
        </pc:spChg>
      </pc:sldChg>
      <pc:sldChg chg="modSp mod">
        <pc:chgData name="Alex Ooi" userId="64342a81-1d38-401a-b609-a620517f3e03" providerId="ADAL" clId="{068CA156-3DE4-40ED-AAD3-1580C66E6A4B}" dt="2026-05-17T13:34:23.132" v="142" actId="20577"/>
        <pc:sldMkLst>
          <pc:docMk/>
          <pc:sldMk cId="837763305" sldId="321"/>
        </pc:sldMkLst>
        <pc:spChg chg="mod">
          <ac:chgData name="Alex Ooi" userId="64342a81-1d38-401a-b609-a620517f3e03" providerId="ADAL" clId="{068CA156-3DE4-40ED-AAD3-1580C66E6A4B}" dt="2026-05-17T13:34:23.132" v="142" actId="20577"/>
          <ac:spMkLst>
            <pc:docMk/>
            <pc:sldMk cId="837763305" sldId="321"/>
            <ac:spMk id="3" creationId="{D0EC3847-07C1-744A-11BE-C295567AE8DC}"/>
          </ac:spMkLst>
        </pc:spChg>
      </pc:sldChg>
      <pc:sldChg chg="modSp mod">
        <pc:chgData name="Alex Ooi" userId="64342a81-1d38-401a-b609-a620517f3e03" providerId="ADAL" clId="{068CA156-3DE4-40ED-AAD3-1580C66E6A4B}" dt="2026-05-17T13:30:04.228" v="56" actId="20577"/>
        <pc:sldMkLst>
          <pc:docMk/>
          <pc:sldMk cId="741795121" sldId="324"/>
        </pc:sldMkLst>
        <pc:spChg chg="mod">
          <ac:chgData name="Alex Ooi" userId="64342a81-1d38-401a-b609-a620517f3e03" providerId="ADAL" clId="{068CA156-3DE4-40ED-AAD3-1580C66E6A4B}" dt="2026-05-17T13:30:04.228" v="56" actId="20577"/>
          <ac:spMkLst>
            <pc:docMk/>
            <pc:sldMk cId="741795121" sldId="324"/>
            <ac:spMk id="3" creationId="{E49BB232-1581-D369-68CF-2083D4056C67}"/>
          </ac:spMkLst>
        </pc:spChg>
      </pc:sldChg>
      <pc:sldChg chg="modSp mod modNotesTx">
        <pc:chgData name="Alex Ooi" userId="64342a81-1d38-401a-b609-a620517f3e03" providerId="ADAL" clId="{068CA156-3DE4-40ED-AAD3-1580C66E6A4B}" dt="2026-05-17T13:38:43.140" v="330" actId="404"/>
        <pc:sldMkLst>
          <pc:docMk/>
          <pc:sldMk cId="2621279490" sldId="327"/>
        </pc:sldMkLst>
        <pc:spChg chg="mod">
          <ac:chgData name="Alex Ooi" userId="64342a81-1d38-401a-b609-a620517f3e03" providerId="ADAL" clId="{068CA156-3DE4-40ED-AAD3-1580C66E6A4B}" dt="2026-05-17T13:38:43.140" v="330" actId="404"/>
          <ac:spMkLst>
            <pc:docMk/>
            <pc:sldMk cId="2621279490" sldId="327"/>
            <ac:spMk id="3" creationId="{54B302AF-1955-C90B-36D1-BE3C4573A1F8}"/>
          </ac:spMkLst>
        </pc:spChg>
      </pc:sldChg>
    </pc:docChg>
  </pc:docChgLst>
  <pc:docChgLst>
    <pc:chgData name="Alex Ooi" userId="64342a81-1d38-401a-b609-a620517f3e03" providerId="ADAL" clId="{19F15093-C1BE-455C-8C37-5647E2122D8D}"/>
    <pc:docChg chg="undo custSel addSld delSld modSld modSection">
      <pc:chgData name="Alex Ooi" userId="64342a81-1d38-401a-b609-a620517f3e03" providerId="ADAL" clId="{19F15093-C1BE-455C-8C37-5647E2122D8D}" dt="2026-05-05T11:20:02.754" v="732" actId="403"/>
      <pc:docMkLst>
        <pc:docMk/>
      </pc:docMkLst>
      <pc:sldChg chg="modSp mod">
        <pc:chgData name="Alex Ooi" userId="64342a81-1d38-401a-b609-a620517f3e03" providerId="ADAL" clId="{19F15093-C1BE-455C-8C37-5647E2122D8D}" dt="2026-05-05T08:43:53.365" v="367" actId="20577"/>
        <pc:sldMkLst>
          <pc:docMk/>
          <pc:sldMk cId="1746881984" sldId="269"/>
        </pc:sldMkLst>
        <pc:spChg chg="mod">
          <ac:chgData name="Alex Ooi" userId="64342a81-1d38-401a-b609-a620517f3e03" providerId="ADAL" clId="{19F15093-C1BE-455C-8C37-5647E2122D8D}" dt="2026-05-05T08:43:53.365" v="367" actId="20577"/>
          <ac:spMkLst>
            <pc:docMk/>
            <pc:sldMk cId="1746881984" sldId="269"/>
            <ac:spMk id="3" creationId="{3F6E6C1D-CF96-1790-4705-EB7F815E50B4}"/>
          </ac:spMkLst>
        </pc:spChg>
      </pc:sldChg>
      <pc:sldChg chg="modSp mod">
        <pc:chgData name="Alex Ooi" userId="64342a81-1d38-401a-b609-a620517f3e03" providerId="ADAL" clId="{19F15093-C1BE-455C-8C37-5647E2122D8D}" dt="2026-05-05T07:28:07.304" v="358" actId="114"/>
        <pc:sldMkLst>
          <pc:docMk/>
          <pc:sldMk cId="947326374" sldId="271"/>
        </pc:sldMkLst>
        <pc:spChg chg="mod">
          <ac:chgData name="Alex Ooi" userId="64342a81-1d38-401a-b609-a620517f3e03" providerId="ADAL" clId="{19F15093-C1BE-455C-8C37-5647E2122D8D}" dt="2026-05-05T07:28:07.304" v="358" actId="114"/>
          <ac:spMkLst>
            <pc:docMk/>
            <pc:sldMk cId="947326374" sldId="271"/>
            <ac:spMk id="3" creationId="{485C1850-DE38-4818-C719-7A988B49AC02}"/>
          </ac:spMkLst>
        </pc:spChg>
      </pc:sldChg>
      <pc:sldChg chg="modSp mod">
        <pc:chgData name="Alex Ooi" userId="64342a81-1d38-401a-b609-a620517f3e03" providerId="ADAL" clId="{19F15093-C1BE-455C-8C37-5647E2122D8D}" dt="2026-05-05T09:04:26.443" v="447" actId="20577"/>
        <pc:sldMkLst>
          <pc:docMk/>
          <pc:sldMk cId="789409803" sldId="277"/>
        </pc:sldMkLst>
        <pc:spChg chg="mod">
          <ac:chgData name="Alex Ooi" userId="64342a81-1d38-401a-b609-a620517f3e03" providerId="ADAL" clId="{19F15093-C1BE-455C-8C37-5647E2122D8D}" dt="2026-05-05T09:04:26.443" v="447" actId="20577"/>
          <ac:spMkLst>
            <pc:docMk/>
            <pc:sldMk cId="789409803" sldId="277"/>
            <ac:spMk id="3" creationId="{87D72B6C-AC1B-5B23-45CA-FA0702924490}"/>
          </ac:spMkLst>
        </pc:spChg>
      </pc:sldChg>
      <pc:sldChg chg="modSp mod">
        <pc:chgData name="Alex Ooi" userId="64342a81-1d38-401a-b609-a620517f3e03" providerId="ADAL" clId="{19F15093-C1BE-455C-8C37-5647E2122D8D}" dt="2026-05-05T11:20:02.754" v="732" actId="403"/>
        <pc:sldMkLst>
          <pc:docMk/>
          <pc:sldMk cId="664739755" sldId="294"/>
        </pc:sldMkLst>
        <pc:spChg chg="mod">
          <ac:chgData name="Alex Ooi" userId="64342a81-1d38-401a-b609-a620517f3e03" providerId="ADAL" clId="{19F15093-C1BE-455C-8C37-5647E2122D8D}" dt="2026-05-05T11:20:02.754" v="732" actId="403"/>
          <ac:spMkLst>
            <pc:docMk/>
            <pc:sldMk cId="664739755" sldId="294"/>
            <ac:spMk id="2" creationId="{D86F2369-6CFD-5DC9-F8DC-AC45E9A9F43A}"/>
          </ac:spMkLst>
        </pc:spChg>
      </pc:sldChg>
      <pc:sldChg chg="mod modShow">
        <pc:chgData name="Alex Ooi" userId="64342a81-1d38-401a-b609-a620517f3e03" providerId="ADAL" clId="{19F15093-C1BE-455C-8C37-5647E2122D8D}" dt="2026-05-05T08:21:16.543" v="361" actId="729"/>
        <pc:sldMkLst>
          <pc:docMk/>
          <pc:sldMk cId="1653237077" sldId="304"/>
        </pc:sldMkLst>
      </pc:sldChg>
      <pc:sldChg chg="addSp delSp modSp mod">
        <pc:chgData name="Alex Ooi" userId="64342a81-1d38-401a-b609-a620517f3e03" providerId="ADAL" clId="{19F15093-C1BE-455C-8C37-5647E2122D8D}" dt="2026-05-05T11:18:49.128" v="718" actId="1076"/>
        <pc:sldMkLst>
          <pc:docMk/>
          <pc:sldMk cId="2846914057" sldId="319"/>
        </pc:sldMkLst>
        <pc:spChg chg="mod">
          <ac:chgData name="Alex Ooi" userId="64342a81-1d38-401a-b609-a620517f3e03" providerId="ADAL" clId="{19F15093-C1BE-455C-8C37-5647E2122D8D}" dt="2026-05-05T11:16:39.034" v="673" actId="404"/>
          <ac:spMkLst>
            <pc:docMk/>
            <pc:sldMk cId="2846914057" sldId="319"/>
            <ac:spMk id="6" creationId="{44BF8BBD-D120-CF32-326A-790182F46FE4}"/>
          </ac:spMkLst>
        </pc:spChg>
        <pc:spChg chg="mod">
          <ac:chgData name="Alex Ooi" userId="64342a81-1d38-401a-b609-a620517f3e03" providerId="ADAL" clId="{19F15093-C1BE-455C-8C37-5647E2122D8D}" dt="2026-05-05T11:18:23.062" v="715" actId="14100"/>
          <ac:spMkLst>
            <pc:docMk/>
            <pc:sldMk cId="2846914057" sldId="319"/>
            <ac:spMk id="8" creationId="{DBED922A-A23B-72C1-4FDB-306D17EC9EBD}"/>
          </ac:spMkLst>
        </pc:spChg>
        <pc:spChg chg="mod">
          <ac:chgData name="Alex Ooi" userId="64342a81-1d38-401a-b609-a620517f3e03" providerId="ADAL" clId="{19F15093-C1BE-455C-8C37-5647E2122D8D}" dt="2026-05-05T11:18:27.966" v="716" actId="14100"/>
          <ac:spMkLst>
            <pc:docMk/>
            <pc:sldMk cId="2846914057" sldId="319"/>
            <ac:spMk id="10" creationId="{91672DF0-BA37-FC8C-AB56-09684B9F30D5}"/>
          </ac:spMkLst>
        </pc:spChg>
        <pc:spChg chg="mod">
          <ac:chgData name="Alex Ooi" userId="64342a81-1d38-401a-b609-a620517f3e03" providerId="ADAL" clId="{19F15093-C1BE-455C-8C37-5647E2122D8D}" dt="2026-05-05T11:18:07.082" v="712" actId="1035"/>
          <ac:spMkLst>
            <pc:docMk/>
            <pc:sldMk cId="2846914057" sldId="319"/>
            <ac:spMk id="11" creationId="{763304FF-9B1E-0E3D-2470-9E9FCAA31010}"/>
          </ac:spMkLst>
        </pc:spChg>
        <pc:spChg chg="mod">
          <ac:chgData name="Alex Ooi" userId="64342a81-1d38-401a-b609-a620517f3e03" providerId="ADAL" clId="{19F15093-C1BE-455C-8C37-5647E2122D8D}" dt="2026-05-05T11:18:14.625" v="713" actId="1076"/>
          <ac:spMkLst>
            <pc:docMk/>
            <pc:sldMk cId="2846914057" sldId="319"/>
            <ac:spMk id="12" creationId="{BA2A4787-7622-14E0-745B-1E30C9D462FA}"/>
          </ac:spMkLst>
        </pc:spChg>
        <pc:spChg chg="mod">
          <ac:chgData name="Alex Ooi" userId="64342a81-1d38-401a-b609-a620517f3e03" providerId="ADAL" clId="{19F15093-C1BE-455C-8C37-5647E2122D8D}" dt="2026-05-05T11:18:49.128" v="718" actId="1076"/>
          <ac:spMkLst>
            <pc:docMk/>
            <pc:sldMk cId="2846914057" sldId="319"/>
            <ac:spMk id="13" creationId="{2BFEE6AF-B534-E60B-1ABA-CD33C9E6296A}"/>
          </ac:spMkLst>
        </pc:spChg>
        <pc:cxnChg chg="mod">
          <ac:chgData name="Alex Ooi" userId="64342a81-1d38-401a-b609-a620517f3e03" providerId="ADAL" clId="{19F15093-C1BE-455C-8C37-5647E2122D8D}" dt="2026-05-05T11:18:49.128" v="718" actId="1076"/>
          <ac:cxnSpMkLst>
            <pc:docMk/>
            <pc:sldMk cId="2846914057" sldId="319"/>
            <ac:cxnSpMk id="15" creationId="{88A61467-F1F1-DD74-6356-1D8BBA632186}"/>
          </ac:cxnSpMkLst>
        </pc:cxnChg>
        <pc:cxnChg chg="mod">
          <ac:chgData name="Alex Ooi" userId="64342a81-1d38-401a-b609-a620517f3e03" providerId="ADAL" clId="{19F15093-C1BE-455C-8C37-5647E2122D8D}" dt="2026-05-05T11:18:49.128" v="718" actId="1076"/>
          <ac:cxnSpMkLst>
            <pc:docMk/>
            <pc:sldMk cId="2846914057" sldId="319"/>
            <ac:cxnSpMk id="16" creationId="{09823F10-0F39-1B3D-AECC-73E1F7A43E2F}"/>
          </ac:cxnSpMkLst>
        </pc:cxnChg>
      </pc:sldChg>
      <pc:sldChg chg="addSp delSp modSp new mod">
        <pc:chgData name="Alex Ooi" userId="64342a81-1d38-401a-b609-a620517f3e03" providerId="ADAL" clId="{19F15093-C1BE-455C-8C37-5647E2122D8D}" dt="2026-05-05T10:11:03.591" v="645" actId="14100"/>
        <pc:sldMkLst>
          <pc:docMk/>
          <pc:sldMk cId="644463800" sldId="331"/>
        </pc:sldMkLst>
        <pc:spChg chg="add mod">
          <ac:chgData name="Alex Ooi" userId="64342a81-1d38-401a-b609-a620517f3e03" providerId="ADAL" clId="{19F15093-C1BE-455C-8C37-5647E2122D8D}" dt="2026-05-05T10:11:03.591" v="645" actId="14100"/>
          <ac:spMkLst>
            <pc:docMk/>
            <pc:sldMk cId="644463800" sldId="331"/>
            <ac:spMk id="7" creationId="{121DB6FA-5A99-97EB-79AF-1053EE000FAF}"/>
          </ac:spMkLst>
        </pc:spChg>
        <pc:spChg chg="add mod">
          <ac:chgData name="Alex Ooi" userId="64342a81-1d38-401a-b609-a620517f3e03" providerId="ADAL" clId="{19F15093-C1BE-455C-8C37-5647E2122D8D}" dt="2026-05-05T10:10:17.926" v="620" actId="1076"/>
          <ac:spMkLst>
            <pc:docMk/>
            <pc:sldMk cId="644463800" sldId="331"/>
            <ac:spMk id="8" creationId="{02F0B0FD-77F0-4AB9-B274-A8D9390DE33A}"/>
          </ac:spMkLst>
        </pc:spChg>
        <pc:spChg chg="add del mod">
          <ac:chgData name="Alex Ooi" userId="64342a81-1d38-401a-b609-a620517f3e03" providerId="ADAL" clId="{19F15093-C1BE-455C-8C37-5647E2122D8D}" dt="2026-05-05T10:10:56.626" v="643" actId="121"/>
          <ac:spMkLst>
            <pc:docMk/>
            <pc:sldMk cId="644463800" sldId="331"/>
            <ac:spMk id="9" creationId="{CA112697-F8F2-F7E1-5410-68CE196C71BD}"/>
          </ac:spMkLst>
        </pc:spChg>
        <pc:picChg chg="add mod">
          <ac:chgData name="Alex Ooi" userId="64342a81-1d38-401a-b609-a620517f3e03" providerId="ADAL" clId="{19F15093-C1BE-455C-8C37-5647E2122D8D}" dt="2026-05-05T10:10:14.425" v="619" actId="14100"/>
          <ac:picMkLst>
            <pc:docMk/>
            <pc:sldMk cId="644463800" sldId="331"/>
            <ac:picMk id="6" creationId="{AC13F71C-207F-CA5B-C6C9-D4BEE1249DA6}"/>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066AD7C3-65FA-4EFF-9E3E-FCAE10FC410E}"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D8CCCFC-BBB6-49A9-92CC-649FC675D270}">
      <dgm:prSet/>
      <dgm:spPr/>
      <dgm:t>
        <a:bodyPr/>
        <a:lstStyle/>
        <a:p>
          <a:r>
            <a:rPr lang="en-US"/>
            <a:t>Regression analysis is a statistical method used to understand and quantify the relationship between a dependent variable and one or more independent variables</a:t>
          </a:r>
        </a:p>
      </dgm:t>
    </dgm:pt>
    <dgm:pt modelId="{DD78F4B2-1AEC-4CF7-A15E-8664614FDF83}" type="parTrans" cxnId="{2E4B7932-3BC3-46DA-B756-4C80E7073225}">
      <dgm:prSet/>
      <dgm:spPr/>
      <dgm:t>
        <a:bodyPr/>
        <a:lstStyle/>
        <a:p>
          <a:endParaRPr lang="en-US"/>
        </a:p>
      </dgm:t>
    </dgm:pt>
    <dgm:pt modelId="{69F88B85-74AE-4E17-AC92-2BBAAFCA261C}" type="sibTrans" cxnId="{2E4B7932-3BC3-46DA-B756-4C80E7073225}">
      <dgm:prSet/>
      <dgm:spPr/>
      <dgm:t>
        <a:bodyPr/>
        <a:lstStyle/>
        <a:p>
          <a:endParaRPr lang="en-US"/>
        </a:p>
      </dgm:t>
    </dgm:pt>
    <dgm:pt modelId="{18072FE6-8149-44F5-A95A-A9AB2633CF5A}">
      <dgm:prSet/>
      <dgm:spPr/>
      <dgm:t>
        <a:bodyPr/>
        <a:lstStyle/>
        <a:p>
          <a:r>
            <a:rPr lang="en-US"/>
            <a:t>It helps determine how changes in independent variables are associated with changes in the dependent variable, allowing for predictions and insights into cause-and-effect relationships</a:t>
          </a:r>
        </a:p>
      </dgm:t>
    </dgm:pt>
    <dgm:pt modelId="{39F086CB-12E3-4BC7-8877-25F54ED12F5D}" type="parTrans" cxnId="{ECB9FE8C-CF96-4E65-875E-B3335E8C64BE}">
      <dgm:prSet/>
      <dgm:spPr/>
      <dgm:t>
        <a:bodyPr/>
        <a:lstStyle/>
        <a:p>
          <a:endParaRPr lang="en-US"/>
        </a:p>
      </dgm:t>
    </dgm:pt>
    <dgm:pt modelId="{AC5D2529-0B86-4192-9E4C-5B1DA44C46AA}" type="sibTrans" cxnId="{ECB9FE8C-CF96-4E65-875E-B3335E8C64BE}">
      <dgm:prSet/>
      <dgm:spPr/>
      <dgm:t>
        <a:bodyPr/>
        <a:lstStyle/>
        <a:p>
          <a:endParaRPr lang="en-US"/>
        </a:p>
      </dgm:t>
    </dgm:pt>
    <dgm:pt modelId="{01D9176B-0890-4726-BA99-ECD2DECBB07C}">
      <dgm:prSet/>
      <dgm:spPr/>
      <dgm:t>
        <a:bodyPr/>
        <a:lstStyle/>
        <a:p>
          <a:r>
            <a:rPr lang="en-US"/>
            <a:t>There are 3 common classes of regression models:</a:t>
          </a:r>
        </a:p>
      </dgm:t>
    </dgm:pt>
    <dgm:pt modelId="{A6474571-267F-4BB4-8292-105F7DB25C27}" type="parTrans" cxnId="{0BD5B9F7-53CA-423A-98ED-AF224DA924C6}">
      <dgm:prSet/>
      <dgm:spPr/>
      <dgm:t>
        <a:bodyPr/>
        <a:lstStyle/>
        <a:p>
          <a:endParaRPr lang="en-US"/>
        </a:p>
      </dgm:t>
    </dgm:pt>
    <dgm:pt modelId="{402719CD-FD30-43BC-A70D-0B19E69A4365}" type="sibTrans" cxnId="{0BD5B9F7-53CA-423A-98ED-AF224DA924C6}">
      <dgm:prSet/>
      <dgm:spPr/>
      <dgm:t>
        <a:bodyPr/>
        <a:lstStyle/>
        <a:p>
          <a:endParaRPr lang="en-US"/>
        </a:p>
      </dgm:t>
    </dgm:pt>
    <dgm:pt modelId="{034A3B80-6BB6-4FF2-8A01-0E12AE3AE47F}">
      <dgm:prSet/>
      <dgm:spPr/>
      <dgm:t>
        <a:bodyPr/>
        <a:lstStyle/>
        <a:p>
          <a:r>
            <a:rPr lang="en-US"/>
            <a:t>Simple regression model</a:t>
          </a:r>
        </a:p>
      </dgm:t>
    </dgm:pt>
    <dgm:pt modelId="{C97E8FDC-AE1F-4D46-9975-F889B716570C}" type="parTrans" cxnId="{1CCD872D-1581-4606-B5AF-3E75549C0EEC}">
      <dgm:prSet/>
      <dgm:spPr/>
      <dgm:t>
        <a:bodyPr/>
        <a:lstStyle/>
        <a:p>
          <a:endParaRPr lang="en-US"/>
        </a:p>
      </dgm:t>
    </dgm:pt>
    <dgm:pt modelId="{21B3D8F9-3723-4295-84FB-2C2B566A4EB7}" type="sibTrans" cxnId="{1CCD872D-1581-4606-B5AF-3E75549C0EEC}">
      <dgm:prSet/>
      <dgm:spPr/>
      <dgm:t>
        <a:bodyPr/>
        <a:lstStyle/>
        <a:p>
          <a:endParaRPr lang="en-US"/>
        </a:p>
      </dgm:t>
    </dgm:pt>
    <dgm:pt modelId="{3E292A9D-4744-4C19-AE49-DB10146A5678}">
      <dgm:prSet/>
      <dgm:spPr/>
      <dgm:t>
        <a:bodyPr/>
        <a:lstStyle/>
        <a:p>
          <a:r>
            <a:rPr lang="en-US" dirty="0"/>
            <a:t>Auto-regression (regress one dependent variable over time)</a:t>
          </a:r>
        </a:p>
      </dgm:t>
    </dgm:pt>
    <dgm:pt modelId="{3557A520-59EF-43E4-87A6-A6C92DC1F2FB}" type="parTrans" cxnId="{73D68708-5802-432F-82E4-11667B0D5809}">
      <dgm:prSet/>
      <dgm:spPr/>
      <dgm:t>
        <a:bodyPr/>
        <a:lstStyle/>
        <a:p>
          <a:endParaRPr lang="en-US"/>
        </a:p>
      </dgm:t>
    </dgm:pt>
    <dgm:pt modelId="{9C153051-EBC6-4D67-A8BB-A063244F9A1E}" type="sibTrans" cxnId="{73D68708-5802-432F-82E4-11667B0D5809}">
      <dgm:prSet/>
      <dgm:spPr/>
      <dgm:t>
        <a:bodyPr/>
        <a:lstStyle/>
        <a:p>
          <a:endParaRPr lang="en-US"/>
        </a:p>
      </dgm:t>
    </dgm:pt>
    <dgm:pt modelId="{9780362C-6111-4950-A251-9D57323DA574}">
      <dgm:prSet/>
      <dgm:spPr/>
      <dgm:t>
        <a:bodyPr/>
        <a:lstStyle/>
        <a:p>
          <a:r>
            <a:rPr lang="en-US" dirty="0"/>
            <a:t>Multi-variate regression model</a:t>
          </a:r>
        </a:p>
      </dgm:t>
    </dgm:pt>
    <dgm:pt modelId="{102A18DD-AEDB-4F53-A348-E398B9C69E10}" type="parTrans" cxnId="{F2103320-0384-414D-A5EB-AF3A76741763}">
      <dgm:prSet/>
      <dgm:spPr/>
      <dgm:t>
        <a:bodyPr/>
        <a:lstStyle/>
        <a:p>
          <a:endParaRPr lang="en-US"/>
        </a:p>
      </dgm:t>
    </dgm:pt>
    <dgm:pt modelId="{D959F99D-97A5-4F39-A2F0-916962F9FC91}" type="sibTrans" cxnId="{F2103320-0384-414D-A5EB-AF3A76741763}">
      <dgm:prSet/>
      <dgm:spPr/>
      <dgm:t>
        <a:bodyPr/>
        <a:lstStyle/>
        <a:p>
          <a:endParaRPr lang="en-US"/>
        </a:p>
      </dgm:t>
    </dgm:pt>
    <dgm:pt modelId="{7AF4D171-78B0-442C-B691-ED827A358B18}" type="pres">
      <dgm:prSet presAssocID="{066AD7C3-65FA-4EFF-9E3E-FCAE10FC410E}" presName="root" presStyleCnt="0">
        <dgm:presLayoutVars>
          <dgm:dir/>
          <dgm:resizeHandles val="exact"/>
        </dgm:presLayoutVars>
      </dgm:prSet>
      <dgm:spPr/>
    </dgm:pt>
    <dgm:pt modelId="{48B0DEA6-134E-4D53-86FC-499A1E4FB16C}" type="pres">
      <dgm:prSet presAssocID="{1D8CCCFC-BBB6-49A9-92CC-649FC675D270}" presName="compNode" presStyleCnt="0"/>
      <dgm:spPr/>
    </dgm:pt>
    <dgm:pt modelId="{33ECC12B-63E4-4046-8DDD-0A60865E5D77}" type="pres">
      <dgm:prSet presAssocID="{1D8CCCFC-BBB6-49A9-92CC-649FC675D270}" presName="bgRect" presStyleLbl="bgShp" presStyleIdx="0" presStyleCnt="3"/>
      <dgm:spPr/>
    </dgm:pt>
    <dgm:pt modelId="{ACFF2840-C53D-4A9C-A398-E79DAAB5A7CF}" type="pres">
      <dgm:prSet presAssocID="{1D8CCCFC-BBB6-49A9-92CC-649FC675D270}"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atistics"/>
        </a:ext>
      </dgm:extLst>
    </dgm:pt>
    <dgm:pt modelId="{C0BD5410-86B7-4664-9CB5-A27668A74CEF}" type="pres">
      <dgm:prSet presAssocID="{1D8CCCFC-BBB6-49A9-92CC-649FC675D270}" presName="spaceRect" presStyleCnt="0"/>
      <dgm:spPr/>
    </dgm:pt>
    <dgm:pt modelId="{0370DF58-53AA-4984-A6FA-166D8F3C1F24}" type="pres">
      <dgm:prSet presAssocID="{1D8CCCFC-BBB6-49A9-92CC-649FC675D270}" presName="parTx" presStyleLbl="revTx" presStyleIdx="0" presStyleCnt="4">
        <dgm:presLayoutVars>
          <dgm:chMax val="0"/>
          <dgm:chPref val="0"/>
        </dgm:presLayoutVars>
      </dgm:prSet>
      <dgm:spPr/>
    </dgm:pt>
    <dgm:pt modelId="{CF049CEE-96E7-478E-ACA6-CB80CF971745}" type="pres">
      <dgm:prSet presAssocID="{69F88B85-74AE-4E17-AC92-2BBAAFCA261C}" presName="sibTrans" presStyleCnt="0"/>
      <dgm:spPr/>
    </dgm:pt>
    <dgm:pt modelId="{A7D17B52-D2AB-4207-9965-94DC4B0D9027}" type="pres">
      <dgm:prSet presAssocID="{18072FE6-8149-44F5-A95A-A9AB2633CF5A}" presName="compNode" presStyleCnt="0"/>
      <dgm:spPr/>
    </dgm:pt>
    <dgm:pt modelId="{31E8D673-F096-40F4-AEC4-388E1372F36A}" type="pres">
      <dgm:prSet presAssocID="{18072FE6-8149-44F5-A95A-A9AB2633CF5A}" presName="bgRect" presStyleLbl="bgShp" presStyleIdx="1" presStyleCnt="3"/>
      <dgm:spPr/>
    </dgm:pt>
    <dgm:pt modelId="{89377182-9B5F-4C45-BA0F-47D022A2C166}" type="pres">
      <dgm:prSet presAssocID="{18072FE6-8149-44F5-A95A-A9AB2633CF5A}"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ze"/>
        </a:ext>
      </dgm:extLst>
    </dgm:pt>
    <dgm:pt modelId="{4E180BBC-57AE-4EDF-B056-FEEEBCF4C7DD}" type="pres">
      <dgm:prSet presAssocID="{18072FE6-8149-44F5-A95A-A9AB2633CF5A}" presName="spaceRect" presStyleCnt="0"/>
      <dgm:spPr/>
    </dgm:pt>
    <dgm:pt modelId="{459B58B1-5411-455B-B901-73EAE392E66B}" type="pres">
      <dgm:prSet presAssocID="{18072FE6-8149-44F5-A95A-A9AB2633CF5A}" presName="parTx" presStyleLbl="revTx" presStyleIdx="1" presStyleCnt="4">
        <dgm:presLayoutVars>
          <dgm:chMax val="0"/>
          <dgm:chPref val="0"/>
        </dgm:presLayoutVars>
      </dgm:prSet>
      <dgm:spPr/>
    </dgm:pt>
    <dgm:pt modelId="{80CC44A5-FFAA-41BC-B406-ED8DC9AB0CC2}" type="pres">
      <dgm:prSet presAssocID="{AC5D2529-0B86-4192-9E4C-5B1DA44C46AA}" presName="sibTrans" presStyleCnt="0"/>
      <dgm:spPr/>
    </dgm:pt>
    <dgm:pt modelId="{04EFD0B1-AD8F-4C67-AEE8-CBCC9EA6F7B6}" type="pres">
      <dgm:prSet presAssocID="{01D9176B-0890-4726-BA99-ECD2DECBB07C}" presName="compNode" presStyleCnt="0"/>
      <dgm:spPr/>
    </dgm:pt>
    <dgm:pt modelId="{0A44356D-AA32-4CC4-9083-73548018575A}" type="pres">
      <dgm:prSet presAssocID="{01D9176B-0890-4726-BA99-ECD2DECBB07C}" presName="bgRect" presStyleLbl="bgShp" presStyleIdx="2" presStyleCnt="3"/>
      <dgm:spPr/>
    </dgm:pt>
    <dgm:pt modelId="{8ED3D18A-6961-4837-B1FC-BF5ADA7F2460}" type="pres">
      <dgm:prSet presAssocID="{01D9176B-0890-4726-BA99-ECD2DECBB07C}"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Venn Diagram"/>
        </a:ext>
      </dgm:extLst>
    </dgm:pt>
    <dgm:pt modelId="{F8837EDB-6413-4DA9-8CDD-8A6A33277658}" type="pres">
      <dgm:prSet presAssocID="{01D9176B-0890-4726-BA99-ECD2DECBB07C}" presName="spaceRect" presStyleCnt="0"/>
      <dgm:spPr/>
    </dgm:pt>
    <dgm:pt modelId="{C96FC8D4-ADDC-42DD-BD29-0940F9744E04}" type="pres">
      <dgm:prSet presAssocID="{01D9176B-0890-4726-BA99-ECD2DECBB07C}" presName="parTx" presStyleLbl="revTx" presStyleIdx="2" presStyleCnt="4">
        <dgm:presLayoutVars>
          <dgm:chMax val="0"/>
          <dgm:chPref val="0"/>
        </dgm:presLayoutVars>
      </dgm:prSet>
      <dgm:spPr/>
    </dgm:pt>
    <dgm:pt modelId="{3A801E9B-CE29-4FFF-A088-EBE194E12ECD}" type="pres">
      <dgm:prSet presAssocID="{01D9176B-0890-4726-BA99-ECD2DECBB07C}" presName="desTx" presStyleLbl="revTx" presStyleIdx="3" presStyleCnt="4">
        <dgm:presLayoutVars/>
      </dgm:prSet>
      <dgm:spPr/>
    </dgm:pt>
  </dgm:ptLst>
  <dgm:cxnLst>
    <dgm:cxn modelId="{73D68708-5802-432F-82E4-11667B0D5809}" srcId="{01D9176B-0890-4726-BA99-ECD2DECBB07C}" destId="{3E292A9D-4744-4C19-AE49-DB10146A5678}" srcOrd="1" destOrd="0" parTransId="{3557A520-59EF-43E4-87A6-A6C92DC1F2FB}" sibTransId="{9C153051-EBC6-4D67-A8BB-A063244F9A1E}"/>
    <dgm:cxn modelId="{F2103320-0384-414D-A5EB-AF3A76741763}" srcId="{01D9176B-0890-4726-BA99-ECD2DECBB07C}" destId="{9780362C-6111-4950-A251-9D57323DA574}" srcOrd="2" destOrd="0" parTransId="{102A18DD-AEDB-4F53-A348-E398B9C69E10}" sibTransId="{D959F99D-97A5-4F39-A2F0-916962F9FC91}"/>
    <dgm:cxn modelId="{B128272D-17C7-4F9A-A1D8-44F20C56A062}" type="presOf" srcId="{1D8CCCFC-BBB6-49A9-92CC-649FC675D270}" destId="{0370DF58-53AA-4984-A6FA-166D8F3C1F24}" srcOrd="0" destOrd="0" presId="urn:microsoft.com/office/officeart/2018/2/layout/IconVerticalSolidList"/>
    <dgm:cxn modelId="{1CCD872D-1581-4606-B5AF-3E75549C0EEC}" srcId="{01D9176B-0890-4726-BA99-ECD2DECBB07C}" destId="{034A3B80-6BB6-4FF2-8A01-0E12AE3AE47F}" srcOrd="0" destOrd="0" parTransId="{C97E8FDC-AE1F-4D46-9975-F889B716570C}" sibTransId="{21B3D8F9-3723-4295-84FB-2C2B566A4EB7}"/>
    <dgm:cxn modelId="{2E4B7932-3BC3-46DA-B756-4C80E7073225}" srcId="{066AD7C3-65FA-4EFF-9E3E-FCAE10FC410E}" destId="{1D8CCCFC-BBB6-49A9-92CC-649FC675D270}" srcOrd="0" destOrd="0" parTransId="{DD78F4B2-1AEC-4CF7-A15E-8664614FDF83}" sibTransId="{69F88B85-74AE-4E17-AC92-2BBAAFCA261C}"/>
    <dgm:cxn modelId="{AD8AE658-CA42-4BEA-832C-52D0BE2CCF0B}" type="presOf" srcId="{3E292A9D-4744-4C19-AE49-DB10146A5678}" destId="{3A801E9B-CE29-4FFF-A088-EBE194E12ECD}" srcOrd="0" destOrd="1" presId="urn:microsoft.com/office/officeart/2018/2/layout/IconVerticalSolidList"/>
    <dgm:cxn modelId="{C006F788-1384-47DF-8D70-DC51456EE0A9}" type="presOf" srcId="{18072FE6-8149-44F5-A95A-A9AB2633CF5A}" destId="{459B58B1-5411-455B-B901-73EAE392E66B}" srcOrd="0" destOrd="0" presId="urn:microsoft.com/office/officeart/2018/2/layout/IconVerticalSolidList"/>
    <dgm:cxn modelId="{ECB9FE8C-CF96-4E65-875E-B3335E8C64BE}" srcId="{066AD7C3-65FA-4EFF-9E3E-FCAE10FC410E}" destId="{18072FE6-8149-44F5-A95A-A9AB2633CF5A}" srcOrd="1" destOrd="0" parTransId="{39F086CB-12E3-4BC7-8877-25F54ED12F5D}" sibTransId="{AC5D2529-0B86-4192-9E4C-5B1DA44C46AA}"/>
    <dgm:cxn modelId="{76FD7C8D-C1AC-492F-AA11-D4725447B9F4}" type="presOf" srcId="{9780362C-6111-4950-A251-9D57323DA574}" destId="{3A801E9B-CE29-4FFF-A088-EBE194E12ECD}" srcOrd="0" destOrd="2" presId="urn:microsoft.com/office/officeart/2018/2/layout/IconVerticalSolidList"/>
    <dgm:cxn modelId="{DFE81DA1-D29F-42B9-BEA2-0DD94635B7F4}" type="presOf" srcId="{034A3B80-6BB6-4FF2-8A01-0E12AE3AE47F}" destId="{3A801E9B-CE29-4FFF-A088-EBE194E12ECD}" srcOrd="0" destOrd="0" presId="urn:microsoft.com/office/officeart/2018/2/layout/IconVerticalSolidList"/>
    <dgm:cxn modelId="{728F0BB5-99A1-4AF6-B1C3-010860A9C0C1}" type="presOf" srcId="{066AD7C3-65FA-4EFF-9E3E-FCAE10FC410E}" destId="{7AF4D171-78B0-442C-B691-ED827A358B18}" srcOrd="0" destOrd="0" presId="urn:microsoft.com/office/officeart/2018/2/layout/IconVerticalSolidList"/>
    <dgm:cxn modelId="{3C072FD5-F116-4626-8747-54DC188771C5}" type="presOf" srcId="{01D9176B-0890-4726-BA99-ECD2DECBB07C}" destId="{C96FC8D4-ADDC-42DD-BD29-0940F9744E04}" srcOrd="0" destOrd="0" presId="urn:microsoft.com/office/officeart/2018/2/layout/IconVerticalSolidList"/>
    <dgm:cxn modelId="{0BD5B9F7-53CA-423A-98ED-AF224DA924C6}" srcId="{066AD7C3-65FA-4EFF-9E3E-FCAE10FC410E}" destId="{01D9176B-0890-4726-BA99-ECD2DECBB07C}" srcOrd="2" destOrd="0" parTransId="{A6474571-267F-4BB4-8292-105F7DB25C27}" sibTransId="{402719CD-FD30-43BC-A70D-0B19E69A4365}"/>
    <dgm:cxn modelId="{710157C1-817D-48A1-9F26-178169AD3ABF}" type="presParOf" srcId="{7AF4D171-78B0-442C-B691-ED827A358B18}" destId="{48B0DEA6-134E-4D53-86FC-499A1E4FB16C}" srcOrd="0" destOrd="0" presId="urn:microsoft.com/office/officeart/2018/2/layout/IconVerticalSolidList"/>
    <dgm:cxn modelId="{C0E01528-1DEA-42D6-BA66-0C1F209BCC6D}" type="presParOf" srcId="{48B0DEA6-134E-4D53-86FC-499A1E4FB16C}" destId="{33ECC12B-63E4-4046-8DDD-0A60865E5D77}" srcOrd="0" destOrd="0" presId="urn:microsoft.com/office/officeart/2018/2/layout/IconVerticalSolidList"/>
    <dgm:cxn modelId="{447D039C-6D37-4A4C-93FC-5F986BFD529B}" type="presParOf" srcId="{48B0DEA6-134E-4D53-86FC-499A1E4FB16C}" destId="{ACFF2840-C53D-4A9C-A398-E79DAAB5A7CF}" srcOrd="1" destOrd="0" presId="urn:microsoft.com/office/officeart/2018/2/layout/IconVerticalSolidList"/>
    <dgm:cxn modelId="{15B8759B-E041-4CE2-9B6B-EF08568F1E76}" type="presParOf" srcId="{48B0DEA6-134E-4D53-86FC-499A1E4FB16C}" destId="{C0BD5410-86B7-4664-9CB5-A27668A74CEF}" srcOrd="2" destOrd="0" presId="urn:microsoft.com/office/officeart/2018/2/layout/IconVerticalSolidList"/>
    <dgm:cxn modelId="{8E6E585E-EA52-45AE-A117-918B129DE9F9}" type="presParOf" srcId="{48B0DEA6-134E-4D53-86FC-499A1E4FB16C}" destId="{0370DF58-53AA-4984-A6FA-166D8F3C1F24}" srcOrd="3" destOrd="0" presId="urn:microsoft.com/office/officeart/2018/2/layout/IconVerticalSolidList"/>
    <dgm:cxn modelId="{DC0B2959-E76C-4673-8919-ED09540CFB62}" type="presParOf" srcId="{7AF4D171-78B0-442C-B691-ED827A358B18}" destId="{CF049CEE-96E7-478E-ACA6-CB80CF971745}" srcOrd="1" destOrd="0" presId="urn:microsoft.com/office/officeart/2018/2/layout/IconVerticalSolidList"/>
    <dgm:cxn modelId="{28BCAEC8-05CC-4A91-8D64-D9201938B2F3}" type="presParOf" srcId="{7AF4D171-78B0-442C-B691-ED827A358B18}" destId="{A7D17B52-D2AB-4207-9965-94DC4B0D9027}" srcOrd="2" destOrd="0" presId="urn:microsoft.com/office/officeart/2018/2/layout/IconVerticalSolidList"/>
    <dgm:cxn modelId="{A8E8EC4F-34B1-47F4-8C8D-2AA4CD970CDF}" type="presParOf" srcId="{A7D17B52-D2AB-4207-9965-94DC4B0D9027}" destId="{31E8D673-F096-40F4-AEC4-388E1372F36A}" srcOrd="0" destOrd="0" presId="urn:microsoft.com/office/officeart/2018/2/layout/IconVerticalSolidList"/>
    <dgm:cxn modelId="{4665F9EE-3470-4468-A589-F2A0101BD1D8}" type="presParOf" srcId="{A7D17B52-D2AB-4207-9965-94DC4B0D9027}" destId="{89377182-9B5F-4C45-BA0F-47D022A2C166}" srcOrd="1" destOrd="0" presId="urn:microsoft.com/office/officeart/2018/2/layout/IconVerticalSolidList"/>
    <dgm:cxn modelId="{3D4B7833-DBCC-43C8-A5AE-D78126FC83BF}" type="presParOf" srcId="{A7D17B52-D2AB-4207-9965-94DC4B0D9027}" destId="{4E180BBC-57AE-4EDF-B056-FEEEBCF4C7DD}" srcOrd="2" destOrd="0" presId="urn:microsoft.com/office/officeart/2018/2/layout/IconVerticalSolidList"/>
    <dgm:cxn modelId="{19A4703F-3C20-4327-9EA4-4CF61FDED2B2}" type="presParOf" srcId="{A7D17B52-D2AB-4207-9965-94DC4B0D9027}" destId="{459B58B1-5411-455B-B901-73EAE392E66B}" srcOrd="3" destOrd="0" presId="urn:microsoft.com/office/officeart/2018/2/layout/IconVerticalSolidList"/>
    <dgm:cxn modelId="{C6C76D42-4097-4B38-A610-683D20CEBAF5}" type="presParOf" srcId="{7AF4D171-78B0-442C-B691-ED827A358B18}" destId="{80CC44A5-FFAA-41BC-B406-ED8DC9AB0CC2}" srcOrd="3" destOrd="0" presId="urn:microsoft.com/office/officeart/2018/2/layout/IconVerticalSolidList"/>
    <dgm:cxn modelId="{A0F3659C-28C9-4C77-B4F6-2046126E5AF5}" type="presParOf" srcId="{7AF4D171-78B0-442C-B691-ED827A358B18}" destId="{04EFD0B1-AD8F-4C67-AEE8-CBCC9EA6F7B6}" srcOrd="4" destOrd="0" presId="urn:microsoft.com/office/officeart/2018/2/layout/IconVerticalSolidList"/>
    <dgm:cxn modelId="{B04A5E58-F1DB-43E6-B9FA-2EAFB513551E}" type="presParOf" srcId="{04EFD0B1-AD8F-4C67-AEE8-CBCC9EA6F7B6}" destId="{0A44356D-AA32-4CC4-9083-73548018575A}" srcOrd="0" destOrd="0" presId="urn:microsoft.com/office/officeart/2018/2/layout/IconVerticalSolidList"/>
    <dgm:cxn modelId="{2AD521C6-A60C-4217-8D12-95AAB6E66255}" type="presParOf" srcId="{04EFD0B1-AD8F-4C67-AEE8-CBCC9EA6F7B6}" destId="{8ED3D18A-6961-4837-B1FC-BF5ADA7F2460}" srcOrd="1" destOrd="0" presId="urn:microsoft.com/office/officeart/2018/2/layout/IconVerticalSolidList"/>
    <dgm:cxn modelId="{D19D72BF-39F0-460B-AA7B-77C867B77122}" type="presParOf" srcId="{04EFD0B1-AD8F-4C67-AEE8-CBCC9EA6F7B6}" destId="{F8837EDB-6413-4DA9-8CDD-8A6A33277658}" srcOrd="2" destOrd="0" presId="urn:microsoft.com/office/officeart/2018/2/layout/IconVerticalSolidList"/>
    <dgm:cxn modelId="{A4C4F165-6FCD-4889-9A00-B598695C3CB2}" type="presParOf" srcId="{04EFD0B1-AD8F-4C67-AEE8-CBCC9EA6F7B6}" destId="{C96FC8D4-ADDC-42DD-BD29-0940F9744E04}" srcOrd="3" destOrd="0" presId="urn:microsoft.com/office/officeart/2018/2/layout/IconVerticalSolidList"/>
    <dgm:cxn modelId="{15BD6F08-2550-4F8D-A425-5CC812F7AE10}" type="presParOf" srcId="{04EFD0B1-AD8F-4C67-AEE8-CBCC9EA6F7B6}" destId="{3A801E9B-CE29-4FFF-A088-EBE194E12ECD}"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ECC12B-63E4-4046-8DDD-0A60865E5D77}">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FF2840-C53D-4A9C-A398-E79DAAB5A7CF}">
      <dsp:nvSpPr>
        <dsp:cNvPr id="0" name=""/>
        <dsp:cNvSpPr/>
      </dsp:nvSpPr>
      <dsp:spPr>
        <a:xfrm>
          <a:off x="376522" y="280590"/>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70DF58-53AA-4984-A6FA-166D8F3C1F24}">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Regression analysis is a statistical method used to understand and quantify the relationship between a dependent variable and one or more independent variables</a:t>
          </a:r>
        </a:p>
      </dsp:txBody>
      <dsp:txXfrm>
        <a:off x="1437631" y="531"/>
        <a:ext cx="9077968" cy="1244702"/>
      </dsp:txXfrm>
    </dsp:sp>
    <dsp:sp modelId="{31E8D673-F096-40F4-AEC4-388E1372F36A}">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377182-9B5F-4C45-BA0F-47D022A2C166}">
      <dsp:nvSpPr>
        <dsp:cNvPr id="0" name=""/>
        <dsp:cNvSpPr/>
      </dsp:nvSpPr>
      <dsp:spPr>
        <a:xfrm>
          <a:off x="376522" y="1836468"/>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9B58B1-5411-455B-B901-73EAE392E66B}">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It helps determine how changes in independent variables are associated with changes in the dependent variable, allowing for predictions and insights into cause-and-effect relationships</a:t>
          </a:r>
        </a:p>
      </dsp:txBody>
      <dsp:txXfrm>
        <a:off x="1437631" y="1556410"/>
        <a:ext cx="9077968" cy="1244702"/>
      </dsp:txXfrm>
    </dsp:sp>
    <dsp:sp modelId="{0A44356D-AA32-4CC4-9083-73548018575A}">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D3D18A-6961-4837-B1FC-BF5ADA7F2460}">
      <dsp:nvSpPr>
        <dsp:cNvPr id="0" name=""/>
        <dsp:cNvSpPr/>
      </dsp:nvSpPr>
      <dsp:spPr>
        <a:xfrm>
          <a:off x="376522" y="3392347"/>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96FC8D4-ADDC-42DD-BD29-0940F9744E04}">
      <dsp:nvSpPr>
        <dsp:cNvPr id="0" name=""/>
        <dsp:cNvSpPr/>
      </dsp:nvSpPr>
      <dsp:spPr>
        <a:xfrm>
          <a:off x="1437631" y="3112289"/>
          <a:ext cx="4732020"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There are 3 common classes of regression models:</a:t>
          </a:r>
        </a:p>
      </dsp:txBody>
      <dsp:txXfrm>
        <a:off x="1437631" y="3112289"/>
        <a:ext cx="4732020" cy="1244702"/>
      </dsp:txXfrm>
    </dsp:sp>
    <dsp:sp modelId="{3A801E9B-CE29-4FFF-A088-EBE194E12ECD}">
      <dsp:nvSpPr>
        <dsp:cNvPr id="0" name=""/>
        <dsp:cNvSpPr/>
      </dsp:nvSpPr>
      <dsp:spPr>
        <a:xfrm>
          <a:off x="6169651" y="3112289"/>
          <a:ext cx="434594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622300">
            <a:lnSpc>
              <a:spcPct val="90000"/>
            </a:lnSpc>
            <a:spcBef>
              <a:spcPct val="0"/>
            </a:spcBef>
            <a:spcAft>
              <a:spcPct val="35000"/>
            </a:spcAft>
            <a:buNone/>
          </a:pPr>
          <a:r>
            <a:rPr lang="en-US" sz="1400" kern="1200"/>
            <a:t>Simple regression model</a:t>
          </a:r>
        </a:p>
        <a:p>
          <a:pPr marL="0" lvl="0" indent="0" algn="l" defTabSz="622300">
            <a:lnSpc>
              <a:spcPct val="90000"/>
            </a:lnSpc>
            <a:spcBef>
              <a:spcPct val="0"/>
            </a:spcBef>
            <a:spcAft>
              <a:spcPct val="35000"/>
            </a:spcAft>
            <a:buNone/>
          </a:pPr>
          <a:r>
            <a:rPr lang="en-US" sz="1400" kern="1200" dirty="0"/>
            <a:t>Auto-regression (regress one dependent variable over time)</a:t>
          </a:r>
        </a:p>
        <a:p>
          <a:pPr marL="0" lvl="0" indent="0" algn="l" defTabSz="622300">
            <a:lnSpc>
              <a:spcPct val="90000"/>
            </a:lnSpc>
            <a:spcBef>
              <a:spcPct val="0"/>
            </a:spcBef>
            <a:spcAft>
              <a:spcPct val="35000"/>
            </a:spcAft>
            <a:buNone/>
          </a:pPr>
          <a:r>
            <a:rPr lang="en-US" sz="1400" kern="1200" dirty="0"/>
            <a:t>Multi-variate regression model</a:t>
          </a:r>
        </a:p>
      </dsp:txBody>
      <dsp:txXfrm>
        <a:off x="6169651" y="3112289"/>
        <a:ext cx="4345948" cy="124470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CB6883-A119-43BA-A8F8-18FCD80984AB}" type="datetimeFigureOut">
              <a:rPr lang="en-MY" smtClean="0"/>
              <a:t>17/5/2026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6633B5-8BA6-476B-B0F8-F3280AA63B40}" type="slidenum">
              <a:rPr lang="en-MY" smtClean="0"/>
              <a:t>‹#›</a:t>
            </a:fld>
            <a:endParaRPr lang="en-MY"/>
          </a:p>
        </p:txBody>
      </p:sp>
    </p:spTree>
    <p:extLst>
      <p:ext uri="{BB962C8B-B14F-4D97-AF65-F5344CB8AC3E}">
        <p14:creationId xmlns:p14="http://schemas.microsoft.com/office/powerpoint/2010/main" val="3214268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Avg Sales = </a:t>
            </a:r>
          </a:p>
          <a:p>
            <a:r>
              <a:rPr lang="en-US" sz="1200" b="0" kern="1200" dirty="0">
                <a:solidFill>
                  <a:schemeClr val="tx1"/>
                </a:solidFill>
                <a:effectLst/>
                <a:latin typeface="+mn-lt"/>
                <a:ea typeface="+mn-ea"/>
                <a:cs typeface="+mn-cs"/>
              </a:rPr>
              <a:t>VAR _</a:t>
            </a:r>
            <a:r>
              <a:rPr lang="en-US" sz="1200" b="0" kern="1200" dirty="0" err="1">
                <a:solidFill>
                  <a:schemeClr val="tx1"/>
                </a:solidFill>
                <a:effectLst/>
                <a:latin typeface="+mn-lt"/>
                <a:ea typeface="+mn-ea"/>
                <a:cs typeface="+mn-cs"/>
              </a:rPr>
              <a:t>LastDate</a:t>
            </a:r>
            <a:r>
              <a:rPr lang="en-US" sz="1200" b="0" kern="1200" dirty="0">
                <a:solidFill>
                  <a:schemeClr val="tx1"/>
                </a:solidFill>
                <a:effectLst/>
                <a:latin typeface="+mn-lt"/>
                <a:ea typeface="+mn-ea"/>
                <a:cs typeface="+mn-cs"/>
              </a:rPr>
              <a:t> = MAX (</a:t>
            </a:r>
            <a:r>
              <a:rPr lang="en-US" sz="1200" b="0" kern="1200" dirty="0" err="1">
                <a:solidFill>
                  <a:schemeClr val="tx1"/>
                </a:solidFill>
                <a:effectLst/>
                <a:latin typeface="+mn-lt"/>
                <a:ea typeface="+mn-ea"/>
                <a:cs typeface="+mn-cs"/>
              </a:rPr>
              <a:t>dimDate</a:t>
            </a:r>
            <a:r>
              <a:rPr lang="en-US" sz="1200" b="0" kern="1200" dirty="0">
                <a:solidFill>
                  <a:schemeClr val="tx1"/>
                </a:solidFill>
                <a:effectLst/>
                <a:latin typeface="+mn-lt"/>
                <a:ea typeface="+mn-ea"/>
                <a:cs typeface="+mn-cs"/>
              </a:rPr>
              <a:t>[Date])</a:t>
            </a:r>
          </a:p>
          <a:p>
            <a:r>
              <a:rPr lang="en-US" sz="1200" b="0" kern="1200" dirty="0">
                <a:solidFill>
                  <a:schemeClr val="tx1"/>
                </a:solidFill>
                <a:effectLst/>
                <a:latin typeface="+mn-lt"/>
                <a:ea typeface="+mn-ea"/>
                <a:cs typeface="+mn-cs"/>
              </a:rPr>
              <a:t>VAR _Duration = 7</a:t>
            </a:r>
          </a:p>
          <a:p>
            <a:r>
              <a:rPr lang="en-US" sz="1200" b="0" kern="1200" dirty="0">
                <a:solidFill>
                  <a:schemeClr val="tx1"/>
                </a:solidFill>
                <a:effectLst/>
                <a:latin typeface="+mn-lt"/>
                <a:ea typeface="+mn-ea"/>
                <a:cs typeface="+mn-cs"/>
              </a:rPr>
              <a:t>VAR _</a:t>
            </a:r>
            <a:r>
              <a:rPr lang="en-US" sz="1200" b="0" kern="1200" dirty="0" err="1">
                <a:solidFill>
                  <a:schemeClr val="tx1"/>
                </a:solidFill>
                <a:effectLst/>
                <a:latin typeface="+mn-lt"/>
                <a:ea typeface="+mn-ea"/>
                <a:cs typeface="+mn-cs"/>
              </a:rPr>
              <a:t>CalculationPeriod</a:t>
            </a:r>
            <a:r>
              <a:rPr lang="en-US" sz="1200" b="0" kern="1200" dirty="0">
                <a:solidFill>
                  <a:schemeClr val="tx1"/>
                </a:solidFill>
                <a:effectLst/>
                <a:latin typeface="+mn-lt"/>
                <a:ea typeface="+mn-ea"/>
                <a:cs typeface="+mn-cs"/>
              </a:rPr>
              <a:t> =                            </a:t>
            </a:r>
          </a:p>
          <a:p>
            <a:r>
              <a:rPr lang="en-US" sz="1200" b="0" kern="1200" dirty="0">
                <a:solidFill>
                  <a:schemeClr val="tx1"/>
                </a:solidFill>
                <a:effectLst/>
                <a:latin typeface="+mn-lt"/>
                <a:ea typeface="+mn-ea"/>
                <a:cs typeface="+mn-cs"/>
              </a:rPr>
              <a:t>    FILTER (</a:t>
            </a:r>
          </a:p>
          <a:p>
            <a:r>
              <a:rPr lang="en-US" sz="1200" b="0" kern="1200" dirty="0">
                <a:solidFill>
                  <a:schemeClr val="tx1"/>
                </a:solidFill>
                <a:effectLst/>
                <a:latin typeface="+mn-lt"/>
                <a:ea typeface="+mn-ea"/>
                <a:cs typeface="+mn-cs"/>
              </a:rPr>
              <a:t>        ALL (</a:t>
            </a:r>
            <a:r>
              <a:rPr lang="en-US" sz="1200" b="0" kern="1200" dirty="0" err="1">
                <a:solidFill>
                  <a:schemeClr val="tx1"/>
                </a:solidFill>
                <a:effectLst/>
                <a:latin typeface="+mn-lt"/>
                <a:ea typeface="+mn-ea"/>
                <a:cs typeface="+mn-cs"/>
              </a:rPr>
              <a:t>dimDate</a:t>
            </a:r>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        AND (</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dimDate</a:t>
            </a:r>
            <a:r>
              <a:rPr lang="en-US" sz="1200" b="0" kern="1200" dirty="0">
                <a:solidFill>
                  <a:schemeClr val="tx1"/>
                </a:solidFill>
                <a:effectLst/>
                <a:latin typeface="+mn-lt"/>
                <a:ea typeface="+mn-ea"/>
                <a:cs typeface="+mn-cs"/>
              </a:rPr>
              <a:t>[Date] &gt; _</a:t>
            </a:r>
            <a:r>
              <a:rPr lang="en-US" sz="1200" b="0" kern="1200" dirty="0" err="1">
                <a:solidFill>
                  <a:schemeClr val="tx1"/>
                </a:solidFill>
                <a:effectLst/>
                <a:latin typeface="+mn-lt"/>
                <a:ea typeface="+mn-ea"/>
                <a:cs typeface="+mn-cs"/>
              </a:rPr>
              <a:t>LastDate</a:t>
            </a:r>
            <a:r>
              <a:rPr lang="en-US" sz="1200" b="0" kern="1200" dirty="0">
                <a:solidFill>
                  <a:schemeClr val="tx1"/>
                </a:solidFill>
                <a:effectLst/>
                <a:latin typeface="+mn-lt"/>
                <a:ea typeface="+mn-ea"/>
                <a:cs typeface="+mn-cs"/>
              </a:rPr>
              <a:t> - _Duration,      </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dimDate</a:t>
            </a:r>
            <a:r>
              <a:rPr lang="en-US" sz="1200" b="0" kern="1200" dirty="0">
                <a:solidFill>
                  <a:schemeClr val="tx1"/>
                </a:solidFill>
                <a:effectLst/>
                <a:latin typeface="+mn-lt"/>
                <a:ea typeface="+mn-ea"/>
                <a:cs typeface="+mn-cs"/>
              </a:rPr>
              <a:t>[Date] &lt;= _</a:t>
            </a:r>
            <a:r>
              <a:rPr lang="en-US" sz="1200" b="0" kern="1200" dirty="0" err="1">
                <a:solidFill>
                  <a:schemeClr val="tx1"/>
                </a:solidFill>
                <a:effectLst/>
                <a:latin typeface="+mn-lt"/>
                <a:ea typeface="+mn-ea"/>
                <a:cs typeface="+mn-cs"/>
              </a:rPr>
              <a:t>LastDate</a:t>
            </a:r>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    )</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//Calculating the Moving Average</a:t>
            </a:r>
          </a:p>
          <a:p>
            <a:r>
              <a:rPr lang="en-US" sz="1200" b="0" kern="1200" dirty="0">
                <a:solidFill>
                  <a:schemeClr val="tx1"/>
                </a:solidFill>
                <a:effectLst/>
                <a:latin typeface="+mn-lt"/>
                <a:ea typeface="+mn-ea"/>
                <a:cs typeface="+mn-cs"/>
              </a:rPr>
              <a:t>VAR _</a:t>
            </a:r>
            <a:r>
              <a:rPr lang="en-US" sz="1200" b="0" kern="1200" dirty="0" err="1">
                <a:solidFill>
                  <a:schemeClr val="tx1"/>
                </a:solidFill>
                <a:effectLst/>
                <a:latin typeface="+mn-lt"/>
                <a:ea typeface="+mn-ea"/>
                <a:cs typeface="+mn-cs"/>
              </a:rPr>
              <a:t>MovingAverage</a:t>
            </a:r>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    IF (</a:t>
            </a:r>
          </a:p>
          <a:p>
            <a:r>
              <a:rPr lang="en-US" sz="1200" b="0" kern="1200" dirty="0">
                <a:solidFill>
                  <a:schemeClr val="tx1"/>
                </a:solidFill>
                <a:effectLst/>
                <a:latin typeface="+mn-lt"/>
                <a:ea typeface="+mn-ea"/>
                <a:cs typeface="+mn-cs"/>
              </a:rPr>
              <a:t>        COUNTROWS ( _</a:t>
            </a:r>
            <a:r>
              <a:rPr lang="en-US" sz="1200" b="0" kern="1200" dirty="0" err="1">
                <a:solidFill>
                  <a:schemeClr val="tx1"/>
                </a:solidFill>
                <a:effectLst/>
                <a:latin typeface="+mn-lt"/>
                <a:ea typeface="+mn-ea"/>
                <a:cs typeface="+mn-cs"/>
              </a:rPr>
              <a:t>CalculationPeriod</a:t>
            </a:r>
            <a:r>
              <a:rPr lang="en-US" sz="1200" b="0" kern="1200" dirty="0">
                <a:solidFill>
                  <a:schemeClr val="tx1"/>
                </a:solidFill>
                <a:effectLst/>
                <a:latin typeface="+mn-lt"/>
                <a:ea typeface="+mn-ea"/>
                <a:cs typeface="+mn-cs"/>
              </a:rPr>
              <a:t> ) &gt;= _Duration,  </a:t>
            </a:r>
          </a:p>
          <a:p>
            <a:r>
              <a:rPr lang="en-US" sz="1200" b="0" kern="1200" dirty="0">
                <a:solidFill>
                  <a:schemeClr val="tx1"/>
                </a:solidFill>
                <a:effectLst/>
                <a:latin typeface="+mn-lt"/>
                <a:ea typeface="+mn-ea"/>
                <a:cs typeface="+mn-cs"/>
              </a:rPr>
              <a:t>        CALCULATE (</a:t>
            </a:r>
          </a:p>
          <a:p>
            <a:r>
              <a:rPr lang="en-US" sz="1200" b="0" kern="1200" dirty="0">
                <a:solidFill>
                  <a:schemeClr val="tx1"/>
                </a:solidFill>
                <a:effectLst/>
                <a:latin typeface="+mn-lt"/>
                <a:ea typeface="+mn-ea"/>
                <a:cs typeface="+mn-cs"/>
              </a:rPr>
              <a:t>        AVERAGEX(</a:t>
            </a:r>
            <a:r>
              <a:rPr lang="en-US" sz="1200" b="0" kern="1200" dirty="0" err="1">
                <a:solidFill>
                  <a:schemeClr val="tx1"/>
                </a:solidFill>
                <a:effectLst/>
                <a:latin typeface="+mn-lt"/>
                <a:ea typeface="+mn-ea"/>
                <a:cs typeface="+mn-cs"/>
              </a:rPr>
              <a:t>dimDate</a:t>
            </a:r>
            <a:r>
              <a:rPr lang="en-US" sz="1200" b="0" kern="1200" dirty="0">
                <a:solidFill>
                  <a:schemeClr val="tx1"/>
                </a:solidFill>
                <a:effectLst/>
                <a:latin typeface="+mn-lt"/>
                <a:ea typeface="+mn-ea"/>
                <a:cs typeface="+mn-cs"/>
              </a:rPr>
              <a:t>,[</a:t>
            </a:r>
            <a:r>
              <a:rPr lang="en-US" sz="1200" b="0" kern="1200" dirty="0" err="1">
                <a:solidFill>
                  <a:schemeClr val="tx1"/>
                </a:solidFill>
                <a:effectLst/>
                <a:latin typeface="+mn-lt"/>
                <a:ea typeface="+mn-ea"/>
                <a:cs typeface="+mn-cs"/>
              </a:rPr>
              <a:t>SalesTotal</a:t>
            </a:r>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        _</a:t>
            </a:r>
            <a:r>
              <a:rPr lang="en-US" sz="1200" b="0" kern="1200" dirty="0" err="1">
                <a:solidFill>
                  <a:schemeClr val="tx1"/>
                </a:solidFill>
                <a:effectLst/>
                <a:latin typeface="+mn-lt"/>
                <a:ea typeface="+mn-ea"/>
                <a:cs typeface="+mn-cs"/>
              </a:rPr>
              <a:t>CalculationPeriod</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RETURN</a:t>
            </a:r>
          </a:p>
          <a:p>
            <a:r>
              <a:rPr lang="en-US" sz="1200" b="0" kern="1200" dirty="0">
                <a:solidFill>
                  <a:schemeClr val="tx1"/>
                </a:solidFill>
                <a:effectLst/>
                <a:latin typeface="+mn-lt"/>
                <a:ea typeface="+mn-ea"/>
                <a:cs typeface="+mn-cs"/>
              </a:rPr>
              <a:t>_</a:t>
            </a:r>
            <a:r>
              <a:rPr lang="en-US" sz="1200" b="0" kern="1200" dirty="0" err="1">
                <a:solidFill>
                  <a:schemeClr val="tx1"/>
                </a:solidFill>
                <a:effectLst/>
                <a:latin typeface="+mn-lt"/>
                <a:ea typeface="+mn-ea"/>
                <a:cs typeface="+mn-cs"/>
              </a:rPr>
              <a:t>MovingAverage</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FA6633B5-8BA6-476B-B0F8-F3280AA63B40}" type="slidenum">
              <a:rPr lang="en-MY" smtClean="0"/>
              <a:t>40</a:t>
            </a:fld>
            <a:endParaRPr lang="en-MY"/>
          </a:p>
        </p:txBody>
      </p:sp>
    </p:spTree>
    <p:extLst>
      <p:ext uri="{BB962C8B-B14F-4D97-AF65-F5344CB8AC3E}">
        <p14:creationId xmlns:p14="http://schemas.microsoft.com/office/powerpoint/2010/main" val="3889338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FA6633B5-8BA6-476B-B0F8-F3280AA63B40}" type="slidenum">
              <a:rPr lang="en-MY" smtClean="0"/>
              <a:t>53</a:t>
            </a:fld>
            <a:endParaRPr lang="en-MY"/>
          </a:p>
        </p:txBody>
      </p:sp>
    </p:spTree>
    <p:extLst>
      <p:ext uri="{BB962C8B-B14F-4D97-AF65-F5344CB8AC3E}">
        <p14:creationId xmlns:p14="http://schemas.microsoft.com/office/powerpoint/2010/main" val="3590306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FA6633B5-8BA6-476B-B0F8-F3280AA63B40}" type="slidenum">
              <a:rPr lang="en-MY" smtClean="0"/>
              <a:t>55</a:t>
            </a:fld>
            <a:endParaRPr lang="en-MY"/>
          </a:p>
        </p:txBody>
      </p:sp>
    </p:spTree>
    <p:extLst>
      <p:ext uri="{BB962C8B-B14F-4D97-AF65-F5344CB8AC3E}">
        <p14:creationId xmlns:p14="http://schemas.microsoft.com/office/powerpoint/2010/main" val="1176280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D1C4D-85A8-9FF0-92EC-A89ED17CFF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6FDA69C9-41FA-538D-F05F-56591B331B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211B4016-D483-4338-353F-6C60A53BAC24}"/>
              </a:ext>
            </a:extLst>
          </p:cNvPr>
          <p:cNvSpPr>
            <a:spLocks noGrp="1"/>
          </p:cNvSpPr>
          <p:nvPr>
            <p:ph type="dt" sz="half" idx="10"/>
          </p:nvPr>
        </p:nvSpPr>
        <p:spPr/>
        <p:txBody>
          <a:bodyPr/>
          <a:lstStyle/>
          <a:p>
            <a:fld id="{42A508BA-2D54-4853-8B85-979B40E9070B}" type="datetime1">
              <a:rPr lang="en-MY" smtClean="0"/>
              <a:t>17/5/2026</a:t>
            </a:fld>
            <a:endParaRPr lang="en-MY"/>
          </a:p>
        </p:txBody>
      </p:sp>
      <p:sp>
        <p:nvSpPr>
          <p:cNvPr id="5" name="Footer Placeholder 4">
            <a:extLst>
              <a:ext uri="{FF2B5EF4-FFF2-40B4-BE49-F238E27FC236}">
                <a16:creationId xmlns:a16="http://schemas.microsoft.com/office/drawing/2014/main" id="{1D73760F-6359-2A5C-812B-FF780AB868F9}"/>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5CDF8A80-8B3C-A7A5-DF74-FCB6362EFC6A}"/>
              </a:ext>
            </a:extLst>
          </p:cNvPr>
          <p:cNvSpPr>
            <a:spLocks noGrp="1"/>
          </p:cNvSpPr>
          <p:nvPr>
            <p:ph type="sldNum" sz="quarter" idx="12"/>
          </p:nvPr>
        </p:nvSpPr>
        <p:spPr/>
        <p:txBody>
          <a:bodyPr/>
          <a:lstStyle/>
          <a:p>
            <a:fld id="{499D393E-937C-43AF-8286-1304B3D101C1}" type="slidenum">
              <a:rPr lang="en-MY" smtClean="0"/>
              <a:t>‹#›</a:t>
            </a:fld>
            <a:endParaRPr lang="en-MY"/>
          </a:p>
        </p:txBody>
      </p:sp>
    </p:spTree>
    <p:extLst>
      <p:ext uri="{BB962C8B-B14F-4D97-AF65-F5344CB8AC3E}">
        <p14:creationId xmlns:p14="http://schemas.microsoft.com/office/powerpoint/2010/main" val="3327135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9E78F-802E-86CA-CFEF-8D1CF3D50F4E}"/>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211946EC-75D5-DD45-895F-2311E77665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2E4D7A2F-092A-8578-B500-1872E04FA409}"/>
              </a:ext>
            </a:extLst>
          </p:cNvPr>
          <p:cNvSpPr>
            <a:spLocks noGrp="1"/>
          </p:cNvSpPr>
          <p:nvPr>
            <p:ph type="dt" sz="half" idx="10"/>
          </p:nvPr>
        </p:nvSpPr>
        <p:spPr/>
        <p:txBody>
          <a:bodyPr/>
          <a:lstStyle/>
          <a:p>
            <a:fld id="{9FABC638-32A2-45B4-B6D8-360B2D0241D7}" type="datetime1">
              <a:rPr lang="en-MY" smtClean="0"/>
              <a:t>17/5/2026</a:t>
            </a:fld>
            <a:endParaRPr lang="en-MY"/>
          </a:p>
        </p:txBody>
      </p:sp>
      <p:sp>
        <p:nvSpPr>
          <p:cNvPr id="5" name="Footer Placeholder 4">
            <a:extLst>
              <a:ext uri="{FF2B5EF4-FFF2-40B4-BE49-F238E27FC236}">
                <a16:creationId xmlns:a16="http://schemas.microsoft.com/office/drawing/2014/main" id="{61F019F5-185B-A69F-B887-AE509FFC8840}"/>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AA7899B8-7A31-8444-7990-56BFA3AFC1FA}"/>
              </a:ext>
            </a:extLst>
          </p:cNvPr>
          <p:cNvSpPr>
            <a:spLocks noGrp="1"/>
          </p:cNvSpPr>
          <p:nvPr>
            <p:ph type="sldNum" sz="quarter" idx="12"/>
          </p:nvPr>
        </p:nvSpPr>
        <p:spPr/>
        <p:txBody>
          <a:bodyPr/>
          <a:lstStyle/>
          <a:p>
            <a:fld id="{499D393E-937C-43AF-8286-1304B3D101C1}" type="slidenum">
              <a:rPr lang="en-MY" smtClean="0"/>
              <a:t>‹#›</a:t>
            </a:fld>
            <a:endParaRPr lang="en-MY"/>
          </a:p>
        </p:txBody>
      </p:sp>
    </p:spTree>
    <p:extLst>
      <p:ext uri="{BB962C8B-B14F-4D97-AF65-F5344CB8AC3E}">
        <p14:creationId xmlns:p14="http://schemas.microsoft.com/office/powerpoint/2010/main" val="3153571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12FFC-6ACA-4B93-90B8-C2F1097ACE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C394422C-85AA-4801-587B-DC9AA383C0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6CD9B0-612F-B10F-A034-B42BF3A8EA46}"/>
              </a:ext>
            </a:extLst>
          </p:cNvPr>
          <p:cNvSpPr>
            <a:spLocks noGrp="1"/>
          </p:cNvSpPr>
          <p:nvPr>
            <p:ph type="dt" sz="half" idx="10"/>
          </p:nvPr>
        </p:nvSpPr>
        <p:spPr/>
        <p:txBody>
          <a:bodyPr/>
          <a:lstStyle/>
          <a:p>
            <a:fld id="{84CF25C0-BBE5-41E5-9617-D56CF8C65606}" type="datetime1">
              <a:rPr lang="en-MY" smtClean="0"/>
              <a:t>17/5/2026</a:t>
            </a:fld>
            <a:endParaRPr lang="en-MY"/>
          </a:p>
        </p:txBody>
      </p:sp>
      <p:sp>
        <p:nvSpPr>
          <p:cNvPr id="5" name="Footer Placeholder 4">
            <a:extLst>
              <a:ext uri="{FF2B5EF4-FFF2-40B4-BE49-F238E27FC236}">
                <a16:creationId xmlns:a16="http://schemas.microsoft.com/office/drawing/2014/main" id="{87F8B795-DE88-08DC-8484-B9F82C105A1F}"/>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FDCF74FC-D248-37D6-A2C8-C9435DEAAC48}"/>
              </a:ext>
            </a:extLst>
          </p:cNvPr>
          <p:cNvSpPr>
            <a:spLocks noGrp="1"/>
          </p:cNvSpPr>
          <p:nvPr>
            <p:ph type="sldNum" sz="quarter" idx="12"/>
          </p:nvPr>
        </p:nvSpPr>
        <p:spPr/>
        <p:txBody>
          <a:bodyPr/>
          <a:lstStyle/>
          <a:p>
            <a:fld id="{499D393E-937C-43AF-8286-1304B3D101C1}" type="slidenum">
              <a:rPr lang="en-MY" smtClean="0"/>
              <a:t>‹#›</a:t>
            </a:fld>
            <a:endParaRPr lang="en-MY"/>
          </a:p>
        </p:txBody>
      </p:sp>
    </p:spTree>
    <p:extLst>
      <p:ext uri="{BB962C8B-B14F-4D97-AF65-F5344CB8AC3E}">
        <p14:creationId xmlns:p14="http://schemas.microsoft.com/office/powerpoint/2010/main" val="1501630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B5122-46B4-AAC7-4044-3CEFED55B53C}"/>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9F3D5DC8-59C0-7435-9722-AF9B6E3639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8DD5D10E-9D35-F6D1-401B-E0D9A3D126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B90B25E7-2E67-04DE-AB0A-FA0325548BF2}"/>
              </a:ext>
            </a:extLst>
          </p:cNvPr>
          <p:cNvSpPr>
            <a:spLocks noGrp="1"/>
          </p:cNvSpPr>
          <p:nvPr>
            <p:ph type="dt" sz="half" idx="10"/>
          </p:nvPr>
        </p:nvSpPr>
        <p:spPr/>
        <p:txBody>
          <a:bodyPr/>
          <a:lstStyle/>
          <a:p>
            <a:fld id="{725E3DF5-6442-4870-B8BF-B37A27070B42}" type="datetime1">
              <a:rPr lang="en-MY" smtClean="0"/>
              <a:t>17/5/2026</a:t>
            </a:fld>
            <a:endParaRPr lang="en-MY"/>
          </a:p>
        </p:txBody>
      </p:sp>
      <p:sp>
        <p:nvSpPr>
          <p:cNvPr id="6" name="Footer Placeholder 5">
            <a:extLst>
              <a:ext uri="{FF2B5EF4-FFF2-40B4-BE49-F238E27FC236}">
                <a16:creationId xmlns:a16="http://schemas.microsoft.com/office/drawing/2014/main" id="{EC8FFABE-341D-6FF8-D4F1-C22DE6A135CF}"/>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9B17EC2A-2598-F65E-5E61-70A3A6E4AC9C}"/>
              </a:ext>
            </a:extLst>
          </p:cNvPr>
          <p:cNvSpPr>
            <a:spLocks noGrp="1"/>
          </p:cNvSpPr>
          <p:nvPr>
            <p:ph type="sldNum" sz="quarter" idx="12"/>
          </p:nvPr>
        </p:nvSpPr>
        <p:spPr/>
        <p:txBody>
          <a:bodyPr/>
          <a:lstStyle/>
          <a:p>
            <a:fld id="{499D393E-937C-43AF-8286-1304B3D101C1}" type="slidenum">
              <a:rPr lang="en-MY" smtClean="0"/>
              <a:t>‹#›</a:t>
            </a:fld>
            <a:endParaRPr lang="en-MY"/>
          </a:p>
        </p:txBody>
      </p:sp>
    </p:spTree>
    <p:extLst>
      <p:ext uri="{BB962C8B-B14F-4D97-AF65-F5344CB8AC3E}">
        <p14:creationId xmlns:p14="http://schemas.microsoft.com/office/powerpoint/2010/main" val="4116156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B6E24-AA1F-9A37-440A-1CE5159465B5}"/>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B0A78F9D-AD20-26FE-7B76-23006913EF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2D760A-3A18-6131-6600-57CBD2269E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367E0A1A-8CDD-C35D-62BE-A97161450D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0F3F89-295F-0539-FF04-172E0B4793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9683ACF8-242D-2568-0C12-FEC2C21605C5}"/>
              </a:ext>
            </a:extLst>
          </p:cNvPr>
          <p:cNvSpPr>
            <a:spLocks noGrp="1"/>
          </p:cNvSpPr>
          <p:nvPr>
            <p:ph type="dt" sz="half" idx="10"/>
          </p:nvPr>
        </p:nvSpPr>
        <p:spPr/>
        <p:txBody>
          <a:bodyPr/>
          <a:lstStyle/>
          <a:p>
            <a:fld id="{00EAE34A-2C38-4F7F-84B2-FB1CDFC56733}" type="datetime1">
              <a:rPr lang="en-MY" smtClean="0"/>
              <a:t>17/5/2026</a:t>
            </a:fld>
            <a:endParaRPr lang="en-MY"/>
          </a:p>
        </p:txBody>
      </p:sp>
      <p:sp>
        <p:nvSpPr>
          <p:cNvPr id="8" name="Footer Placeholder 7">
            <a:extLst>
              <a:ext uri="{FF2B5EF4-FFF2-40B4-BE49-F238E27FC236}">
                <a16:creationId xmlns:a16="http://schemas.microsoft.com/office/drawing/2014/main" id="{966F9F8F-2745-2CB9-6991-F8374A93BC05}"/>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E2D294A3-8A4E-8060-FF04-5AC283F3D55B}"/>
              </a:ext>
            </a:extLst>
          </p:cNvPr>
          <p:cNvSpPr>
            <a:spLocks noGrp="1"/>
          </p:cNvSpPr>
          <p:nvPr>
            <p:ph type="sldNum" sz="quarter" idx="12"/>
          </p:nvPr>
        </p:nvSpPr>
        <p:spPr/>
        <p:txBody>
          <a:bodyPr/>
          <a:lstStyle/>
          <a:p>
            <a:fld id="{499D393E-937C-43AF-8286-1304B3D101C1}" type="slidenum">
              <a:rPr lang="en-MY" smtClean="0"/>
              <a:t>‹#›</a:t>
            </a:fld>
            <a:endParaRPr lang="en-MY"/>
          </a:p>
        </p:txBody>
      </p:sp>
    </p:spTree>
    <p:extLst>
      <p:ext uri="{BB962C8B-B14F-4D97-AF65-F5344CB8AC3E}">
        <p14:creationId xmlns:p14="http://schemas.microsoft.com/office/powerpoint/2010/main" val="4156698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DE0FC-8844-BD13-EA27-23B055A92C0B}"/>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41FDD930-BC2D-703C-A20F-3370D86D5B55}"/>
              </a:ext>
            </a:extLst>
          </p:cNvPr>
          <p:cNvSpPr>
            <a:spLocks noGrp="1"/>
          </p:cNvSpPr>
          <p:nvPr>
            <p:ph type="dt" sz="half" idx="10"/>
          </p:nvPr>
        </p:nvSpPr>
        <p:spPr/>
        <p:txBody>
          <a:bodyPr/>
          <a:lstStyle/>
          <a:p>
            <a:fld id="{20CB8986-DFE2-484F-8CE3-98DF578BE6B1}" type="datetime1">
              <a:rPr lang="en-MY" smtClean="0"/>
              <a:t>17/5/2026</a:t>
            </a:fld>
            <a:endParaRPr lang="en-MY"/>
          </a:p>
        </p:txBody>
      </p:sp>
      <p:sp>
        <p:nvSpPr>
          <p:cNvPr id="4" name="Footer Placeholder 3">
            <a:extLst>
              <a:ext uri="{FF2B5EF4-FFF2-40B4-BE49-F238E27FC236}">
                <a16:creationId xmlns:a16="http://schemas.microsoft.com/office/drawing/2014/main" id="{C589DF03-5480-C6A6-3786-D56E002C5CFC}"/>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7F746950-C108-7080-1B8C-861D64F4F81A}"/>
              </a:ext>
            </a:extLst>
          </p:cNvPr>
          <p:cNvSpPr>
            <a:spLocks noGrp="1"/>
          </p:cNvSpPr>
          <p:nvPr>
            <p:ph type="sldNum" sz="quarter" idx="12"/>
          </p:nvPr>
        </p:nvSpPr>
        <p:spPr/>
        <p:txBody>
          <a:bodyPr/>
          <a:lstStyle/>
          <a:p>
            <a:fld id="{499D393E-937C-43AF-8286-1304B3D101C1}" type="slidenum">
              <a:rPr lang="en-MY" smtClean="0"/>
              <a:t>‹#›</a:t>
            </a:fld>
            <a:endParaRPr lang="en-MY"/>
          </a:p>
        </p:txBody>
      </p:sp>
    </p:spTree>
    <p:extLst>
      <p:ext uri="{BB962C8B-B14F-4D97-AF65-F5344CB8AC3E}">
        <p14:creationId xmlns:p14="http://schemas.microsoft.com/office/powerpoint/2010/main" val="2980448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7E47E7-C2A9-6F2F-6AEF-3B483A76A9F6}"/>
              </a:ext>
            </a:extLst>
          </p:cNvPr>
          <p:cNvSpPr>
            <a:spLocks noGrp="1"/>
          </p:cNvSpPr>
          <p:nvPr>
            <p:ph type="dt" sz="half" idx="10"/>
          </p:nvPr>
        </p:nvSpPr>
        <p:spPr/>
        <p:txBody>
          <a:bodyPr/>
          <a:lstStyle/>
          <a:p>
            <a:fld id="{DA1E5135-2C8D-41CF-8A5E-DF3FCE5B8C5A}" type="datetime1">
              <a:rPr lang="en-MY" smtClean="0"/>
              <a:t>17/5/2026</a:t>
            </a:fld>
            <a:endParaRPr lang="en-MY"/>
          </a:p>
        </p:txBody>
      </p:sp>
      <p:sp>
        <p:nvSpPr>
          <p:cNvPr id="3" name="Footer Placeholder 2">
            <a:extLst>
              <a:ext uri="{FF2B5EF4-FFF2-40B4-BE49-F238E27FC236}">
                <a16:creationId xmlns:a16="http://schemas.microsoft.com/office/drawing/2014/main" id="{0EFE4C05-6A2C-3432-0077-4355E5AE4C1F}"/>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C67C45F8-7584-5E31-4D7B-22B73EDE6688}"/>
              </a:ext>
            </a:extLst>
          </p:cNvPr>
          <p:cNvSpPr>
            <a:spLocks noGrp="1"/>
          </p:cNvSpPr>
          <p:nvPr>
            <p:ph type="sldNum" sz="quarter" idx="12"/>
          </p:nvPr>
        </p:nvSpPr>
        <p:spPr/>
        <p:txBody>
          <a:bodyPr/>
          <a:lstStyle/>
          <a:p>
            <a:fld id="{499D393E-937C-43AF-8286-1304B3D101C1}" type="slidenum">
              <a:rPr lang="en-MY" smtClean="0"/>
              <a:t>‹#›</a:t>
            </a:fld>
            <a:endParaRPr lang="en-MY"/>
          </a:p>
        </p:txBody>
      </p:sp>
    </p:spTree>
    <p:extLst>
      <p:ext uri="{BB962C8B-B14F-4D97-AF65-F5344CB8AC3E}">
        <p14:creationId xmlns:p14="http://schemas.microsoft.com/office/powerpoint/2010/main" val="2567475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B21A8-FDD3-35D9-EDD8-710813904C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5122310C-F367-E2B8-B761-02748E7AAA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B6304B68-299B-F7C0-6141-C5DA9A6EAD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2327FB-C20C-68C8-A3E5-4D58C7097750}"/>
              </a:ext>
            </a:extLst>
          </p:cNvPr>
          <p:cNvSpPr>
            <a:spLocks noGrp="1"/>
          </p:cNvSpPr>
          <p:nvPr>
            <p:ph type="dt" sz="half" idx="10"/>
          </p:nvPr>
        </p:nvSpPr>
        <p:spPr/>
        <p:txBody>
          <a:bodyPr/>
          <a:lstStyle/>
          <a:p>
            <a:fld id="{D219F531-C1E6-4BCC-A010-6808B7DF1597}" type="datetime1">
              <a:rPr lang="en-MY" smtClean="0"/>
              <a:t>17/5/2026</a:t>
            </a:fld>
            <a:endParaRPr lang="en-MY"/>
          </a:p>
        </p:txBody>
      </p:sp>
      <p:sp>
        <p:nvSpPr>
          <p:cNvPr id="6" name="Footer Placeholder 5">
            <a:extLst>
              <a:ext uri="{FF2B5EF4-FFF2-40B4-BE49-F238E27FC236}">
                <a16:creationId xmlns:a16="http://schemas.microsoft.com/office/drawing/2014/main" id="{6F578060-81E3-1DCD-F38C-8F2BD5DBA8D2}"/>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6AC23CD5-455F-CC1D-8C0B-9C20E502F8E8}"/>
              </a:ext>
            </a:extLst>
          </p:cNvPr>
          <p:cNvSpPr>
            <a:spLocks noGrp="1"/>
          </p:cNvSpPr>
          <p:nvPr>
            <p:ph type="sldNum" sz="quarter" idx="12"/>
          </p:nvPr>
        </p:nvSpPr>
        <p:spPr/>
        <p:txBody>
          <a:bodyPr/>
          <a:lstStyle/>
          <a:p>
            <a:fld id="{499D393E-937C-43AF-8286-1304B3D101C1}" type="slidenum">
              <a:rPr lang="en-MY" smtClean="0"/>
              <a:t>‹#›</a:t>
            </a:fld>
            <a:endParaRPr lang="en-MY"/>
          </a:p>
        </p:txBody>
      </p:sp>
    </p:spTree>
    <p:extLst>
      <p:ext uri="{BB962C8B-B14F-4D97-AF65-F5344CB8AC3E}">
        <p14:creationId xmlns:p14="http://schemas.microsoft.com/office/powerpoint/2010/main" val="1137075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C1977-9098-5C7C-018B-23BC431858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5D1C5FA9-346E-7F08-155B-7C05CAC95C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5333BE8D-8835-ACF5-AAF6-4CE7B71024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1DB62F-5CD4-52AE-C388-D43DAEEB67BA}"/>
              </a:ext>
            </a:extLst>
          </p:cNvPr>
          <p:cNvSpPr>
            <a:spLocks noGrp="1"/>
          </p:cNvSpPr>
          <p:nvPr>
            <p:ph type="dt" sz="half" idx="10"/>
          </p:nvPr>
        </p:nvSpPr>
        <p:spPr/>
        <p:txBody>
          <a:bodyPr/>
          <a:lstStyle/>
          <a:p>
            <a:fld id="{6EA4218C-9C77-4734-A253-62599026F110}" type="datetime1">
              <a:rPr lang="en-MY" smtClean="0"/>
              <a:t>17/5/2026</a:t>
            </a:fld>
            <a:endParaRPr lang="en-MY"/>
          </a:p>
        </p:txBody>
      </p:sp>
      <p:sp>
        <p:nvSpPr>
          <p:cNvPr id="6" name="Footer Placeholder 5">
            <a:extLst>
              <a:ext uri="{FF2B5EF4-FFF2-40B4-BE49-F238E27FC236}">
                <a16:creationId xmlns:a16="http://schemas.microsoft.com/office/drawing/2014/main" id="{2D4ADB90-7EF7-691C-1DED-CBCF83830E7E}"/>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81A3BBCE-092E-3695-8793-76ADF255F182}"/>
              </a:ext>
            </a:extLst>
          </p:cNvPr>
          <p:cNvSpPr>
            <a:spLocks noGrp="1"/>
          </p:cNvSpPr>
          <p:nvPr>
            <p:ph type="sldNum" sz="quarter" idx="12"/>
          </p:nvPr>
        </p:nvSpPr>
        <p:spPr/>
        <p:txBody>
          <a:bodyPr/>
          <a:lstStyle/>
          <a:p>
            <a:fld id="{499D393E-937C-43AF-8286-1304B3D101C1}" type="slidenum">
              <a:rPr lang="en-MY" smtClean="0"/>
              <a:t>‹#›</a:t>
            </a:fld>
            <a:endParaRPr lang="en-MY"/>
          </a:p>
        </p:txBody>
      </p:sp>
    </p:spTree>
    <p:extLst>
      <p:ext uri="{BB962C8B-B14F-4D97-AF65-F5344CB8AC3E}">
        <p14:creationId xmlns:p14="http://schemas.microsoft.com/office/powerpoint/2010/main" val="1376873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3A89A-34D8-DF8A-6E17-B662BEBE0271}"/>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BACE70E8-424C-6761-DAE6-40B5A08614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EFC4E948-A922-881C-8B10-1D2E611E5EE6}"/>
              </a:ext>
            </a:extLst>
          </p:cNvPr>
          <p:cNvSpPr>
            <a:spLocks noGrp="1"/>
          </p:cNvSpPr>
          <p:nvPr>
            <p:ph type="dt" sz="half" idx="10"/>
          </p:nvPr>
        </p:nvSpPr>
        <p:spPr/>
        <p:txBody>
          <a:bodyPr/>
          <a:lstStyle/>
          <a:p>
            <a:fld id="{99C8ACFB-074E-4334-915A-E405CA31C375}" type="datetime1">
              <a:rPr lang="en-MY" smtClean="0"/>
              <a:t>17/5/2026</a:t>
            </a:fld>
            <a:endParaRPr lang="en-MY"/>
          </a:p>
        </p:txBody>
      </p:sp>
      <p:sp>
        <p:nvSpPr>
          <p:cNvPr id="5" name="Footer Placeholder 4">
            <a:extLst>
              <a:ext uri="{FF2B5EF4-FFF2-40B4-BE49-F238E27FC236}">
                <a16:creationId xmlns:a16="http://schemas.microsoft.com/office/drawing/2014/main" id="{5ED5922C-52DF-4EED-DBB2-671B19A6BFEE}"/>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9D3D67BF-A33D-B349-1A55-C20063FBA707}"/>
              </a:ext>
            </a:extLst>
          </p:cNvPr>
          <p:cNvSpPr>
            <a:spLocks noGrp="1"/>
          </p:cNvSpPr>
          <p:nvPr>
            <p:ph type="sldNum" sz="quarter" idx="12"/>
          </p:nvPr>
        </p:nvSpPr>
        <p:spPr/>
        <p:txBody>
          <a:bodyPr/>
          <a:lstStyle/>
          <a:p>
            <a:fld id="{499D393E-937C-43AF-8286-1304B3D101C1}" type="slidenum">
              <a:rPr lang="en-MY" smtClean="0"/>
              <a:t>‹#›</a:t>
            </a:fld>
            <a:endParaRPr lang="en-MY"/>
          </a:p>
        </p:txBody>
      </p:sp>
    </p:spTree>
    <p:extLst>
      <p:ext uri="{BB962C8B-B14F-4D97-AF65-F5344CB8AC3E}">
        <p14:creationId xmlns:p14="http://schemas.microsoft.com/office/powerpoint/2010/main" val="2550760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D5EA08-B127-9E10-B93A-0A5FBBC48B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38C8BA43-2BEB-4927-A2AC-5708D53758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864CCF8D-50BA-C1D6-13EA-F2F1B3D10613}"/>
              </a:ext>
            </a:extLst>
          </p:cNvPr>
          <p:cNvSpPr>
            <a:spLocks noGrp="1"/>
          </p:cNvSpPr>
          <p:nvPr>
            <p:ph type="dt" sz="half" idx="10"/>
          </p:nvPr>
        </p:nvSpPr>
        <p:spPr/>
        <p:txBody>
          <a:bodyPr/>
          <a:lstStyle/>
          <a:p>
            <a:fld id="{49238DF5-549C-43C3-B50A-E8F32E9193AA}" type="datetime1">
              <a:rPr lang="en-MY" smtClean="0"/>
              <a:t>17/5/2026</a:t>
            </a:fld>
            <a:endParaRPr lang="en-MY"/>
          </a:p>
        </p:txBody>
      </p:sp>
      <p:sp>
        <p:nvSpPr>
          <p:cNvPr id="5" name="Footer Placeholder 4">
            <a:extLst>
              <a:ext uri="{FF2B5EF4-FFF2-40B4-BE49-F238E27FC236}">
                <a16:creationId xmlns:a16="http://schemas.microsoft.com/office/drawing/2014/main" id="{88AF9621-D9FD-5803-F7C1-3186B2770603}"/>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B2916516-4484-8AF4-9CC9-127C8C986626}"/>
              </a:ext>
            </a:extLst>
          </p:cNvPr>
          <p:cNvSpPr>
            <a:spLocks noGrp="1"/>
          </p:cNvSpPr>
          <p:nvPr>
            <p:ph type="sldNum" sz="quarter" idx="12"/>
          </p:nvPr>
        </p:nvSpPr>
        <p:spPr/>
        <p:txBody>
          <a:bodyPr/>
          <a:lstStyle/>
          <a:p>
            <a:fld id="{499D393E-937C-43AF-8286-1304B3D101C1}" type="slidenum">
              <a:rPr lang="en-MY" smtClean="0"/>
              <a:t>‹#›</a:t>
            </a:fld>
            <a:endParaRPr lang="en-MY"/>
          </a:p>
        </p:txBody>
      </p:sp>
    </p:spTree>
    <p:extLst>
      <p:ext uri="{BB962C8B-B14F-4D97-AF65-F5344CB8AC3E}">
        <p14:creationId xmlns:p14="http://schemas.microsoft.com/office/powerpoint/2010/main" val="427192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164246-2C10-5EAB-A037-6134903747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B9FEB77F-A573-B3E1-C700-C48C3FEB31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07F58402-6B66-B746-4609-69BA688661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62CAC31-2097-4599-BD12-07A5228FD369}" type="datetime1">
              <a:rPr lang="en-MY" smtClean="0"/>
              <a:t>17/5/2026</a:t>
            </a:fld>
            <a:endParaRPr lang="en-MY"/>
          </a:p>
        </p:txBody>
      </p:sp>
      <p:sp>
        <p:nvSpPr>
          <p:cNvPr id="5" name="Footer Placeholder 4">
            <a:extLst>
              <a:ext uri="{FF2B5EF4-FFF2-40B4-BE49-F238E27FC236}">
                <a16:creationId xmlns:a16="http://schemas.microsoft.com/office/drawing/2014/main" id="{EC7EF123-8EF3-2B50-ADBF-55605972CD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Y"/>
          </a:p>
        </p:txBody>
      </p:sp>
      <p:sp>
        <p:nvSpPr>
          <p:cNvPr id="6" name="Slide Number Placeholder 5">
            <a:extLst>
              <a:ext uri="{FF2B5EF4-FFF2-40B4-BE49-F238E27FC236}">
                <a16:creationId xmlns:a16="http://schemas.microsoft.com/office/drawing/2014/main" id="{CF73C6ED-9367-D72C-E51D-E445DC812F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9D393E-937C-43AF-8286-1304B3D101C1}" type="slidenum">
              <a:rPr lang="en-MY" smtClean="0"/>
              <a:t>‹#›</a:t>
            </a:fld>
            <a:endParaRPr lang="en-MY"/>
          </a:p>
        </p:txBody>
      </p:sp>
    </p:spTree>
    <p:extLst>
      <p:ext uri="{BB962C8B-B14F-4D97-AF65-F5344CB8AC3E}">
        <p14:creationId xmlns:p14="http://schemas.microsoft.com/office/powerpoint/2010/main" val="439610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kaggle.com/datasets/osroru/copper-wire-production-line-dataset?resource=download"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sqlbi.com/articles/implementing-linear-regression-in-power-bi/" TargetMode="External"/><Relationship Id="rId2" Type="http://schemas.openxmlformats.org/officeDocument/2006/relationships/hyperlink" Target="https://www.kaggle.com/datasets/osroru/copper-wire-production-line-dataset?resource=download"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ww.kaggle.com/datasets/osroru/copper-wire-production-line-dataset?resource=download"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facebook.com/business/help/164749007013531?id=401668390442328"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3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hyperlink" Target="https://radacad.com/dax-variables-better-readability-consistency-and-performance-in-power-bi-calculations/"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medium.com/analytics-vidhya/moving-average-using-dax-power-bi-413a31099091"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1.svg"/></Relationships>
</file>

<file path=ppt/slides/_rels/slide4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hyperlink" Target="https://www.daxpatterns.com/statistical-patterns/"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hyperlink" Target="https://datatab.net/tutorial/box-plot"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hyperlink" Target="https://www.youtube.com/watch?v=u6JVQKj5ijU&amp;t=653s&amp;ab_channel=HowtoPowerBI"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hyperlink" Target="https://www.youtube.com/watch?v=u6JVQKj5ijU&amp;t=653s&amp;ab_channel=HowtoPowerBI" TargetMode="Externa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www.youtube.com/watch?v=u6JVQKj5ijU&amp;t=653s&amp;ab_channel=HowtoPowerBI" TargetMode="External"/><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www.youtube.com/watch?v=u6JVQKj5ijU&amp;t=653s&amp;ab_channel=HowtoPowerBI" TargetMode="External"/><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www.youtube.com/watch?v=u6JVQKj5ijU&amp;t=653s&amp;ab_channel=HowtoPowerBI" TargetMode="External"/><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5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www.youtube.com/watch?v=u6JVQKj5ijU&amp;t=653s&amp;ab_channel=HowtoPowerBI" TargetMode="External"/><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www.youtube.com/watch?v=u6JVQKj5ijU&amp;t=653s&amp;ab_channel=HowtoPowerBI" TargetMode="External"/><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53.xml.rels><?xml version="1.0" encoding="UTF-8" standalone="yes"?>
<Relationships xmlns="http://schemas.openxmlformats.org/package/2006/relationships"><Relationship Id="rId3" Type="http://schemas.openxmlformats.org/officeDocument/2006/relationships/hyperlink" Target="https://www.youtube.com/watch?v=u6JVQKj5ijU&amp;t=653s&amp;ab_channel=HowtoPowerBI"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1.svg"/><Relationship Id="rId4" Type="http://schemas.openxmlformats.org/officeDocument/2006/relationships/image" Target="../media/image25.png"/></Relationships>
</file>

<file path=ppt/slides/_rels/slide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F609FF9A-4FCE-468E-A86A-C9AB525EAE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21E12D4-3A88-428D-8E5E-AF1AFD923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8" name="Picture 7" descr="Graph">
            <a:extLst>
              <a:ext uri="{FF2B5EF4-FFF2-40B4-BE49-F238E27FC236}">
                <a16:creationId xmlns:a16="http://schemas.microsoft.com/office/drawing/2014/main" id="{26AEAE38-1D89-5431-29E0-FF1680D4E211}"/>
              </a:ext>
            </a:extLst>
          </p:cNvPr>
          <p:cNvPicPr>
            <a:picLocks noChangeAspect="1"/>
          </p:cNvPicPr>
          <p:nvPr/>
        </p:nvPicPr>
        <p:blipFill>
          <a:blip r:embed="rId2">
            <a:alphaModFix amt="60000"/>
          </a:blip>
          <a:srcRect t="3982" b="6019"/>
          <a:stretch>
            <a:fillRect/>
          </a:stretch>
        </p:blipFill>
        <p:spPr>
          <a:xfrm>
            <a:off x="-1" y="10"/>
            <a:ext cx="12192001" cy="6857990"/>
          </a:xfrm>
          <a:prstGeom prst="rect">
            <a:avLst/>
          </a:prstGeom>
        </p:spPr>
      </p:pic>
      <p:sp>
        <p:nvSpPr>
          <p:cNvPr id="4" name="Rectangle 3">
            <a:extLst>
              <a:ext uri="{FF2B5EF4-FFF2-40B4-BE49-F238E27FC236}">
                <a16:creationId xmlns:a16="http://schemas.microsoft.com/office/drawing/2014/main" id="{E521DB2E-36E7-3362-385A-A1C9B4C98598}"/>
              </a:ext>
            </a:extLst>
          </p:cNvPr>
          <p:cNvSpPr/>
          <p:nvPr/>
        </p:nvSpPr>
        <p:spPr>
          <a:xfrm>
            <a:off x="0" y="0"/>
            <a:ext cx="12188952" cy="6858000"/>
          </a:xfrm>
          <a:prstGeom prst="rect">
            <a:avLst/>
          </a:prstGeom>
          <a:solidFill>
            <a:schemeClr val="dk1">
              <a:alpha val="5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MY"/>
          </a:p>
        </p:txBody>
      </p:sp>
      <p:sp>
        <p:nvSpPr>
          <p:cNvPr id="2" name="Title 1">
            <a:extLst>
              <a:ext uri="{FF2B5EF4-FFF2-40B4-BE49-F238E27FC236}">
                <a16:creationId xmlns:a16="http://schemas.microsoft.com/office/drawing/2014/main" id="{B47C313F-4B4F-E3ED-1B15-4AE776DF8E37}"/>
              </a:ext>
            </a:extLst>
          </p:cNvPr>
          <p:cNvSpPr>
            <a:spLocks noGrp="1"/>
          </p:cNvSpPr>
          <p:nvPr>
            <p:ph type="ctrTitle"/>
          </p:nvPr>
        </p:nvSpPr>
        <p:spPr>
          <a:xfrm>
            <a:off x="838200" y="914402"/>
            <a:ext cx="10515600" cy="2985923"/>
          </a:xfrm>
        </p:spPr>
        <p:txBody>
          <a:bodyPr>
            <a:normAutofit/>
          </a:bodyPr>
          <a:lstStyle/>
          <a:p>
            <a:pPr algn="l"/>
            <a:r>
              <a:rPr lang="en-US" sz="5200" dirty="0">
                <a:solidFill>
                  <a:srgbClr val="FFFFFF"/>
                </a:solidFill>
              </a:rPr>
              <a:t>Basic Statistics with Power BI for Data Translators</a:t>
            </a:r>
            <a:endParaRPr lang="en-MY" sz="5200" dirty="0">
              <a:solidFill>
                <a:srgbClr val="FFFFFF"/>
              </a:solidFill>
            </a:endParaRPr>
          </a:p>
        </p:txBody>
      </p:sp>
      <p:sp>
        <p:nvSpPr>
          <p:cNvPr id="3" name="Subtitle 2">
            <a:extLst>
              <a:ext uri="{FF2B5EF4-FFF2-40B4-BE49-F238E27FC236}">
                <a16:creationId xmlns:a16="http://schemas.microsoft.com/office/drawing/2014/main" id="{8CFFF8BC-96C4-FD1D-D92A-370C612643D9}"/>
              </a:ext>
            </a:extLst>
          </p:cNvPr>
          <p:cNvSpPr>
            <a:spLocks noGrp="1"/>
          </p:cNvSpPr>
          <p:nvPr>
            <p:ph type="subTitle" idx="1"/>
          </p:nvPr>
        </p:nvSpPr>
        <p:spPr>
          <a:xfrm>
            <a:off x="838200" y="4072040"/>
            <a:ext cx="10515600" cy="1384310"/>
          </a:xfrm>
        </p:spPr>
        <p:txBody>
          <a:bodyPr>
            <a:normAutofit/>
          </a:bodyPr>
          <a:lstStyle/>
          <a:p>
            <a:pPr algn="l"/>
            <a:r>
              <a:rPr lang="en-US" dirty="0">
                <a:solidFill>
                  <a:srgbClr val="FFFFFF"/>
                </a:solidFill>
              </a:rPr>
              <a:t>Gem</a:t>
            </a:r>
            <a:r>
              <a:rPr lang="en-GB" dirty="0">
                <a:solidFill>
                  <a:srgbClr val="FFFFFF"/>
                </a:solidFill>
              </a:rPr>
              <a:t>R</a:t>
            </a:r>
            <a:r>
              <a:rPr lang="en-US" dirty="0" err="1">
                <a:solidFill>
                  <a:srgbClr val="FFFFFF"/>
                </a:solidFill>
              </a:rPr>
              <a:t>ain</a:t>
            </a:r>
            <a:r>
              <a:rPr lang="en-US" dirty="0">
                <a:solidFill>
                  <a:srgbClr val="FFFFFF"/>
                </a:solidFill>
              </a:rPr>
              <a:t> Consulting </a:t>
            </a:r>
            <a:r>
              <a:rPr lang="en-US" dirty="0" err="1">
                <a:solidFill>
                  <a:srgbClr val="FFFFFF"/>
                </a:solidFill>
              </a:rPr>
              <a:t>Sdn</a:t>
            </a:r>
            <a:r>
              <a:rPr lang="en-US" dirty="0">
                <a:solidFill>
                  <a:srgbClr val="FFFFFF"/>
                </a:solidFill>
              </a:rPr>
              <a:t> </a:t>
            </a:r>
            <a:r>
              <a:rPr lang="en-US" dirty="0" err="1">
                <a:solidFill>
                  <a:srgbClr val="FFFFFF"/>
                </a:solidFill>
              </a:rPr>
              <a:t>Bhd</a:t>
            </a:r>
            <a:endParaRPr lang="en-MY" dirty="0">
              <a:solidFill>
                <a:srgbClr val="FFFFFF"/>
              </a:solidFill>
            </a:endParaRPr>
          </a:p>
        </p:txBody>
      </p:sp>
    </p:spTree>
    <p:extLst>
      <p:ext uri="{BB962C8B-B14F-4D97-AF65-F5344CB8AC3E}">
        <p14:creationId xmlns:p14="http://schemas.microsoft.com/office/powerpoint/2010/main" val="2410743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9BD142-8F01-E67E-31B5-71EADC554666}"/>
              </a:ext>
            </a:extLst>
          </p:cNvPr>
          <p:cNvSpPr>
            <a:spLocks noGrp="1"/>
          </p:cNvSpPr>
          <p:nvPr>
            <p:ph type="title"/>
          </p:nvPr>
        </p:nvSpPr>
        <p:spPr>
          <a:xfrm>
            <a:off x="761803" y="350196"/>
            <a:ext cx="4646904" cy="1624520"/>
          </a:xfrm>
        </p:spPr>
        <p:txBody>
          <a:bodyPr anchor="ctr">
            <a:normAutofit/>
          </a:bodyPr>
          <a:lstStyle/>
          <a:p>
            <a:r>
              <a:rPr lang="en-US" sz="4000" dirty="0"/>
              <a:t>MILESTONE 1 AGENDA</a:t>
            </a:r>
            <a:endParaRPr lang="en-MY" sz="4000" dirty="0"/>
          </a:p>
        </p:txBody>
      </p:sp>
      <p:sp>
        <p:nvSpPr>
          <p:cNvPr id="3" name="Content Placeholder 2">
            <a:extLst>
              <a:ext uri="{FF2B5EF4-FFF2-40B4-BE49-F238E27FC236}">
                <a16:creationId xmlns:a16="http://schemas.microsoft.com/office/drawing/2014/main" id="{550D9D41-4366-6E82-E310-EA01DC46009D}"/>
              </a:ext>
            </a:extLst>
          </p:cNvPr>
          <p:cNvSpPr>
            <a:spLocks noGrp="1"/>
          </p:cNvSpPr>
          <p:nvPr>
            <p:ph idx="1"/>
          </p:nvPr>
        </p:nvSpPr>
        <p:spPr>
          <a:xfrm>
            <a:off x="761802" y="2743200"/>
            <a:ext cx="4646905" cy="3613149"/>
          </a:xfrm>
        </p:spPr>
        <p:txBody>
          <a:bodyPr anchor="ctr">
            <a:normAutofit/>
          </a:bodyPr>
          <a:lstStyle/>
          <a:p>
            <a:r>
              <a:rPr lang="en-US" sz="2000"/>
              <a:t>What is statistics?</a:t>
            </a:r>
          </a:p>
          <a:p>
            <a:r>
              <a:rPr lang="en-US" sz="2000"/>
              <a:t>How does basic statistics help data translators?</a:t>
            </a:r>
          </a:p>
          <a:p>
            <a:r>
              <a:rPr lang="en-US" sz="2000"/>
              <a:t>Typical skills &amp; key responsibilities</a:t>
            </a:r>
          </a:p>
          <a:p>
            <a:r>
              <a:rPr lang="en-US" sz="2000"/>
              <a:t>Measures of central tendency</a:t>
            </a:r>
          </a:p>
          <a:p>
            <a:r>
              <a:rPr lang="en-US" sz="2000"/>
              <a:t>Regression analysis</a:t>
            </a:r>
          </a:p>
          <a:p>
            <a:r>
              <a:rPr lang="en-US" sz="2000"/>
              <a:t>Clustering analysis</a:t>
            </a:r>
          </a:p>
          <a:p>
            <a:r>
              <a:rPr lang="en-US" sz="2000"/>
              <a:t>Forecasting</a:t>
            </a:r>
          </a:p>
          <a:p>
            <a:endParaRPr lang="en-MY" sz="2000"/>
          </a:p>
        </p:txBody>
      </p:sp>
      <p:pic>
        <p:nvPicPr>
          <p:cNvPr id="5" name="Picture 4" descr="Magnifying glass showing decling performance">
            <a:extLst>
              <a:ext uri="{FF2B5EF4-FFF2-40B4-BE49-F238E27FC236}">
                <a16:creationId xmlns:a16="http://schemas.microsoft.com/office/drawing/2014/main" id="{35531339-2B9B-FF8F-5BDC-A83E6C6E142F}"/>
              </a:ext>
            </a:extLst>
          </p:cNvPr>
          <p:cNvPicPr>
            <a:picLocks noChangeAspect="1"/>
          </p:cNvPicPr>
          <p:nvPr/>
        </p:nvPicPr>
        <p:blipFill>
          <a:blip r:embed="rId2"/>
          <a:srcRect l="13740" r="26860" b="-2"/>
          <a:stretch>
            <a:fillRect/>
          </a:stretch>
        </p:blipFill>
        <p:spPr>
          <a:xfrm>
            <a:off x="6096000" y="1"/>
            <a:ext cx="6102825" cy="6858000"/>
          </a:xfrm>
          <a:prstGeom prst="rect">
            <a:avLst/>
          </a:prstGeom>
        </p:spPr>
      </p:pic>
      <p:sp>
        <p:nvSpPr>
          <p:cNvPr id="4" name="Slide Number Placeholder 3">
            <a:extLst>
              <a:ext uri="{FF2B5EF4-FFF2-40B4-BE49-F238E27FC236}">
                <a16:creationId xmlns:a16="http://schemas.microsoft.com/office/drawing/2014/main" id="{1F08432B-BACD-A8E8-2F3E-D4CFDB482228}"/>
              </a:ext>
            </a:extLst>
          </p:cNvPr>
          <p:cNvSpPr>
            <a:spLocks noGrp="1"/>
          </p:cNvSpPr>
          <p:nvPr>
            <p:ph type="sldNum" sz="quarter" idx="12"/>
          </p:nvPr>
        </p:nvSpPr>
        <p:spPr/>
        <p:txBody>
          <a:bodyPr/>
          <a:lstStyle/>
          <a:p>
            <a:fld id="{499D393E-937C-43AF-8286-1304B3D101C1}" type="slidenum">
              <a:rPr lang="en-MY" smtClean="0"/>
              <a:t>2</a:t>
            </a:fld>
            <a:endParaRPr lang="en-MY"/>
          </a:p>
        </p:txBody>
      </p:sp>
    </p:spTree>
    <p:extLst>
      <p:ext uri="{BB962C8B-B14F-4D97-AF65-F5344CB8AC3E}">
        <p14:creationId xmlns:p14="http://schemas.microsoft.com/office/powerpoint/2010/main" val="232923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1C9DD0-2420-4EA1-5AD5-FCFDC3E62393}"/>
              </a:ext>
            </a:extLst>
          </p:cNvPr>
          <p:cNvSpPr>
            <a:spLocks noGrp="1"/>
          </p:cNvSpPr>
          <p:nvPr>
            <p:ph type="title"/>
          </p:nvPr>
        </p:nvSpPr>
        <p:spPr>
          <a:xfrm>
            <a:off x="838200" y="1641752"/>
            <a:ext cx="4391025" cy="1323439"/>
          </a:xfrm>
        </p:spPr>
        <p:txBody>
          <a:bodyPr anchor="t">
            <a:normAutofit/>
          </a:bodyPr>
          <a:lstStyle/>
          <a:p>
            <a:r>
              <a:rPr lang="en-US" sz="4000">
                <a:solidFill>
                  <a:schemeClr val="bg1"/>
                </a:solidFill>
              </a:rPr>
              <a:t>What is statistics?</a:t>
            </a:r>
            <a:endParaRPr lang="en-MY" sz="4000">
              <a:solidFill>
                <a:schemeClr val="bg1"/>
              </a:solidFill>
            </a:endParaRPr>
          </a:p>
        </p:txBody>
      </p:sp>
      <p:sp>
        <p:nvSpPr>
          <p:cNvPr id="3" name="Content Placeholder 2">
            <a:extLst>
              <a:ext uri="{FF2B5EF4-FFF2-40B4-BE49-F238E27FC236}">
                <a16:creationId xmlns:a16="http://schemas.microsoft.com/office/drawing/2014/main" id="{9B84933F-BAB3-E1AB-AAA0-AC3FA91A3AC5}"/>
              </a:ext>
            </a:extLst>
          </p:cNvPr>
          <p:cNvSpPr>
            <a:spLocks noGrp="1"/>
          </p:cNvSpPr>
          <p:nvPr>
            <p:ph idx="1"/>
          </p:nvPr>
        </p:nvSpPr>
        <p:spPr>
          <a:xfrm>
            <a:off x="838200" y="2566219"/>
            <a:ext cx="4391025" cy="3034481"/>
          </a:xfrm>
        </p:spPr>
        <p:txBody>
          <a:bodyPr>
            <a:normAutofit fontScale="92500" lnSpcReduction="10000"/>
          </a:bodyPr>
          <a:lstStyle/>
          <a:p>
            <a:pPr>
              <a:lnSpc>
                <a:spcPct val="150000"/>
              </a:lnSpc>
            </a:pPr>
            <a:r>
              <a:rPr lang="en-US" sz="1600" dirty="0">
                <a:solidFill>
                  <a:schemeClr val="bg1">
                    <a:alpha val="80000"/>
                  </a:schemeClr>
                </a:solidFill>
              </a:rPr>
              <a:t>Statistics (often descriptive) is an analytical approach that summarizes or describe features of a data set</a:t>
            </a:r>
          </a:p>
          <a:p>
            <a:pPr>
              <a:lnSpc>
                <a:spcPct val="150000"/>
              </a:lnSpc>
            </a:pPr>
            <a:r>
              <a:rPr lang="en-US" sz="1600" dirty="0">
                <a:solidFill>
                  <a:schemeClr val="bg1">
                    <a:alpha val="80000"/>
                  </a:schemeClr>
                </a:solidFill>
              </a:rPr>
              <a:t>This knowledge is extremely important to understand your data set prior to any deeper analysis that would be required</a:t>
            </a:r>
          </a:p>
          <a:p>
            <a:pPr>
              <a:lnSpc>
                <a:spcPct val="150000"/>
              </a:lnSpc>
            </a:pPr>
            <a:r>
              <a:rPr lang="en-US" sz="1600" dirty="0">
                <a:solidFill>
                  <a:schemeClr val="bg1">
                    <a:alpha val="80000"/>
                  </a:schemeClr>
                </a:solidFill>
              </a:rPr>
              <a:t>The step of understanding your data set is known as “Exploratory Data Analysis” (EDA)</a:t>
            </a:r>
            <a:endParaRPr lang="en-MY" sz="1600" dirty="0">
              <a:solidFill>
                <a:schemeClr val="bg1">
                  <a:alpha val="80000"/>
                </a:schemeClr>
              </a:solidFill>
            </a:endParaRPr>
          </a:p>
        </p:txBody>
      </p:sp>
      <p:pic>
        <p:nvPicPr>
          <p:cNvPr id="4" name="Picture 3">
            <a:extLst>
              <a:ext uri="{FF2B5EF4-FFF2-40B4-BE49-F238E27FC236}">
                <a16:creationId xmlns:a16="http://schemas.microsoft.com/office/drawing/2014/main" id="{372A2B9B-C2F5-3C69-FD1B-C7A3B80185CE}"/>
              </a:ext>
            </a:extLst>
          </p:cNvPr>
          <p:cNvPicPr>
            <a:picLocks noChangeAspect="1"/>
          </p:cNvPicPr>
          <p:nvPr/>
        </p:nvPicPr>
        <p:blipFill>
          <a:blip r:embed="rId2"/>
          <a:stretch>
            <a:fillRect/>
          </a:stretch>
        </p:blipFill>
        <p:spPr>
          <a:xfrm>
            <a:off x="6095999" y="1587875"/>
            <a:ext cx="5260976" cy="3643225"/>
          </a:xfrm>
          <a:prstGeom prst="rect">
            <a:avLst/>
          </a:prstGeom>
        </p:spPr>
      </p:pic>
      <p:sp>
        <p:nvSpPr>
          <p:cNvPr id="5" name="Slide Number Placeholder 4">
            <a:extLst>
              <a:ext uri="{FF2B5EF4-FFF2-40B4-BE49-F238E27FC236}">
                <a16:creationId xmlns:a16="http://schemas.microsoft.com/office/drawing/2014/main" id="{9334715B-5F20-DE69-2B15-EB5CDBE7BDE9}"/>
              </a:ext>
            </a:extLst>
          </p:cNvPr>
          <p:cNvSpPr>
            <a:spLocks noGrp="1"/>
          </p:cNvSpPr>
          <p:nvPr>
            <p:ph type="sldNum" sz="quarter" idx="12"/>
          </p:nvPr>
        </p:nvSpPr>
        <p:spPr/>
        <p:txBody>
          <a:bodyPr/>
          <a:lstStyle/>
          <a:p>
            <a:fld id="{499D393E-937C-43AF-8286-1304B3D101C1}" type="slidenum">
              <a:rPr lang="en-MY" smtClean="0"/>
              <a:t>3</a:t>
            </a:fld>
            <a:endParaRPr lang="en-MY"/>
          </a:p>
        </p:txBody>
      </p:sp>
    </p:spTree>
    <p:extLst>
      <p:ext uri="{BB962C8B-B14F-4D97-AF65-F5344CB8AC3E}">
        <p14:creationId xmlns:p14="http://schemas.microsoft.com/office/powerpoint/2010/main" val="2899013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EF1F55-15F6-4B0B-20B6-250B0985E1FE}"/>
              </a:ext>
            </a:extLst>
          </p:cNvPr>
          <p:cNvPicPr>
            <a:picLocks noChangeAspect="1"/>
          </p:cNvPicPr>
          <p:nvPr/>
        </p:nvPicPr>
        <p:blipFill>
          <a:blip r:embed="rId2"/>
          <a:srcRect t="9468"/>
          <a:stretch/>
        </p:blipFill>
        <p:spPr>
          <a:xfrm>
            <a:off x="2227329" y="1690688"/>
            <a:ext cx="7737342" cy="4867718"/>
          </a:xfrm>
          <a:prstGeom prst="rect">
            <a:avLst/>
          </a:prstGeom>
        </p:spPr>
      </p:pic>
      <p:sp>
        <p:nvSpPr>
          <p:cNvPr id="7" name="Title 1">
            <a:extLst>
              <a:ext uri="{FF2B5EF4-FFF2-40B4-BE49-F238E27FC236}">
                <a16:creationId xmlns:a16="http://schemas.microsoft.com/office/drawing/2014/main" id="{00A6B008-643E-92B5-901C-AD0E003BAB83}"/>
              </a:ext>
            </a:extLst>
          </p:cNvPr>
          <p:cNvSpPr>
            <a:spLocks noGrp="1"/>
          </p:cNvSpPr>
          <p:nvPr>
            <p:ph type="title"/>
          </p:nvPr>
        </p:nvSpPr>
        <p:spPr>
          <a:xfrm>
            <a:off x="838200" y="365125"/>
            <a:ext cx="10515600" cy="1325563"/>
          </a:xfrm>
        </p:spPr>
        <p:txBody>
          <a:bodyPr/>
          <a:lstStyle/>
          <a:p>
            <a:r>
              <a:rPr lang="en-US" dirty="0"/>
              <a:t>Important roles &amp; responsibilities of data translators / business analysts</a:t>
            </a:r>
            <a:endParaRPr lang="en-MY" dirty="0"/>
          </a:p>
        </p:txBody>
      </p:sp>
      <p:sp>
        <p:nvSpPr>
          <p:cNvPr id="8" name="Speech Bubble: Rectangle with Corners Rounded 7">
            <a:extLst>
              <a:ext uri="{FF2B5EF4-FFF2-40B4-BE49-F238E27FC236}">
                <a16:creationId xmlns:a16="http://schemas.microsoft.com/office/drawing/2014/main" id="{5EDA2F94-A82C-D97F-2C8F-EADB90B8A75B}"/>
              </a:ext>
            </a:extLst>
          </p:cNvPr>
          <p:cNvSpPr/>
          <p:nvPr/>
        </p:nvSpPr>
        <p:spPr>
          <a:xfrm>
            <a:off x="10056111" y="1985962"/>
            <a:ext cx="1776225" cy="1001459"/>
          </a:xfrm>
          <a:prstGeom prst="wedgeRoundRectCallout">
            <a:avLst>
              <a:gd name="adj1" fmla="val -61655"/>
              <a:gd name="adj2" fmla="val -22414"/>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t>More to be covered in data storytelling course</a:t>
            </a:r>
            <a:endParaRPr lang="en-MY" sz="1400" dirty="0"/>
          </a:p>
        </p:txBody>
      </p:sp>
      <p:sp>
        <p:nvSpPr>
          <p:cNvPr id="2" name="Slide Number Placeholder 1">
            <a:extLst>
              <a:ext uri="{FF2B5EF4-FFF2-40B4-BE49-F238E27FC236}">
                <a16:creationId xmlns:a16="http://schemas.microsoft.com/office/drawing/2014/main" id="{8C9F575D-9A4E-4338-83A6-80B9B383B12C}"/>
              </a:ext>
            </a:extLst>
          </p:cNvPr>
          <p:cNvSpPr>
            <a:spLocks noGrp="1"/>
          </p:cNvSpPr>
          <p:nvPr>
            <p:ph type="sldNum" sz="quarter" idx="12"/>
          </p:nvPr>
        </p:nvSpPr>
        <p:spPr/>
        <p:txBody>
          <a:bodyPr/>
          <a:lstStyle/>
          <a:p>
            <a:fld id="{499D393E-937C-43AF-8286-1304B3D101C1}" type="slidenum">
              <a:rPr lang="en-MY" smtClean="0"/>
              <a:t>4</a:t>
            </a:fld>
            <a:endParaRPr lang="en-MY"/>
          </a:p>
        </p:txBody>
      </p:sp>
    </p:spTree>
    <p:extLst>
      <p:ext uri="{BB962C8B-B14F-4D97-AF65-F5344CB8AC3E}">
        <p14:creationId xmlns:p14="http://schemas.microsoft.com/office/powerpoint/2010/main" val="887394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779-7770-3F4D-CACE-DD57B2237F91}"/>
              </a:ext>
            </a:extLst>
          </p:cNvPr>
          <p:cNvSpPr>
            <a:spLocks noGrp="1"/>
          </p:cNvSpPr>
          <p:nvPr>
            <p:ph type="title"/>
          </p:nvPr>
        </p:nvSpPr>
        <p:spPr/>
        <p:txBody>
          <a:bodyPr/>
          <a:lstStyle/>
          <a:p>
            <a:r>
              <a:rPr lang="en-US" dirty="0"/>
              <a:t>Types of Data Analysis</a:t>
            </a:r>
            <a:endParaRPr lang="en-MY" dirty="0"/>
          </a:p>
        </p:txBody>
      </p:sp>
      <p:pic>
        <p:nvPicPr>
          <p:cNvPr id="1026" name="Picture 2" descr="4 Types of Data Analytics Every Analyst Should Know-Descriptive,  Diagnostic, Predictive, Prescriptive - data.org">
            <a:extLst>
              <a:ext uri="{FF2B5EF4-FFF2-40B4-BE49-F238E27FC236}">
                <a16:creationId xmlns:a16="http://schemas.microsoft.com/office/drawing/2014/main" id="{900EB038-266F-9C54-AFCA-621E90293A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6222" y="1846136"/>
            <a:ext cx="7919556" cy="374827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2FCD2F19-2841-18B9-992F-DFD92E8F2B53}"/>
              </a:ext>
            </a:extLst>
          </p:cNvPr>
          <p:cNvSpPr>
            <a:spLocks noGrp="1"/>
          </p:cNvSpPr>
          <p:nvPr>
            <p:ph type="sldNum" sz="quarter" idx="12"/>
          </p:nvPr>
        </p:nvSpPr>
        <p:spPr/>
        <p:txBody>
          <a:bodyPr/>
          <a:lstStyle/>
          <a:p>
            <a:fld id="{499D393E-937C-43AF-8286-1304B3D101C1}" type="slidenum">
              <a:rPr lang="en-MY" smtClean="0"/>
              <a:t>5</a:t>
            </a:fld>
            <a:endParaRPr lang="en-MY"/>
          </a:p>
        </p:txBody>
      </p:sp>
    </p:spTree>
    <p:extLst>
      <p:ext uri="{BB962C8B-B14F-4D97-AF65-F5344CB8AC3E}">
        <p14:creationId xmlns:p14="http://schemas.microsoft.com/office/powerpoint/2010/main" val="3800262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FA80C-7581-DCE7-2C4C-F65F829DE425}"/>
              </a:ext>
            </a:extLst>
          </p:cNvPr>
          <p:cNvSpPr>
            <a:spLocks noGrp="1"/>
          </p:cNvSpPr>
          <p:nvPr>
            <p:ph type="title"/>
          </p:nvPr>
        </p:nvSpPr>
        <p:spPr/>
        <p:txBody>
          <a:bodyPr/>
          <a:lstStyle/>
          <a:p>
            <a:r>
              <a:rPr lang="en-US" dirty="0"/>
              <a:t>Measures of central tendency</a:t>
            </a:r>
            <a:endParaRPr lang="en-MY" dirty="0"/>
          </a:p>
        </p:txBody>
      </p:sp>
      <p:sp>
        <p:nvSpPr>
          <p:cNvPr id="3" name="Content Placeholder 2">
            <a:extLst>
              <a:ext uri="{FF2B5EF4-FFF2-40B4-BE49-F238E27FC236}">
                <a16:creationId xmlns:a16="http://schemas.microsoft.com/office/drawing/2014/main" id="{CFC62F7A-C33B-5221-0A1C-7A5BD096D9A9}"/>
              </a:ext>
            </a:extLst>
          </p:cNvPr>
          <p:cNvSpPr>
            <a:spLocks noGrp="1"/>
          </p:cNvSpPr>
          <p:nvPr>
            <p:ph idx="1"/>
          </p:nvPr>
        </p:nvSpPr>
        <p:spPr>
          <a:xfrm>
            <a:off x="838200" y="1596387"/>
            <a:ext cx="10515600" cy="4580576"/>
          </a:xfrm>
        </p:spPr>
        <p:txBody>
          <a:bodyPr/>
          <a:lstStyle/>
          <a:p>
            <a:pPr>
              <a:lnSpc>
                <a:spcPct val="150000"/>
              </a:lnSpc>
            </a:pPr>
            <a:r>
              <a:rPr lang="en-US" dirty="0"/>
              <a:t>Measures of central tendency is the statistical measure that identifies a single value as representative of an entire distribution</a:t>
            </a:r>
            <a:endParaRPr lang="en-MY" dirty="0"/>
          </a:p>
        </p:txBody>
      </p:sp>
      <p:sp>
        <p:nvSpPr>
          <p:cNvPr id="4" name="Rectangle 3">
            <a:extLst>
              <a:ext uri="{FF2B5EF4-FFF2-40B4-BE49-F238E27FC236}">
                <a16:creationId xmlns:a16="http://schemas.microsoft.com/office/drawing/2014/main" id="{1BE98A26-77E3-7D11-79D0-F49F798EAC51}"/>
              </a:ext>
            </a:extLst>
          </p:cNvPr>
          <p:cNvSpPr/>
          <p:nvPr/>
        </p:nvSpPr>
        <p:spPr>
          <a:xfrm>
            <a:off x="1310150" y="4550112"/>
            <a:ext cx="2231923" cy="8491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Measures of central tendency</a:t>
            </a:r>
            <a:endParaRPr lang="en-MY" dirty="0"/>
          </a:p>
        </p:txBody>
      </p:sp>
      <p:sp>
        <p:nvSpPr>
          <p:cNvPr id="5" name="Rectangle 4">
            <a:extLst>
              <a:ext uri="{FF2B5EF4-FFF2-40B4-BE49-F238E27FC236}">
                <a16:creationId xmlns:a16="http://schemas.microsoft.com/office/drawing/2014/main" id="{25DCD47F-786B-A8A6-50D0-A78D0FF88C6A}"/>
              </a:ext>
            </a:extLst>
          </p:cNvPr>
          <p:cNvSpPr/>
          <p:nvPr/>
        </p:nvSpPr>
        <p:spPr>
          <a:xfrm>
            <a:off x="4697366" y="3695222"/>
            <a:ext cx="2231923" cy="5188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Mean (x̄)</a:t>
            </a:r>
            <a:endParaRPr lang="en-MY" dirty="0"/>
          </a:p>
        </p:txBody>
      </p:sp>
      <p:sp>
        <p:nvSpPr>
          <p:cNvPr id="6" name="Rectangle 5">
            <a:extLst>
              <a:ext uri="{FF2B5EF4-FFF2-40B4-BE49-F238E27FC236}">
                <a16:creationId xmlns:a16="http://schemas.microsoft.com/office/drawing/2014/main" id="{810EA1B3-A305-3B66-2E5D-FD9C12BC5BB0}"/>
              </a:ext>
            </a:extLst>
          </p:cNvPr>
          <p:cNvSpPr/>
          <p:nvPr/>
        </p:nvSpPr>
        <p:spPr>
          <a:xfrm>
            <a:off x="4697366" y="4715274"/>
            <a:ext cx="2231923" cy="5188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Median</a:t>
            </a:r>
            <a:endParaRPr lang="en-MY" dirty="0"/>
          </a:p>
        </p:txBody>
      </p:sp>
      <p:sp>
        <p:nvSpPr>
          <p:cNvPr id="7" name="Rectangle 6">
            <a:extLst>
              <a:ext uri="{FF2B5EF4-FFF2-40B4-BE49-F238E27FC236}">
                <a16:creationId xmlns:a16="http://schemas.microsoft.com/office/drawing/2014/main" id="{F4193758-5B8B-50E9-6203-47E2DE6C5B6E}"/>
              </a:ext>
            </a:extLst>
          </p:cNvPr>
          <p:cNvSpPr/>
          <p:nvPr/>
        </p:nvSpPr>
        <p:spPr>
          <a:xfrm>
            <a:off x="4697366" y="5707897"/>
            <a:ext cx="2231923" cy="5188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a:t>
            </a:r>
            <a:endParaRPr lang="en-MY" dirty="0"/>
          </a:p>
        </p:txBody>
      </p:sp>
      <p:sp>
        <p:nvSpPr>
          <p:cNvPr id="8" name="Rectangle 7">
            <a:extLst>
              <a:ext uri="{FF2B5EF4-FFF2-40B4-BE49-F238E27FC236}">
                <a16:creationId xmlns:a16="http://schemas.microsoft.com/office/drawing/2014/main" id="{6CB622C4-26DA-883F-B71B-DB5D2C570085}"/>
              </a:ext>
            </a:extLst>
          </p:cNvPr>
          <p:cNvSpPr/>
          <p:nvPr/>
        </p:nvSpPr>
        <p:spPr>
          <a:xfrm>
            <a:off x="8200108" y="2999759"/>
            <a:ext cx="2231923" cy="5188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Arithmetic Mean</a:t>
            </a:r>
            <a:endParaRPr lang="en-MY" dirty="0"/>
          </a:p>
        </p:txBody>
      </p:sp>
      <p:sp>
        <p:nvSpPr>
          <p:cNvPr id="9" name="Rectangle 8">
            <a:extLst>
              <a:ext uri="{FF2B5EF4-FFF2-40B4-BE49-F238E27FC236}">
                <a16:creationId xmlns:a16="http://schemas.microsoft.com/office/drawing/2014/main" id="{24928638-6AB0-738C-D927-6DDE3514B572}"/>
              </a:ext>
            </a:extLst>
          </p:cNvPr>
          <p:cNvSpPr/>
          <p:nvPr/>
        </p:nvSpPr>
        <p:spPr>
          <a:xfrm>
            <a:off x="8200109" y="3659449"/>
            <a:ext cx="2231923" cy="5707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Harmonic Mean</a:t>
            </a:r>
            <a:endParaRPr lang="en-MY" dirty="0"/>
          </a:p>
        </p:txBody>
      </p:sp>
      <p:sp>
        <p:nvSpPr>
          <p:cNvPr id="10" name="Rectangle 9">
            <a:extLst>
              <a:ext uri="{FF2B5EF4-FFF2-40B4-BE49-F238E27FC236}">
                <a16:creationId xmlns:a16="http://schemas.microsoft.com/office/drawing/2014/main" id="{8F32CE47-40CA-958F-DA39-30F8B9D72A9A}"/>
              </a:ext>
            </a:extLst>
          </p:cNvPr>
          <p:cNvSpPr/>
          <p:nvPr/>
        </p:nvSpPr>
        <p:spPr>
          <a:xfrm>
            <a:off x="8200108" y="4388524"/>
            <a:ext cx="2231923" cy="5188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Weighted Mean</a:t>
            </a:r>
            <a:endParaRPr lang="en-MY" dirty="0"/>
          </a:p>
        </p:txBody>
      </p:sp>
      <p:cxnSp>
        <p:nvCxnSpPr>
          <p:cNvPr id="12" name="Connector: Elbow 11">
            <a:extLst>
              <a:ext uri="{FF2B5EF4-FFF2-40B4-BE49-F238E27FC236}">
                <a16:creationId xmlns:a16="http://schemas.microsoft.com/office/drawing/2014/main" id="{033130A1-DA15-C3E8-4A00-11724B372370}"/>
              </a:ext>
            </a:extLst>
          </p:cNvPr>
          <p:cNvCxnSpPr>
            <a:stCxn id="4" idx="3"/>
            <a:endCxn id="5" idx="1"/>
          </p:cNvCxnSpPr>
          <p:nvPr/>
        </p:nvCxnSpPr>
        <p:spPr>
          <a:xfrm flipV="1">
            <a:off x="3542073" y="3954634"/>
            <a:ext cx="1155293" cy="102005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Connector: Elbow 12">
            <a:extLst>
              <a:ext uri="{FF2B5EF4-FFF2-40B4-BE49-F238E27FC236}">
                <a16:creationId xmlns:a16="http://schemas.microsoft.com/office/drawing/2014/main" id="{23B1A04E-91E3-8344-5F8E-E33EF2D8BD9E}"/>
              </a:ext>
            </a:extLst>
          </p:cNvPr>
          <p:cNvCxnSpPr>
            <a:cxnSpLocks/>
            <a:stCxn id="4" idx="3"/>
            <a:endCxn id="7" idx="1"/>
          </p:cNvCxnSpPr>
          <p:nvPr/>
        </p:nvCxnSpPr>
        <p:spPr>
          <a:xfrm>
            <a:off x="3542073" y="4974687"/>
            <a:ext cx="1155293" cy="99262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nector: Elbow 15">
            <a:extLst>
              <a:ext uri="{FF2B5EF4-FFF2-40B4-BE49-F238E27FC236}">
                <a16:creationId xmlns:a16="http://schemas.microsoft.com/office/drawing/2014/main" id="{A6110CD0-2AEA-A5E3-5E23-AF37807B5A41}"/>
              </a:ext>
            </a:extLst>
          </p:cNvPr>
          <p:cNvCxnSpPr>
            <a:cxnSpLocks/>
            <a:stCxn id="4" idx="3"/>
            <a:endCxn id="6" idx="1"/>
          </p:cNvCxnSpPr>
          <p:nvPr/>
        </p:nvCxnSpPr>
        <p:spPr>
          <a:xfrm flipV="1">
            <a:off x="3542073" y="4974686"/>
            <a:ext cx="1155293"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onnector: Elbow 18">
            <a:extLst>
              <a:ext uri="{FF2B5EF4-FFF2-40B4-BE49-F238E27FC236}">
                <a16:creationId xmlns:a16="http://schemas.microsoft.com/office/drawing/2014/main" id="{AA068E3A-B0D8-E724-59C2-4587C979DC01}"/>
              </a:ext>
            </a:extLst>
          </p:cNvPr>
          <p:cNvCxnSpPr>
            <a:cxnSpLocks/>
            <a:stCxn id="5" idx="3"/>
            <a:endCxn id="8" idx="1"/>
          </p:cNvCxnSpPr>
          <p:nvPr/>
        </p:nvCxnSpPr>
        <p:spPr>
          <a:xfrm flipV="1">
            <a:off x="6929289" y="3259171"/>
            <a:ext cx="1270819" cy="695463"/>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nector: Elbow 28">
            <a:extLst>
              <a:ext uri="{FF2B5EF4-FFF2-40B4-BE49-F238E27FC236}">
                <a16:creationId xmlns:a16="http://schemas.microsoft.com/office/drawing/2014/main" id="{D4D2737B-1EBD-0B49-2A6F-D5E63218070C}"/>
              </a:ext>
            </a:extLst>
          </p:cNvPr>
          <p:cNvCxnSpPr>
            <a:cxnSpLocks/>
            <a:stCxn id="5" idx="3"/>
            <a:endCxn id="10" idx="1"/>
          </p:cNvCxnSpPr>
          <p:nvPr/>
        </p:nvCxnSpPr>
        <p:spPr>
          <a:xfrm>
            <a:off x="6929289" y="3954634"/>
            <a:ext cx="1270819" cy="69330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Connector: Elbow 35">
            <a:extLst>
              <a:ext uri="{FF2B5EF4-FFF2-40B4-BE49-F238E27FC236}">
                <a16:creationId xmlns:a16="http://schemas.microsoft.com/office/drawing/2014/main" id="{C5D2A021-C4C3-4685-F61D-6157F08D1A7A}"/>
              </a:ext>
            </a:extLst>
          </p:cNvPr>
          <p:cNvCxnSpPr>
            <a:cxnSpLocks/>
            <a:stCxn id="5" idx="3"/>
            <a:endCxn id="9" idx="1"/>
          </p:cNvCxnSpPr>
          <p:nvPr/>
        </p:nvCxnSpPr>
        <p:spPr>
          <a:xfrm flipV="1">
            <a:off x="6929289" y="3944802"/>
            <a:ext cx="1270820" cy="983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Slide Number Placeholder 10">
            <a:extLst>
              <a:ext uri="{FF2B5EF4-FFF2-40B4-BE49-F238E27FC236}">
                <a16:creationId xmlns:a16="http://schemas.microsoft.com/office/drawing/2014/main" id="{44EDB19A-FE40-F36E-C628-78A100B99DB1}"/>
              </a:ext>
            </a:extLst>
          </p:cNvPr>
          <p:cNvSpPr>
            <a:spLocks noGrp="1"/>
          </p:cNvSpPr>
          <p:nvPr>
            <p:ph type="sldNum" sz="quarter" idx="12"/>
          </p:nvPr>
        </p:nvSpPr>
        <p:spPr/>
        <p:txBody>
          <a:bodyPr/>
          <a:lstStyle/>
          <a:p>
            <a:fld id="{499D393E-937C-43AF-8286-1304B3D101C1}" type="slidenum">
              <a:rPr lang="en-MY" smtClean="0"/>
              <a:t>6</a:t>
            </a:fld>
            <a:endParaRPr lang="en-MY"/>
          </a:p>
        </p:txBody>
      </p:sp>
    </p:spTree>
    <p:extLst>
      <p:ext uri="{BB962C8B-B14F-4D97-AF65-F5344CB8AC3E}">
        <p14:creationId xmlns:p14="http://schemas.microsoft.com/office/powerpoint/2010/main" val="2809034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a:extLst>
            <a:ext uri="{FF2B5EF4-FFF2-40B4-BE49-F238E27FC236}">
              <a16:creationId xmlns:a16="http://schemas.microsoft.com/office/drawing/2014/main" id="{AB62AA11-4D68-F041-727E-C33EFBAFB4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8D1197-A29D-DFD6-7ED2-5D2A5490E35E}"/>
              </a:ext>
            </a:extLst>
          </p:cNvPr>
          <p:cNvSpPr>
            <a:spLocks noGrp="1"/>
          </p:cNvSpPr>
          <p:nvPr>
            <p:ph type="title"/>
          </p:nvPr>
        </p:nvSpPr>
        <p:spPr>
          <a:xfrm>
            <a:off x="838200" y="365126"/>
            <a:ext cx="10515600" cy="677094"/>
          </a:xfrm>
        </p:spPr>
        <p:txBody>
          <a:bodyPr>
            <a:normAutofit fontScale="90000"/>
          </a:bodyPr>
          <a:lstStyle/>
          <a:p>
            <a:r>
              <a:rPr lang="en-US" dirty="0"/>
              <a:t>Measures of central tendency</a:t>
            </a:r>
            <a:endParaRPr lang="en-MY" dirty="0"/>
          </a:p>
        </p:txBody>
      </p:sp>
      <p:graphicFrame>
        <p:nvGraphicFramePr>
          <p:cNvPr id="15" name="Table 14">
            <a:extLst>
              <a:ext uri="{FF2B5EF4-FFF2-40B4-BE49-F238E27FC236}">
                <a16:creationId xmlns:a16="http://schemas.microsoft.com/office/drawing/2014/main" id="{0E545DA4-15F1-71CA-B416-528CC625A7D5}"/>
              </a:ext>
            </a:extLst>
          </p:cNvPr>
          <p:cNvGraphicFramePr>
            <a:graphicFrameLocks noGrp="1"/>
          </p:cNvGraphicFramePr>
          <p:nvPr>
            <p:extLst>
              <p:ext uri="{D42A27DB-BD31-4B8C-83A1-F6EECF244321}">
                <p14:modId xmlns:p14="http://schemas.microsoft.com/office/powerpoint/2010/main" val="4134085850"/>
              </p:ext>
            </p:extLst>
          </p:nvPr>
        </p:nvGraphicFramePr>
        <p:xfrm>
          <a:off x="838198" y="1113376"/>
          <a:ext cx="10515600" cy="5344160"/>
        </p:xfrm>
        <a:graphic>
          <a:graphicData uri="http://schemas.openxmlformats.org/drawingml/2006/table">
            <a:tbl>
              <a:tblPr firstRow="1" bandRow="1">
                <a:tableStyleId>{5C22544A-7EE6-4342-B048-85BDC9FD1C3A}</a:tableStyleId>
              </a:tblPr>
              <a:tblGrid>
                <a:gridCol w="1352612">
                  <a:extLst>
                    <a:ext uri="{9D8B030D-6E8A-4147-A177-3AD203B41FA5}">
                      <a16:colId xmlns:a16="http://schemas.microsoft.com/office/drawing/2014/main" val="2791731448"/>
                    </a:ext>
                  </a:extLst>
                </a:gridCol>
                <a:gridCol w="2803975">
                  <a:extLst>
                    <a:ext uri="{9D8B030D-6E8A-4147-A177-3AD203B41FA5}">
                      <a16:colId xmlns:a16="http://schemas.microsoft.com/office/drawing/2014/main" val="1479684919"/>
                    </a:ext>
                  </a:extLst>
                </a:gridCol>
                <a:gridCol w="3126658">
                  <a:extLst>
                    <a:ext uri="{9D8B030D-6E8A-4147-A177-3AD203B41FA5}">
                      <a16:colId xmlns:a16="http://schemas.microsoft.com/office/drawing/2014/main" val="4099226147"/>
                    </a:ext>
                  </a:extLst>
                </a:gridCol>
                <a:gridCol w="3232355">
                  <a:extLst>
                    <a:ext uri="{9D8B030D-6E8A-4147-A177-3AD203B41FA5}">
                      <a16:colId xmlns:a16="http://schemas.microsoft.com/office/drawing/2014/main" val="3288671013"/>
                    </a:ext>
                  </a:extLst>
                </a:gridCol>
              </a:tblGrid>
              <a:tr h="370840">
                <a:tc>
                  <a:txBody>
                    <a:bodyPr/>
                    <a:lstStyle/>
                    <a:p>
                      <a:endParaRPr lang="en-MY" sz="1400" dirty="0"/>
                    </a:p>
                  </a:txBody>
                  <a:tcPr/>
                </a:tc>
                <a:tc>
                  <a:txBody>
                    <a:bodyPr/>
                    <a:lstStyle/>
                    <a:p>
                      <a:r>
                        <a:rPr lang="en-US" sz="1400" dirty="0"/>
                        <a:t>Arithmetic mean</a:t>
                      </a:r>
                      <a:endParaRPr lang="en-MY" sz="1400" dirty="0"/>
                    </a:p>
                  </a:txBody>
                  <a:tcPr/>
                </a:tc>
                <a:tc>
                  <a:txBody>
                    <a:bodyPr/>
                    <a:lstStyle/>
                    <a:p>
                      <a:r>
                        <a:rPr lang="en-US" sz="1400" dirty="0"/>
                        <a:t>Median</a:t>
                      </a:r>
                      <a:endParaRPr lang="en-MY" sz="1400" dirty="0"/>
                    </a:p>
                  </a:txBody>
                  <a:tcPr/>
                </a:tc>
                <a:tc>
                  <a:txBody>
                    <a:bodyPr/>
                    <a:lstStyle/>
                    <a:p>
                      <a:r>
                        <a:rPr lang="en-US" sz="1400" dirty="0"/>
                        <a:t>Mode</a:t>
                      </a:r>
                      <a:endParaRPr lang="en-MY" sz="1400" dirty="0"/>
                    </a:p>
                  </a:txBody>
                  <a:tcPr/>
                </a:tc>
                <a:extLst>
                  <a:ext uri="{0D108BD9-81ED-4DB2-BD59-A6C34878D82A}">
                    <a16:rowId xmlns:a16="http://schemas.microsoft.com/office/drawing/2014/main" val="1312236415"/>
                  </a:ext>
                </a:extLst>
              </a:tr>
              <a:tr h="370840">
                <a:tc>
                  <a:txBody>
                    <a:bodyPr/>
                    <a:lstStyle/>
                    <a:p>
                      <a:r>
                        <a:rPr lang="en-US" sz="1600" b="1" dirty="0"/>
                        <a:t>What</a:t>
                      </a:r>
                      <a:endParaRPr lang="en-MY" sz="1600" b="1" dirty="0"/>
                    </a:p>
                  </a:txBody>
                  <a:tcPr/>
                </a:tc>
                <a:tc>
                  <a:txBody>
                    <a:bodyPr/>
                    <a:lstStyle/>
                    <a:p>
                      <a:r>
                        <a:rPr lang="en-US" sz="1600" dirty="0"/>
                        <a:t>Average</a:t>
                      </a:r>
                      <a:endParaRPr lang="en-MY" sz="1600" dirty="0"/>
                    </a:p>
                  </a:txBody>
                  <a:tcPr/>
                </a:tc>
                <a:tc>
                  <a:txBody>
                    <a:bodyPr/>
                    <a:lstStyle/>
                    <a:p>
                      <a:r>
                        <a:rPr lang="en-US" sz="1600" dirty="0"/>
                        <a:t>Middle value in a sorted list (typical)</a:t>
                      </a:r>
                      <a:endParaRPr lang="en-MY" sz="1600" dirty="0"/>
                    </a:p>
                  </a:txBody>
                  <a:tcPr/>
                </a:tc>
                <a:tc>
                  <a:txBody>
                    <a:bodyPr/>
                    <a:lstStyle/>
                    <a:p>
                      <a:r>
                        <a:rPr lang="en-US" sz="1600" dirty="0"/>
                        <a:t>Most occurred value</a:t>
                      </a:r>
                      <a:endParaRPr lang="en-MY" sz="1600" dirty="0"/>
                    </a:p>
                  </a:txBody>
                  <a:tcPr/>
                </a:tc>
                <a:extLst>
                  <a:ext uri="{0D108BD9-81ED-4DB2-BD59-A6C34878D82A}">
                    <a16:rowId xmlns:a16="http://schemas.microsoft.com/office/drawing/2014/main" val="2957099271"/>
                  </a:ext>
                </a:extLst>
              </a:tr>
              <a:tr h="370840">
                <a:tc>
                  <a:txBody>
                    <a:bodyPr/>
                    <a:lstStyle/>
                    <a:p>
                      <a:r>
                        <a:rPr lang="en-US" sz="1600" b="1" dirty="0"/>
                        <a:t>Why</a:t>
                      </a:r>
                      <a:endParaRPr lang="en-MY" sz="1600" b="1" dirty="0"/>
                    </a:p>
                  </a:txBody>
                  <a:tcPr/>
                </a:tc>
                <a:tc>
                  <a:txBody>
                    <a:bodyPr/>
                    <a:lstStyle/>
                    <a:p>
                      <a:r>
                        <a:rPr lang="en-US" sz="1600" dirty="0"/>
                        <a:t>It denotes the equal distribution of values for a given data set</a:t>
                      </a:r>
                      <a:endParaRPr lang="en-MY"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It's a more robust measure than the mean (average) because it's less sensitive to outliers and skewed distributions</a:t>
                      </a:r>
                      <a:endParaRPr lang="en-MY" sz="1600" dirty="0"/>
                    </a:p>
                  </a:txBody>
                  <a:tcPr/>
                </a:tc>
                <a:tc>
                  <a:txBody>
                    <a:bodyPr/>
                    <a:lstStyle/>
                    <a:p>
                      <a:r>
                        <a:rPr lang="en-US" sz="1600" dirty="0"/>
                        <a:t>Identify the most common or typical value in a set of data</a:t>
                      </a:r>
                      <a:endParaRPr lang="en-MY" sz="1600" dirty="0"/>
                    </a:p>
                  </a:txBody>
                  <a:tcPr/>
                </a:tc>
                <a:extLst>
                  <a:ext uri="{0D108BD9-81ED-4DB2-BD59-A6C34878D82A}">
                    <a16:rowId xmlns:a16="http://schemas.microsoft.com/office/drawing/2014/main" val="2071561635"/>
                  </a:ext>
                </a:extLst>
              </a:tr>
              <a:tr h="370840">
                <a:tc>
                  <a:txBody>
                    <a:bodyPr/>
                    <a:lstStyle/>
                    <a:p>
                      <a:r>
                        <a:rPr lang="en-US" sz="1600" b="1" dirty="0"/>
                        <a:t>When</a:t>
                      </a:r>
                      <a:endParaRPr lang="en-MY" sz="1600" b="1" dirty="0"/>
                    </a:p>
                  </a:txBody>
                  <a:tcPr/>
                </a:tc>
                <a:tc>
                  <a:txBody>
                    <a:bodyPr/>
                    <a:lstStyle/>
                    <a:p>
                      <a:r>
                        <a:rPr lang="en-US" sz="1600" dirty="0"/>
                        <a:t>Used when the </a:t>
                      </a:r>
                      <a:r>
                        <a:rPr lang="en-US" sz="1600" b="1" dirty="0"/>
                        <a:t>data is symmetrical</a:t>
                      </a:r>
                      <a:r>
                        <a:rPr lang="en-US" sz="1600" dirty="0"/>
                        <a:t> and doesn't have extreme outliers. It's a good representation of the typical value in such cases</a:t>
                      </a:r>
                      <a:endParaRPr lang="en-MY" sz="1600" dirty="0"/>
                    </a:p>
                  </a:txBody>
                  <a:tcPr/>
                </a:tc>
                <a:tc>
                  <a:txBody>
                    <a:bodyPr/>
                    <a:lstStyle/>
                    <a:p>
                      <a:r>
                        <a:rPr lang="en-US" sz="1600" dirty="0"/>
                        <a:t>Used when the data is </a:t>
                      </a:r>
                      <a:r>
                        <a:rPr lang="en-US" sz="1600" b="1" dirty="0"/>
                        <a:t>asymmetrical </a:t>
                      </a:r>
                      <a:r>
                        <a:rPr lang="en-US" sz="1600" dirty="0"/>
                        <a:t>and have outliers</a:t>
                      </a:r>
                      <a:endParaRPr lang="en-MY" sz="1600" dirty="0"/>
                    </a:p>
                  </a:txBody>
                  <a:tcPr/>
                </a:tc>
                <a:tc>
                  <a:txBody>
                    <a:bodyPr/>
                    <a:lstStyle/>
                    <a:p>
                      <a:r>
                        <a:rPr lang="en-US" sz="1600" dirty="0"/>
                        <a:t>The mode is particularly useful for categorical data, where you want to know the </a:t>
                      </a:r>
                      <a:r>
                        <a:rPr lang="en-US" sz="1600" b="1" dirty="0"/>
                        <a:t>most common</a:t>
                      </a:r>
                      <a:r>
                        <a:rPr lang="en-US" sz="1600" dirty="0"/>
                        <a:t> category or label</a:t>
                      </a:r>
                      <a:endParaRPr lang="en-MY" sz="1600" dirty="0"/>
                    </a:p>
                  </a:txBody>
                  <a:tcPr/>
                </a:tc>
                <a:extLst>
                  <a:ext uri="{0D108BD9-81ED-4DB2-BD59-A6C34878D82A}">
                    <a16:rowId xmlns:a16="http://schemas.microsoft.com/office/drawing/2014/main" val="3587168189"/>
                  </a:ext>
                </a:extLst>
              </a:tr>
              <a:tr h="370840">
                <a:tc>
                  <a:txBody>
                    <a:bodyPr/>
                    <a:lstStyle/>
                    <a:p>
                      <a:r>
                        <a:rPr lang="en-US" sz="1600" b="1" dirty="0"/>
                        <a:t>In business</a:t>
                      </a:r>
                      <a:endParaRPr lang="en-MY" sz="1600" b="1" dirty="0"/>
                    </a:p>
                  </a:txBody>
                  <a:tcPr/>
                </a:tc>
                <a:tc>
                  <a:txBody>
                    <a:bodyPr/>
                    <a:lstStyle/>
                    <a:p>
                      <a:r>
                        <a:rPr lang="en-US" sz="1600" dirty="0"/>
                        <a:t>“What is the monthly </a:t>
                      </a:r>
                      <a:r>
                        <a:rPr lang="en-US" sz="1600" b="1" dirty="0"/>
                        <a:t>average</a:t>
                      </a:r>
                      <a:r>
                        <a:rPr lang="en-US" sz="1600" dirty="0"/>
                        <a:t> revenue from Region A for 2025?”</a:t>
                      </a:r>
                      <a:endParaRPr lang="en-MY" sz="1600" dirty="0"/>
                    </a:p>
                  </a:txBody>
                  <a:tcPr/>
                </a:tc>
                <a:tc>
                  <a:txBody>
                    <a:bodyPr/>
                    <a:lstStyle/>
                    <a:p>
                      <a:r>
                        <a:rPr lang="en-US" sz="1600" dirty="0"/>
                        <a:t>“What is the </a:t>
                      </a:r>
                      <a:r>
                        <a:rPr lang="en-US" sz="1600" b="1" dirty="0"/>
                        <a:t>typical</a:t>
                      </a:r>
                      <a:r>
                        <a:rPr lang="en-US" sz="1600" dirty="0"/>
                        <a:t> purchase value per customer?”</a:t>
                      </a:r>
                      <a:endParaRPr lang="en-MY" sz="1600" dirty="0"/>
                    </a:p>
                  </a:txBody>
                  <a:tcPr/>
                </a:tc>
                <a:tc>
                  <a:txBody>
                    <a:bodyPr/>
                    <a:lstStyle/>
                    <a:p>
                      <a:r>
                        <a:rPr lang="en-US" sz="1600" dirty="0"/>
                        <a:t>“Which product category that has the </a:t>
                      </a:r>
                      <a:r>
                        <a:rPr lang="en-US" sz="1600" b="1" dirty="0"/>
                        <a:t>most</a:t>
                      </a:r>
                      <a:r>
                        <a:rPr lang="en-US" sz="1600" dirty="0"/>
                        <a:t> order in Q1Y25?”</a:t>
                      </a:r>
                      <a:endParaRPr lang="en-MY" sz="1600" dirty="0"/>
                    </a:p>
                  </a:txBody>
                  <a:tcPr/>
                </a:tc>
                <a:extLst>
                  <a:ext uri="{0D108BD9-81ED-4DB2-BD59-A6C34878D82A}">
                    <a16:rowId xmlns:a16="http://schemas.microsoft.com/office/drawing/2014/main" val="967343638"/>
                  </a:ext>
                </a:extLst>
              </a:tr>
              <a:tr h="370840">
                <a:tc>
                  <a:txBody>
                    <a:bodyPr/>
                    <a:lstStyle/>
                    <a:p>
                      <a:r>
                        <a:rPr lang="en-US" sz="1600" b="1" dirty="0"/>
                        <a:t>How</a:t>
                      </a:r>
                      <a:endParaRPr lang="en-MY" sz="1600" b="1" dirty="0"/>
                    </a:p>
                  </a:txBody>
                  <a:tcPr/>
                </a:tc>
                <a:tc>
                  <a:txBody>
                    <a:bodyPr/>
                    <a:lstStyle/>
                    <a:p>
                      <a:r>
                        <a:rPr lang="en-US" sz="1600" dirty="0"/>
                        <a:t>Sum of all values and divide total number of values</a:t>
                      </a:r>
                      <a:endParaRPr lang="en-MY" sz="1600" dirty="0"/>
                    </a:p>
                  </a:txBody>
                  <a:tcPr/>
                </a:tc>
                <a:tc>
                  <a:txBody>
                    <a:bodyPr/>
                    <a:lstStyle/>
                    <a:p>
                      <a:r>
                        <a:rPr lang="en-US" sz="1600" dirty="0"/>
                        <a:t>Sort the list of values and find the middle value</a:t>
                      </a:r>
                      <a:endParaRPr lang="en-MY" sz="1600" dirty="0"/>
                    </a:p>
                  </a:txBody>
                  <a:tcPr/>
                </a:tc>
                <a:tc>
                  <a:txBody>
                    <a:bodyPr/>
                    <a:lstStyle/>
                    <a:p>
                      <a:r>
                        <a:rPr lang="en-US" sz="1600" dirty="0"/>
                        <a:t>Count occurrence of each value and find the value with highest occurrence</a:t>
                      </a:r>
                      <a:endParaRPr lang="en-MY" sz="1600" dirty="0"/>
                    </a:p>
                  </a:txBody>
                  <a:tcPr/>
                </a:tc>
                <a:extLst>
                  <a:ext uri="{0D108BD9-81ED-4DB2-BD59-A6C34878D82A}">
                    <a16:rowId xmlns:a16="http://schemas.microsoft.com/office/drawing/2014/main" val="2439067942"/>
                  </a:ext>
                </a:extLst>
              </a:tr>
              <a:tr h="370840">
                <a:tc>
                  <a:txBody>
                    <a:bodyPr/>
                    <a:lstStyle/>
                    <a:p>
                      <a:r>
                        <a:rPr lang="en-US" sz="1600" b="1" dirty="0"/>
                        <a:t>DAX*</a:t>
                      </a:r>
                      <a:endParaRPr lang="en-MY" sz="1600" b="1" dirty="0"/>
                    </a:p>
                  </a:txBody>
                  <a:tcPr/>
                </a:tc>
                <a:tc>
                  <a:txBody>
                    <a:bodyPr/>
                    <a:lstStyle/>
                    <a:p>
                      <a:r>
                        <a:rPr lang="en-US" sz="1400" dirty="0">
                          <a:latin typeface="Consolas" panose="020B0609020204030204" pitchFamily="49" charset="0"/>
                        </a:rPr>
                        <a:t>AVERAGE(‘table’[Value])</a:t>
                      </a:r>
                      <a:endParaRPr lang="en-MY" sz="1400" dirty="0">
                        <a:latin typeface="Consolas" panose="020B0609020204030204" pitchFamily="49" charset="0"/>
                      </a:endParaRPr>
                    </a:p>
                  </a:txBody>
                  <a:tcPr/>
                </a:tc>
                <a:tc>
                  <a:txBody>
                    <a:bodyPr/>
                    <a:lstStyle/>
                    <a:p>
                      <a:r>
                        <a:rPr lang="en-US" sz="1600" dirty="0">
                          <a:latin typeface="+mn-lt"/>
                        </a:rPr>
                        <a:t>Refer to DAX Patterns below</a:t>
                      </a:r>
                      <a:endParaRPr lang="en-MY" sz="1600" dirty="0">
                        <a:latin typeface="+mn-lt"/>
                      </a:endParaRPr>
                    </a:p>
                  </a:txBody>
                  <a:tcPr/>
                </a:tc>
                <a:tc>
                  <a:txBody>
                    <a:bodyPr/>
                    <a:lstStyle/>
                    <a:p>
                      <a:r>
                        <a:rPr lang="en-US" sz="1600" dirty="0">
                          <a:latin typeface="+mn-lt"/>
                        </a:rPr>
                        <a:t>Refer to DAX Patterns below</a:t>
                      </a:r>
                      <a:endParaRPr lang="en-MY" sz="1600" dirty="0">
                        <a:latin typeface="+mn-lt"/>
                      </a:endParaRPr>
                    </a:p>
                  </a:txBody>
                  <a:tcPr/>
                </a:tc>
                <a:extLst>
                  <a:ext uri="{0D108BD9-81ED-4DB2-BD59-A6C34878D82A}">
                    <a16:rowId xmlns:a16="http://schemas.microsoft.com/office/drawing/2014/main" val="675820269"/>
                  </a:ext>
                </a:extLst>
              </a:tr>
            </a:tbl>
          </a:graphicData>
        </a:graphic>
      </p:graphicFrame>
      <p:sp>
        <p:nvSpPr>
          <p:cNvPr id="3" name="Slide Number Placeholder 2">
            <a:extLst>
              <a:ext uri="{FF2B5EF4-FFF2-40B4-BE49-F238E27FC236}">
                <a16:creationId xmlns:a16="http://schemas.microsoft.com/office/drawing/2014/main" id="{C0FC80A1-B368-3762-9C31-32223EF03676}"/>
              </a:ext>
            </a:extLst>
          </p:cNvPr>
          <p:cNvSpPr>
            <a:spLocks noGrp="1"/>
          </p:cNvSpPr>
          <p:nvPr>
            <p:ph type="sldNum" sz="quarter" idx="12"/>
          </p:nvPr>
        </p:nvSpPr>
        <p:spPr/>
        <p:txBody>
          <a:bodyPr/>
          <a:lstStyle/>
          <a:p>
            <a:fld id="{499D393E-937C-43AF-8286-1304B3D101C1}" type="slidenum">
              <a:rPr lang="en-MY" smtClean="0"/>
              <a:t>7</a:t>
            </a:fld>
            <a:endParaRPr lang="en-MY"/>
          </a:p>
        </p:txBody>
      </p:sp>
    </p:spTree>
    <p:extLst>
      <p:ext uri="{BB962C8B-B14F-4D97-AF65-F5344CB8AC3E}">
        <p14:creationId xmlns:p14="http://schemas.microsoft.com/office/powerpoint/2010/main" val="1736273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27F7D-B83B-2BF8-92D9-9913C53B9B98}"/>
              </a:ext>
            </a:extLst>
          </p:cNvPr>
          <p:cNvSpPr>
            <a:spLocks noGrp="1"/>
          </p:cNvSpPr>
          <p:nvPr>
            <p:ph type="title"/>
          </p:nvPr>
        </p:nvSpPr>
        <p:spPr/>
        <p:txBody>
          <a:bodyPr/>
          <a:lstStyle/>
          <a:p>
            <a:r>
              <a:rPr lang="en-US" dirty="0"/>
              <a:t>CLU1 – Arithmetic Average</a:t>
            </a:r>
            <a:endParaRPr lang="en-MY" dirty="0"/>
          </a:p>
        </p:txBody>
      </p:sp>
      <p:sp>
        <p:nvSpPr>
          <p:cNvPr id="3" name="Content Placeholder 2">
            <a:extLst>
              <a:ext uri="{FF2B5EF4-FFF2-40B4-BE49-F238E27FC236}">
                <a16:creationId xmlns:a16="http://schemas.microsoft.com/office/drawing/2014/main" id="{D36197D4-AFE6-A01C-A43D-3A6CF9A3F14C}"/>
              </a:ext>
            </a:extLst>
          </p:cNvPr>
          <p:cNvSpPr>
            <a:spLocks noGrp="1"/>
          </p:cNvSpPr>
          <p:nvPr>
            <p:ph idx="1"/>
          </p:nvPr>
        </p:nvSpPr>
        <p:spPr/>
        <p:txBody>
          <a:bodyPr/>
          <a:lstStyle/>
          <a:p>
            <a:pPr marL="0" indent="0">
              <a:buNone/>
            </a:pPr>
            <a:r>
              <a:rPr lang="en-US" dirty="0"/>
              <a:t>Company X sells homewares in Region A. The sales records for each month are as follow:</a:t>
            </a:r>
            <a:br>
              <a:rPr lang="en-US" dirty="0"/>
            </a:br>
            <a:r>
              <a:rPr lang="en-US" dirty="0"/>
              <a:t>Jan-25	: $400</a:t>
            </a:r>
            <a:br>
              <a:rPr lang="en-US" dirty="0"/>
            </a:br>
            <a:r>
              <a:rPr lang="en-US" dirty="0"/>
              <a:t>Feb-25	: $300</a:t>
            </a:r>
            <a:br>
              <a:rPr lang="en-US" dirty="0"/>
            </a:br>
            <a:r>
              <a:rPr lang="en-US" dirty="0"/>
              <a:t>Mar-25	: $320</a:t>
            </a:r>
            <a:br>
              <a:rPr lang="en-US" dirty="0"/>
            </a:br>
            <a:r>
              <a:rPr lang="en-US" dirty="0"/>
              <a:t>Apr-25	: $430</a:t>
            </a:r>
            <a:br>
              <a:rPr lang="en-MY" dirty="0"/>
            </a:br>
            <a:r>
              <a:rPr lang="en-MY" dirty="0"/>
              <a:t>May-25	: $440</a:t>
            </a:r>
          </a:p>
          <a:p>
            <a:endParaRPr lang="en-US" dirty="0"/>
          </a:p>
          <a:p>
            <a:pPr marL="0" indent="0">
              <a:buNone/>
            </a:pPr>
            <a:r>
              <a:rPr lang="en-US" dirty="0"/>
              <a:t>Calculate the average sales in Region A for YTD 2025.</a:t>
            </a:r>
          </a:p>
        </p:txBody>
      </p:sp>
      <p:sp>
        <p:nvSpPr>
          <p:cNvPr id="4" name="Slide Number Placeholder 3">
            <a:extLst>
              <a:ext uri="{FF2B5EF4-FFF2-40B4-BE49-F238E27FC236}">
                <a16:creationId xmlns:a16="http://schemas.microsoft.com/office/drawing/2014/main" id="{3E4F1A5D-DA57-C341-8EC4-C54A11360094}"/>
              </a:ext>
            </a:extLst>
          </p:cNvPr>
          <p:cNvSpPr>
            <a:spLocks noGrp="1"/>
          </p:cNvSpPr>
          <p:nvPr>
            <p:ph type="sldNum" sz="quarter" idx="12"/>
          </p:nvPr>
        </p:nvSpPr>
        <p:spPr/>
        <p:txBody>
          <a:bodyPr/>
          <a:lstStyle/>
          <a:p>
            <a:fld id="{499D393E-937C-43AF-8286-1304B3D101C1}" type="slidenum">
              <a:rPr lang="en-MY" smtClean="0"/>
              <a:t>8</a:t>
            </a:fld>
            <a:endParaRPr lang="en-MY"/>
          </a:p>
        </p:txBody>
      </p:sp>
    </p:spTree>
    <p:extLst>
      <p:ext uri="{BB962C8B-B14F-4D97-AF65-F5344CB8AC3E}">
        <p14:creationId xmlns:p14="http://schemas.microsoft.com/office/powerpoint/2010/main" val="882455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2C408C0D-1315-54D4-EE1E-196D5B20AE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93AFD1-6757-3AC3-C63D-17F7B4BF0A60}"/>
              </a:ext>
            </a:extLst>
          </p:cNvPr>
          <p:cNvSpPr>
            <a:spLocks noGrp="1"/>
          </p:cNvSpPr>
          <p:nvPr>
            <p:ph type="title"/>
          </p:nvPr>
        </p:nvSpPr>
        <p:spPr/>
        <p:txBody>
          <a:bodyPr/>
          <a:lstStyle/>
          <a:p>
            <a:r>
              <a:rPr lang="en-US" dirty="0"/>
              <a:t>CLU2 – Median</a:t>
            </a:r>
            <a:endParaRPr lang="en-MY" dirty="0"/>
          </a:p>
        </p:txBody>
      </p:sp>
      <p:sp>
        <p:nvSpPr>
          <p:cNvPr id="3" name="Content Placeholder 2">
            <a:extLst>
              <a:ext uri="{FF2B5EF4-FFF2-40B4-BE49-F238E27FC236}">
                <a16:creationId xmlns:a16="http://schemas.microsoft.com/office/drawing/2014/main" id="{92C5AB42-7255-F477-6D66-58B4A54AE97D}"/>
              </a:ext>
            </a:extLst>
          </p:cNvPr>
          <p:cNvSpPr>
            <a:spLocks noGrp="1"/>
          </p:cNvSpPr>
          <p:nvPr>
            <p:ph idx="1"/>
          </p:nvPr>
        </p:nvSpPr>
        <p:spPr/>
        <p:txBody>
          <a:bodyPr>
            <a:normAutofit lnSpcReduction="10000"/>
          </a:bodyPr>
          <a:lstStyle/>
          <a:p>
            <a:pPr marL="0" indent="0">
              <a:buNone/>
            </a:pPr>
            <a:r>
              <a:rPr lang="en-US" dirty="0"/>
              <a:t>In a typical week of sales for Company B, the sales records are recorded as follow:</a:t>
            </a:r>
            <a:br>
              <a:rPr lang="en-US" dirty="0"/>
            </a:br>
            <a:r>
              <a:rPr lang="en-US" dirty="0"/>
              <a:t>Week 1	: $850</a:t>
            </a:r>
            <a:br>
              <a:rPr lang="en-US" dirty="0"/>
            </a:br>
            <a:r>
              <a:rPr lang="en-US" dirty="0"/>
              <a:t>Week 2	: $320</a:t>
            </a:r>
            <a:br>
              <a:rPr lang="en-US" dirty="0"/>
            </a:br>
            <a:r>
              <a:rPr lang="en-US" dirty="0"/>
              <a:t>Week 3	: $370</a:t>
            </a:r>
            <a:br>
              <a:rPr lang="en-US" dirty="0"/>
            </a:br>
            <a:r>
              <a:rPr lang="en-US" dirty="0"/>
              <a:t>Week 4	: $130</a:t>
            </a:r>
            <a:br>
              <a:rPr lang="en-MY" dirty="0"/>
            </a:br>
            <a:endParaRPr lang="en-US" dirty="0"/>
          </a:p>
          <a:p>
            <a:pPr marL="571500" indent="-571500">
              <a:buFont typeface="+mj-lt"/>
              <a:buAutoNum type="romanLcPeriod"/>
            </a:pPr>
            <a:r>
              <a:rPr lang="en-US" dirty="0"/>
              <a:t>What is a </a:t>
            </a:r>
            <a:r>
              <a:rPr lang="en-US" b="1" dirty="0"/>
              <a:t>typical</a:t>
            </a:r>
            <a:r>
              <a:rPr lang="en-US" dirty="0"/>
              <a:t> sales per week for Company B?</a:t>
            </a:r>
          </a:p>
          <a:p>
            <a:pPr marL="571500" indent="-571500">
              <a:buFont typeface="+mj-lt"/>
              <a:buAutoNum type="romanLcPeriod"/>
            </a:pPr>
            <a:r>
              <a:rPr lang="en-US" dirty="0"/>
              <a:t>What is the average weekly sales for Company B?</a:t>
            </a:r>
          </a:p>
          <a:p>
            <a:pPr marL="571500" indent="-571500">
              <a:buFont typeface="+mj-lt"/>
              <a:buAutoNum type="romanLcPeriod"/>
            </a:pPr>
            <a:r>
              <a:rPr lang="en-US" dirty="0"/>
              <a:t>Which would make more sense for business analysis – median or average? Explain.</a:t>
            </a:r>
          </a:p>
          <a:p>
            <a:pPr marL="0" indent="0">
              <a:buNone/>
            </a:pPr>
            <a:endParaRPr lang="en-US" dirty="0"/>
          </a:p>
        </p:txBody>
      </p:sp>
      <p:sp>
        <p:nvSpPr>
          <p:cNvPr id="4" name="Slide Number Placeholder 3">
            <a:extLst>
              <a:ext uri="{FF2B5EF4-FFF2-40B4-BE49-F238E27FC236}">
                <a16:creationId xmlns:a16="http://schemas.microsoft.com/office/drawing/2014/main" id="{F7906B97-625A-EAEA-C588-AA26B9B6FADC}"/>
              </a:ext>
            </a:extLst>
          </p:cNvPr>
          <p:cNvSpPr>
            <a:spLocks noGrp="1"/>
          </p:cNvSpPr>
          <p:nvPr>
            <p:ph type="sldNum" sz="quarter" idx="12"/>
          </p:nvPr>
        </p:nvSpPr>
        <p:spPr/>
        <p:txBody>
          <a:bodyPr/>
          <a:lstStyle/>
          <a:p>
            <a:fld id="{499D393E-937C-43AF-8286-1304B3D101C1}" type="slidenum">
              <a:rPr lang="en-MY" smtClean="0"/>
              <a:t>9</a:t>
            </a:fld>
            <a:endParaRPr lang="en-MY"/>
          </a:p>
        </p:txBody>
      </p:sp>
    </p:spTree>
    <p:extLst>
      <p:ext uri="{BB962C8B-B14F-4D97-AF65-F5344CB8AC3E}">
        <p14:creationId xmlns:p14="http://schemas.microsoft.com/office/powerpoint/2010/main" val="3479877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6E944-2102-52A6-1A94-EDA46BC96FCE}"/>
              </a:ext>
            </a:extLst>
          </p:cNvPr>
          <p:cNvSpPr>
            <a:spLocks noGrp="1"/>
          </p:cNvSpPr>
          <p:nvPr>
            <p:ph type="title"/>
          </p:nvPr>
        </p:nvSpPr>
        <p:spPr/>
        <p:txBody>
          <a:bodyPr/>
          <a:lstStyle/>
          <a:p>
            <a:r>
              <a:rPr lang="en-US" dirty="0"/>
              <a:t>CLU3 - Mode</a:t>
            </a:r>
            <a:endParaRPr lang="en-MY" dirty="0"/>
          </a:p>
        </p:txBody>
      </p:sp>
      <p:sp>
        <p:nvSpPr>
          <p:cNvPr id="3" name="Content Placeholder 2">
            <a:extLst>
              <a:ext uri="{FF2B5EF4-FFF2-40B4-BE49-F238E27FC236}">
                <a16:creationId xmlns:a16="http://schemas.microsoft.com/office/drawing/2014/main" id="{80A0FF1E-9EE2-D25E-CAD7-4E226EBBFE19}"/>
              </a:ext>
            </a:extLst>
          </p:cNvPr>
          <p:cNvSpPr>
            <a:spLocks noGrp="1"/>
          </p:cNvSpPr>
          <p:nvPr>
            <p:ph idx="1"/>
          </p:nvPr>
        </p:nvSpPr>
        <p:spPr/>
        <p:txBody>
          <a:bodyPr>
            <a:normAutofit lnSpcReduction="10000"/>
          </a:bodyPr>
          <a:lstStyle/>
          <a:p>
            <a:pPr marL="0" indent="0">
              <a:buNone/>
            </a:pPr>
            <a:r>
              <a:rPr lang="en-US" dirty="0"/>
              <a:t>During the durian season, a durian seller could sell an average of 200pcs per week. Below is the quantity sold in a typical week:</a:t>
            </a:r>
          </a:p>
          <a:p>
            <a:pPr marL="0" indent="0">
              <a:buNone/>
            </a:pPr>
            <a:r>
              <a:rPr lang="en-US" dirty="0"/>
              <a:t>Mon		: 50pcs</a:t>
            </a:r>
          </a:p>
          <a:p>
            <a:pPr marL="0" indent="0">
              <a:buNone/>
            </a:pPr>
            <a:r>
              <a:rPr lang="en-US" dirty="0"/>
              <a:t>Tue		: 30pcs</a:t>
            </a:r>
          </a:p>
          <a:p>
            <a:pPr marL="0" indent="0">
              <a:buNone/>
            </a:pPr>
            <a:r>
              <a:rPr lang="en-US" dirty="0"/>
              <a:t>Wed		: 60pcs</a:t>
            </a:r>
          </a:p>
          <a:p>
            <a:pPr marL="0" indent="0">
              <a:buNone/>
            </a:pPr>
            <a:r>
              <a:rPr lang="en-US" dirty="0"/>
              <a:t>Thu		: 50pcs</a:t>
            </a:r>
          </a:p>
          <a:p>
            <a:pPr marL="0" indent="0">
              <a:buNone/>
            </a:pPr>
            <a:r>
              <a:rPr lang="en-US" dirty="0"/>
              <a:t>Fri		: 20pcs</a:t>
            </a:r>
          </a:p>
          <a:p>
            <a:pPr marL="0" indent="0">
              <a:buNone/>
            </a:pPr>
            <a:endParaRPr lang="en-MY" dirty="0"/>
          </a:p>
          <a:p>
            <a:pPr marL="0" indent="0">
              <a:buNone/>
            </a:pPr>
            <a:r>
              <a:rPr lang="en-US" dirty="0"/>
              <a:t>What is the most repeated order quantity?</a:t>
            </a:r>
          </a:p>
        </p:txBody>
      </p:sp>
      <p:sp>
        <p:nvSpPr>
          <p:cNvPr id="4" name="Slide Number Placeholder 3">
            <a:extLst>
              <a:ext uri="{FF2B5EF4-FFF2-40B4-BE49-F238E27FC236}">
                <a16:creationId xmlns:a16="http://schemas.microsoft.com/office/drawing/2014/main" id="{BE7D181B-4899-F025-5A83-85BD5578B1B6}"/>
              </a:ext>
            </a:extLst>
          </p:cNvPr>
          <p:cNvSpPr>
            <a:spLocks noGrp="1"/>
          </p:cNvSpPr>
          <p:nvPr>
            <p:ph type="sldNum" sz="quarter" idx="12"/>
          </p:nvPr>
        </p:nvSpPr>
        <p:spPr/>
        <p:txBody>
          <a:bodyPr/>
          <a:lstStyle/>
          <a:p>
            <a:fld id="{499D393E-937C-43AF-8286-1304B3D101C1}" type="slidenum">
              <a:rPr lang="en-MY" smtClean="0"/>
              <a:t>10</a:t>
            </a:fld>
            <a:endParaRPr lang="en-MY"/>
          </a:p>
        </p:txBody>
      </p:sp>
    </p:spTree>
    <p:extLst>
      <p:ext uri="{BB962C8B-B14F-4D97-AF65-F5344CB8AC3E}">
        <p14:creationId xmlns:p14="http://schemas.microsoft.com/office/powerpoint/2010/main" val="1832183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a:extLst>
            <a:ext uri="{FF2B5EF4-FFF2-40B4-BE49-F238E27FC236}">
              <a16:creationId xmlns:a16="http://schemas.microsoft.com/office/drawing/2014/main" id="{285B5A68-3666-E71E-C076-08A0021236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89BFBA-B45A-D24A-E6DD-EB607B8DE51A}"/>
              </a:ext>
            </a:extLst>
          </p:cNvPr>
          <p:cNvSpPr>
            <a:spLocks noGrp="1"/>
          </p:cNvSpPr>
          <p:nvPr>
            <p:ph type="title"/>
          </p:nvPr>
        </p:nvSpPr>
        <p:spPr/>
        <p:txBody>
          <a:bodyPr/>
          <a:lstStyle/>
          <a:p>
            <a:r>
              <a:rPr lang="en-US" dirty="0"/>
              <a:t>About harmonic mean &amp; weighted mean</a:t>
            </a:r>
            <a:endParaRPr lang="en-MY" dirty="0"/>
          </a:p>
        </p:txBody>
      </p:sp>
      <p:graphicFrame>
        <p:nvGraphicFramePr>
          <p:cNvPr id="15" name="Table 14">
            <a:extLst>
              <a:ext uri="{FF2B5EF4-FFF2-40B4-BE49-F238E27FC236}">
                <a16:creationId xmlns:a16="http://schemas.microsoft.com/office/drawing/2014/main" id="{D271BC90-B3A9-7AAE-2C42-851C913F0DD0}"/>
              </a:ext>
            </a:extLst>
          </p:cNvPr>
          <p:cNvGraphicFramePr>
            <a:graphicFrameLocks noGrp="1"/>
          </p:cNvGraphicFramePr>
          <p:nvPr>
            <p:extLst>
              <p:ext uri="{D42A27DB-BD31-4B8C-83A1-F6EECF244321}">
                <p14:modId xmlns:p14="http://schemas.microsoft.com/office/powerpoint/2010/main" val="3322081560"/>
              </p:ext>
            </p:extLst>
          </p:nvPr>
        </p:nvGraphicFramePr>
        <p:xfrm>
          <a:off x="838200" y="1484216"/>
          <a:ext cx="10515599" cy="4790440"/>
        </p:xfrm>
        <a:graphic>
          <a:graphicData uri="http://schemas.openxmlformats.org/drawingml/2006/table">
            <a:tbl>
              <a:tblPr firstRow="1" bandRow="1">
                <a:tableStyleId>{5C22544A-7EE6-4342-B048-85BDC9FD1C3A}</a:tableStyleId>
              </a:tblPr>
              <a:tblGrid>
                <a:gridCol w="1256071">
                  <a:extLst>
                    <a:ext uri="{9D8B030D-6E8A-4147-A177-3AD203B41FA5}">
                      <a16:colId xmlns:a16="http://schemas.microsoft.com/office/drawing/2014/main" val="2791731448"/>
                    </a:ext>
                  </a:extLst>
                </a:gridCol>
                <a:gridCol w="4208206">
                  <a:extLst>
                    <a:ext uri="{9D8B030D-6E8A-4147-A177-3AD203B41FA5}">
                      <a16:colId xmlns:a16="http://schemas.microsoft.com/office/drawing/2014/main" val="1479684919"/>
                    </a:ext>
                  </a:extLst>
                </a:gridCol>
                <a:gridCol w="5051322">
                  <a:extLst>
                    <a:ext uri="{9D8B030D-6E8A-4147-A177-3AD203B41FA5}">
                      <a16:colId xmlns:a16="http://schemas.microsoft.com/office/drawing/2014/main" val="4099226147"/>
                    </a:ext>
                  </a:extLst>
                </a:gridCol>
              </a:tblGrid>
              <a:tr h="370840">
                <a:tc>
                  <a:txBody>
                    <a:bodyPr/>
                    <a:lstStyle/>
                    <a:p>
                      <a:endParaRPr lang="en-MY" sz="1400" dirty="0"/>
                    </a:p>
                  </a:txBody>
                  <a:tcPr/>
                </a:tc>
                <a:tc>
                  <a:txBody>
                    <a:bodyPr/>
                    <a:lstStyle/>
                    <a:p>
                      <a:r>
                        <a:rPr lang="en-US" sz="1400" dirty="0"/>
                        <a:t>Harmonic mean</a:t>
                      </a:r>
                      <a:endParaRPr lang="en-MY" sz="1400" dirty="0"/>
                    </a:p>
                  </a:txBody>
                  <a:tcPr/>
                </a:tc>
                <a:tc>
                  <a:txBody>
                    <a:bodyPr/>
                    <a:lstStyle/>
                    <a:p>
                      <a:r>
                        <a:rPr lang="en-US" sz="1400" dirty="0"/>
                        <a:t>Weighted mean</a:t>
                      </a:r>
                      <a:endParaRPr lang="en-MY" sz="1400" dirty="0"/>
                    </a:p>
                  </a:txBody>
                  <a:tcPr/>
                </a:tc>
                <a:extLst>
                  <a:ext uri="{0D108BD9-81ED-4DB2-BD59-A6C34878D82A}">
                    <a16:rowId xmlns:a16="http://schemas.microsoft.com/office/drawing/2014/main" val="1312236415"/>
                  </a:ext>
                </a:extLst>
              </a:tr>
              <a:tr h="370840">
                <a:tc>
                  <a:txBody>
                    <a:bodyPr/>
                    <a:lstStyle/>
                    <a:p>
                      <a:r>
                        <a:rPr lang="en-US" sz="1400" b="1" dirty="0"/>
                        <a:t>What</a:t>
                      </a:r>
                      <a:endParaRPr lang="en-MY" sz="1400" b="1" dirty="0"/>
                    </a:p>
                  </a:txBody>
                  <a:tcPr/>
                </a:tc>
                <a:tc>
                  <a:txBody>
                    <a:bodyPr/>
                    <a:lstStyle/>
                    <a:p>
                      <a:r>
                        <a:rPr lang="en-US" sz="1400" dirty="0"/>
                        <a:t>The harmonic mean is the reciprocal of the arithmetic mean of the reciprocals of a set of numbers. It’s a type of average that gives more weight to smaller numbers.</a:t>
                      </a:r>
                      <a:endParaRPr lang="en-MY" sz="1400" dirty="0"/>
                    </a:p>
                  </a:txBody>
                  <a:tcPr/>
                </a:tc>
                <a:tc>
                  <a:txBody>
                    <a:bodyPr/>
                    <a:lstStyle/>
                    <a:p>
                      <a:r>
                        <a:rPr lang="en-US" sz="1400" dirty="0"/>
                        <a:t>The weighted mean multiplies each value by a weight, then divides the total of these products by the total of the weights. It prioritizes some values more than others.</a:t>
                      </a:r>
                      <a:endParaRPr lang="en-MY" sz="1400" dirty="0"/>
                    </a:p>
                  </a:txBody>
                  <a:tcPr/>
                </a:tc>
                <a:extLst>
                  <a:ext uri="{0D108BD9-81ED-4DB2-BD59-A6C34878D82A}">
                    <a16:rowId xmlns:a16="http://schemas.microsoft.com/office/drawing/2014/main" val="2957099271"/>
                  </a:ext>
                </a:extLst>
              </a:tr>
              <a:tr h="370840">
                <a:tc>
                  <a:txBody>
                    <a:bodyPr/>
                    <a:lstStyle/>
                    <a:p>
                      <a:r>
                        <a:rPr lang="en-US" sz="1400" b="1" dirty="0"/>
                        <a:t>Why</a:t>
                      </a:r>
                      <a:endParaRPr lang="en-MY" sz="1400" b="1" dirty="0"/>
                    </a:p>
                  </a:txBody>
                  <a:tcPr/>
                </a:tc>
                <a:tc>
                  <a:txBody>
                    <a:bodyPr/>
                    <a:lstStyle/>
                    <a:p>
                      <a:r>
                        <a:rPr lang="en-US" sz="1400" dirty="0"/>
                        <a:t>Use it when </a:t>
                      </a:r>
                      <a:r>
                        <a:rPr lang="en-US" sz="1400" b="1" dirty="0"/>
                        <a:t>averaging rates or ratios</a:t>
                      </a:r>
                      <a:r>
                        <a:rPr lang="en-US" sz="1400" dirty="0"/>
                        <a:t> where the denominator matters more, like speed, efficiency, or price per unit. It reduces the impact of large outliers</a:t>
                      </a:r>
                      <a:endParaRPr lang="en-MY"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Use it when </a:t>
                      </a:r>
                      <a:r>
                        <a:rPr lang="en-US" sz="1400" b="1" dirty="0"/>
                        <a:t>some values contribute more</a:t>
                      </a:r>
                      <a:r>
                        <a:rPr lang="en-US" sz="1400" dirty="0"/>
                        <a:t> to the result than others—common in performance ratings, polling, and combined indexes</a:t>
                      </a:r>
                      <a:endParaRPr lang="en-MY" sz="1400" dirty="0"/>
                    </a:p>
                  </a:txBody>
                  <a:tcPr/>
                </a:tc>
                <a:extLst>
                  <a:ext uri="{0D108BD9-81ED-4DB2-BD59-A6C34878D82A}">
                    <a16:rowId xmlns:a16="http://schemas.microsoft.com/office/drawing/2014/main" val="2071561635"/>
                  </a:ext>
                </a:extLst>
              </a:tr>
              <a:tr h="370840">
                <a:tc>
                  <a:txBody>
                    <a:bodyPr/>
                    <a:lstStyle/>
                    <a:p>
                      <a:r>
                        <a:rPr lang="en-US" sz="1400" b="1" dirty="0"/>
                        <a:t>When</a:t>
                      </a:r>
                      <a:endParaRPr lang="en-MY" sz="1400" b="1" dirty="0"/>
                    </a:p>
                  </a:txBody>
                  <a:tcPr/>
                </a:tc>
                <a:tc>
                  <a:txBody>
                    <a:bodyPr/>
                    <a:lstStyle/>
                    <a:p>
                      <a:r>
                        <a:rPr lang="en-US" sz="1400" dirty="0"/>
                        <a:t>Used when data presented are in reciprocals (e.g.: speed, PE ratio)</a:t>
                      </a:r>
                      <a:endParaRPr lang="en-MY" sz="1400" dirty="0"/>
                    </a:p>
                  </a:txBody>
                  <a:tcPr/>
                </a:tc>
                <a:tc>
                  <a:txBody>
                    <a:bodyPr/>
                    <a:lstStyle/>
                    <a:p>
                      <a:r>
                        <a:rPr lang="en-US" sz="1400" dirty="0"/>
                        <a:t>Used when certain values within a dataset are considered more important or influential than others</a:t>
                      </a:r>
                      <a:endParaRPr lang="en-MY" sz="1400" dirty="0"/>
                    </a:p>
                  </a:txBody>
                  <a:tcPr/>
                </a:tc>
                <a:extLst>
                  <a:ext uri="{0D108BD9-81ED-4DB2-BD59-A6C34878D82A}">
                    <a16:rowId xmlns:a16="http://schemas.microsoft.com/office/drawing/2014/main" val="3587168189"/>
                  </a:ext>
                </a:extLst>
              </a:tr>
              <a:tr h="370840">
                <a:tc>
                  <a:txBody>
                    <a:bodyPr/>
                    <a:lstStyle/>
                    <a:p>
                      <a:r>
                        <a:rPr lang="en-US" sz="1400" b="1" dirty="0"/>
                        <a:t>In business</a:t>
                      </a:r>
                      <a:endParaRPr lang="en-MY" sz="1400" b="1" dirty="0"/>
                    </a:p>
                  </a:txBody>
                  <a:tcPr/>
                </a:tc>
                <a:tc>
                  <a:txBody>
                    <a:bodyPr/>
                    <a:lstStyle/>
                    <a:p>
                      <a:r>
                        <a:rPr lang="en-US" sz="1400" dirty="0"/>
                        <a:t>“What is the average PE ratio in the past 5 years for Company A?”</a:t>
                      </a:r>
                      <a:endParaRPr lang="en-MY" sz="1400" dirty="0"/>
                    </a:p>
                  </a:txBody>
                  <a:tcPr/>
                </a:tc>
                <a:tc>
                  <a:txBody>
                    <a:bodyPr/>
                    <a:lstStyle/>
                    <a:p>
                      <a:r>
                        <a:rPr lang="en-US" sz="1400" dirty="0"/>
                        <a:t>“What is the average cost of goods sold to be recognized in the financial statements?”</a:t>
                      </a:r>
                      <a:endParaRPr lang="en-MY" sz="1400" dirty="0"/>
                    </a:p>
                  </a:txBody>
                  <a:tcPr/>
                </a:tc>
                <a:extLst>
                  <a:ext uri="{0D108BD9-81ED-4DB2-BD59-A6C34878D82A}">
                    <a16:rowId xmlns:a16="http://schemas.microsoft.com/office/drawing/2014/main" val="967343638"/>
                  </a:ext>
                </a:extLst>
              </a:tr>
              <a:tr h="370840">
                <a:tc>
                  <a:txBody>
                    <a:bodyPr/>
                    <a:lstStyle/>
                    <a:p>
                      <a:r>
                        <a:rPr lang="en-US" sz="1400" b="1" dirty="0"/>
                        <a:t>How</a:t>
                      </a:r>
                      <a:endParaRPr lang="en-MY" sz="1400" b="1" dirty="0"/>
                    </a:p>
                  </a:txBody>
                  <a:tcPr/>
                </a:tc>
                <a:tc>
                  <a:txBody>
                    <a:bodyPr/>
                    <a:lstStyle/>
                    <a:p>
                      <a:r>
                        <a:rPr lang="en-US" sz="1400" dirty="0"/>
                        <a:t>Take the reciprocal of each value and compute the average</a:t>
                      </a:r>
                      <a:endParaRPr lang="en-MY" sz="1400" dirty="0"/>
                    </a:p>
                  </a:txBody>
                  <a:tcPr/>
                </a:tc>
                <a:tc>
                  <a:txBody>
                    <a:bodyPr/>
                    <a:lstStyle/>
                    <a:p>
                      <a:r>
                        <a:rPr lang="en-US" sz="1400" dirty="0"/>
                        <a:t>Multiply each value by its corresponding weight, sum the products, then divide by the sum of weights</a:t>
                      </a:r>
                      <a:endParaRPr lang="en-MY" sz="1400" dirty="0"/>
                    </a:p>
                  </a:txBody>
                  <a:tcPr/>
                </a:tc>
                <a:extLst>
                  <a:ext uri="{0D108BD9-81ED-4DB2-BD59-A6C34878D82A}">
                    <a16:rowId xmlns:a16="http://schemas.microsoft.com/office/drawing/2014/main" val="2439067942"/>
                  </a:ext>
                </a:extLst>
              </a:tr>
              <a:tr h="370840">
                <a:tc>
                  <a:txBody>
                    <a:bodyPr/>
                    <a:lstStyle/>
                    <a:p>
                      <a:r>
                        <a:rPr lang="en-US" sz="1400" b="1" dirty="0"/>
                        <a:t>DAX*</a:t>
                      </a:r>
                      <a:endParaRPr lang="en-MY" sz="1400" b="1" dirty="0"/>
                    </a:p>
                  </a:txBody>
                  <a:tcPr/>
                </a:tc>
                <a:tc>
                  <a:txBody>
                    <a:bodyPr/>
                    <a:lstStyle/>
                    <a:p>
                      <a:r>
                        <a:rPr lang="en-US" sz="1200" b="0" i="0" kern="1200" dirty="0" err="1">
                          <a:solidFill>
                            <a:schemeClr val="dk1"/>
                          </a:solidFill>
                          <a:effectLst/>
                          <a:latin typeface="Consolas" panose="020B0609020204030204" pitchFamily="49" charset="0"/>
                          <a:ea typeface="+mn-ea"/>
                          <a:cs typeface="+mn-cs"/>
                        </a:rPr>
                        <a:t>Harmean</a:t>
                      </a:r>
                      <a:r>
                        <a:rPr lang="en-US" sz="1200" b="0" i="0" kern="1200" dirty="0">
                          <a:solidFill>
                            <a:schemeClr val="dk1"/>
                          </a:solidFill>
                          <a:effectLst/>
                          <a:latin typeface="Consolas" panose="020B0609020204030204" pitchFamily="49" charset="0"/>
                          <a:ea typeface="+mn-ea"/>
                          <a:cs typeface="+mn-cs"/>
                        </a:rPr>
                        <a:t> =</a:t>
                      </a:r>
                    </a:p>
                    <a:p>
                      <a:r>
                        <a:rPr lang="en-US" sz="1200" b="0" i="0" kern="1200" dirty="0">
                          <a:solidFill>
                            <a:schemeClr val="dk1"/>
                          </a:solidFill>
                          <a:effectLst/>
                          <a:latin typeface="Consolas" panose="020B0609020204030204" pitchFamily="49" charset="0"/>
                          <a:ea typeface="+mn-ea"/>
                          <a:cs typeface="+mn-cs"/>
                        </a:rPr>
                        <a:t>VAR n = </a:t>
                      </a:r>
                      <a:r>
                        <a:rPr lang="en-US" sz="1200" b="0" i="0" kern="1200" dirty="0" err="1">
                          <a:solidFill>
                            <a:schemeClr val="dk1"/>
                          </a:solidFill>
                          <a:effectLst/>
                          <a:latin typeface="Consolas" panose="020B0609020204030204" pitchFamily="49" charset="0"/>
                          <a:ea typeface="+mn-ea"/>
                          <a:cs typeface="+mn-cs"/>
                        </a:rPr>
                        <a:t>CountRows</a:t>
                      </a:r>
                      <a:r>
                        <a:rPr lang="en-US" sz="1200" b="0" i="0" kern="1200" dirty="0">
                          <a:solidFill>
                            <a:schemeClr val="dk1"/>
                          </a:solidFill>
                          <a:effectLst/>
                          <a:latin typeface="Consolas" panose="020B0609020204030204" pitchFamily="49" charset="0"/>
                          <a:ea typeface="+mn-ea"/>
                          <a:cs typeface="+mn-cs"/>
                        </a:rPr>
                        <a:t>('table’)</a:t>
                      </a:r>
                    </a:p>
                    <a:p>
                      <a:r>
                        <a:rPr lang="en-US" sz="1200" b="0" i="0" kern="1200" dirty="0">
                          <a:solidFill>
                            <a:schemeClr val="dk1"/>
                          </a:solidFill>
                          <a:effectLst/>
                          <a:latin typeface="Consolas" panose="020B0609020204030204" pitchFamily="49" charset="0"/>
                          <a:ea typeface="+mn-ea"/>
                          <a:cs typeface="+mn-cs"/>
                        </a:rPr>
                        <a:t>VAR d = SUMX('table', 1/[Uses])</a:t>
                      </a:r>
                    </a:p>
                    <a:p>
                      <a:r>
                        <a:rPr lang="en-US" sz="1200" b="0" i="0" kern="1200" dirty="0">
                          <a:solidFill>
                            <a:schemeClr val="dk1"/>
                          </a:solidFill>
                          <a:effectLst/>
                          <a:latin typeface="Consolas" panose="020B0609020204030204" pitchFamily="49" charset="0"/>
                          <a:ea typeface="+mn-ea"/>
                          <a:cs typeface="+mn-cs"/>
                        </a:rPr>
                        <a:t>RETURN</a:t>
                      </a:r>
                    </a:p>
                    <a:p>
                      <a:r>
                        <a:rPr lang="en-US" sz="1200" b="0" i="0" kern="1200" dirty="0">
                          <a:solidFill>
                            <a:schemeClr val="dk1"/>
                          </a:solidFill>
                          <a:effectLst/>
                          <a:latin typeface="Consolas" panose="020B0609020204030204" pitchFamily="49" charset="0"/>
                          <a:ea typeface="+mn-ea"/>
                          <a:cs typeface="+mn-cs"/>
                        </a:rPr>
                        <a:t>DIVIDE(n, d)</a:t>
                      </a:r>
                    </a:p>
                  </a:txBody>
                  <a:tcPr/>
                </a:tc>
                <a:tc>
                  <a:txBody>
                    <a:bodyPr/>
                    <a:lstStyle/>
                    <a:p>
                      <a:r>
                        <a:rPr lang="en-US" sz="1200" dirty="0">
                          <a:latin typeface="Consolas" panose="020B0609020204030204" pitchFamily="49" charset="0"/>
                        </a:rPr>
                        <a:t>Weighted Mean =</a:t>
                      </a:r>
                    </a:p>
                    <a:p>
                      <a:r>
                        <a:rPr lang="en-US" sz="1200" dirty="0">
                          <a:latin typeface="Consolas" panose="020B0609020204030204" pitchFamily="49" charset="0"/>
                        </a:rPr>
                        <a:t>VAR </a:t>
                      </a:r>
                      <a:r>
                        <a:rPr lang="en-US" sz="1200" dirty="0" err="1">
                          <a:latin typeface="Consolas" panose="020B0609020204030204" pitchFamily="49" charset="0"/>
                        </a:rPr>
                        <a:t>WeightedValues</a:t>
                      </a:r>
                      <a:r>
                        <a:rPr lang="en-US" sz="1200" dirty="0">
                          <a:latin typeface="Consolas" panose="020B0609020204030204" pitchFamily="49" charset="0"/>
                        </a:rPr>
                        <a:t> = SUMX(‘table', ‘table'[Value] * ‘table'[</a:t>
                      </a:r>
                      <a:r>
                        <a:rPr lang="en-US" sz="1200" dirty="0" err="1">
                          <a:latin typeface="Consolas" panose="020B0609020204030204" pitchFamily="49" charset="0"/>
                        </a:rPr>
                        <a:t>WeightValue</a:t>
                      </a:r>
                      <a:r>
                        <a:rPr lang="en-US" sz="1200" dirty="0">
                          <a:latin typeface="Consolas" panose="020B0609020204030204" pitchFamily="49" charset="0"/>
                        </a:rPr>
                        <a:t>])</a:t>
                      </a:r>
                    </a:p>
                    <a:p>
                      <a:r>
                        <a:rPr lang="en-MY" sz="1200" dirty="0">
                          <a:latin typeface="Consolas" panose="020B0609020204030204" pitchFamily="49" charset="0"/>
                        </a:rPr>
                        <a:t>VAR </a:t>
                      </a:r>
                      <a:r>
                        <a:rPr lang="en-US" sz="1200" dirty="0" err="1">
                          <a:latin typeface="Consolas" panose="020B0609020204030204" pitchFamily="49" charset="0"/>
                        </a:rPr>
                        <a:t>TotalWeights</a:t>
                      </a:r>
                      <a:r>
                        <a:rPr lang="en-US" sz="1200" dirty="0">
                          <a:latin typeface="Consolas" panose="020B0609020204030204" pitchFamily="49" charset="0"/>
                        </a:rPr>
                        <a:t> = SUM(‘table'[</a:t>
                      </a:r>
                      <a:r>
                        <a:rPr lang="en-US" sz="1200" dirty="0" err="1">
                          <a:latin typeface="Consolas" panose="020B0609020204030204" pitchFamily="49" charset="0"/>
                        </a:rPr>
                        <a:t>WeightValue</a:t>
                      </a:r>
                      <a:r>
                        <a:rPr lang="en-US" sz="1200" dirty="0">
                          <a:latin typeface="Consolas" panose="020B0609020204030204" pitchFamily="49" charset="0"/>
                        </a:rPr>
                        <a:t>] )</a:t>
                      </a:r>
                    </a:p>
                    <a:p>
                      <a:r>
                        <a:rPr lang="en-US" sz="1200" dirty="0">
                          <a:latin typeface="Consolas" panose="020B0609020204030204" pitchFamily="49" charset="0"/>
                        </a:rPr>
                        <a:t>RETURN</a:t>
                      </a:r>
                    </a:p>
                    <a:p>
                      <a:r>
                        <a:rPr lang="en-US" sz="1200" dirty="0">
                          <a:latin typeface="Consolas" panose="020B0609020204030204" pitchFamily="49" charset="0"/>
                        </a:rPr>
                        <a:t>DIVIDE(</a:t>
                      </a:r>
                      <a:r>
                        <a:rPr lang="en-US" sz="1200" dirty="0" err="1">
                          <a:latin typeface="Consolas" panose="020B0609020204030204" pitchFamily="49" charset="0"/>
                        </a:rPr>
                        <a:t>WeightedValues</a:t>
                      </a:r>
                      <a:r>
                        <a:rPr lang="en-US" sz="1200" dirty="0">
                          <a:latin typeface="Consolas" panose="020B0609020204030204" pitchFamily="49" charset="0"/>
                        </a:rPr>
                        <a:t>, </a:t>
                      </a:r>
                      <a:r>
                        <a:rPr lang="en-US" sz="1200" dirty="0" err="1">
                          <a:latin typeface="Consolas" panose="020B0609020204030204" pitchFamily="49" charset="0"/>
                        </a:rPr>
                        <a:t>TotalWeights</a:t>
                      </a:r>
                      <a:r>
                        <a:rPr lang="en-US" sz="1200" dirty="0">
                          <a:latin typeface="Consolas" panose="020B0609020204030204" pitchFamily="49" charset="0"/>
                        </a:rPr>
                        <a:t>)</a:t>
                      </a:r>
                      <a:endParaRPr lang="en-MY" sz="1200" dirty="0">
                        <a:latin typeface="Consolas" panose="020B0609020204030204" pitchFamily="49" charset="0"/>
                      </a:endParaRPr>
                    </a:p>
                  </a:txBody>
                  <a:tcPr/>
                </a:tc>
                <a:extLst>
                  <a:ext uri="{0D108BD9-81ED-4DB2-BD59-A6C34878D82A}">
                    <a16:rowId xmlns:a16="http://schemas.microsoft.com/office/drawing/2014/main" val="675820269"/>
                  </a:ext>
                </a:extLst>
              </a:tr>
            </a:tbl>
          </a:graphicData>
        </a:graphic>
      </p:graphicFrame>
      <p:sp>
        <p:nvSpPr>
          <p:cNvPr id="3" name="TextBox 2">
            <a:extLst>
              <a:ext uri="{FF2B5EF4-FFF2-40B4-BE49-F238E27FC236}">
                <a16:creationId xmlns:a16="http://schemas.microsoft.com/office/drawing/2014/main" id="{6DD0DAF0-8F1E-F01F-0B41-01FAC1D94879}"/>
              </a:ext>
            </a:extLst>
          </p:cNvPr>
          <p:cNvSpPr txBox="1"/>
          <p:nvPr/>
        </p:nvSpPr>
        <p:spPr>
          <a:xfrm>
            <a:off x="838199" y="6274656"/>
            <a:ext cx="10515599" cy="276999"/>
          </a:xfrm>
          <a:prstGeom prst="rect">
            <a:avLst/>
          </a:prstGeom>
          <a:noFill/>
        </p:spPr>
        <p:txBody>
          <a:bodyPr wrap="square" rtlCol="0">
            <a:spAutoFit/>
          </a:bodyPr>
          <a:lstStyle/>
          <a:p>
            <a:r>
              <a:rPr lang="en-US" sz="1200" i="1" dirty="0"/>
              <a:t>*The use of variables (VAR) in DAX will be covered in-depth in GRC102 Conquering DAX</a:t>
            </a:r>
            <a:endParaRPr lang="en-MY" sz="1200" i="1" dirty="0"/>
          </a:p>
        </p:txBody>
      </p:sp>
      <p:sp>
        <p:nvSpPr>
          <p:cNvPr id="4" name="Slide Number Placeholder 3">
            <a:extLst>
              <a:ext uri="{FF2B5EF4-FFF2-40B4-BE49-F238E27FC236}">
                <a16:creationId xmlns:a16="http://schemas.microsoft.com/office/drawing/2014/main" id="{8555A237-573E-545A-1942-F303E258A712}"/>
              </a:ext>
            </a:extLst>
          </p:cNvPr>
          <p:cNvSpPr>
            <a:spLocks noGrp="1"/>
          </p:cNvSpPr>
          <p:nvPr>
            <p:ph type="sldNum" sz="quarter" idx="12"/>
          </p:nvPr>
        </p:nvSpPr>
        <p:spPr/>
        <p:txBody>
          <a:bodyPr/>
          <a:lstStyle/>
          <a:p>
            <a:fld id="{499D393E-937C-43AF-8286-1304B3D101C1}" type="slidenum">
              <a:rPr lang="en-MY" smtClean="0"/>
              <a:t>11</a:t>
            </a:fld>
            <a:endParaRPr lang="en-MY"/>
          </a:p>
        </p:txBody>
      </p:sp>
    </p:spTree>
    <p:extLst>
      <p:ext uri="{BB962C8B-B14F-4D97-AF65-F5344CB8AC3E}">
        <p14:creationId xmlns:p14="http://schemas.microsoft.com/office/powerpoint/2010/main" val="2348759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F5602-D7E7-15BC-88E1-C4136A5CC92F}"/>
              </a:ext>
            </a:extLst>
          </p:cNvPr>
          <p:cNvSpPr>
            <a:spLocks noGrp="1"/>
          </p:cNvSpPr>
          <p:nvPr>
            <p:ph type="title"/>
          </p:nvPr>
        </p:nvSpPr>
        <p:spPr/>
        <p:txBody>
          <a:bodyPr/>
          <a:lstStyle/>
          <a:p>
            <a:r>
              <a:rPr lang="en-US" dirty="0"/>
              <a:t>CLU4 – Harmonic mean</a:t>
            </a:r>
            <a:endParaRPr lang="en-MY" dirty="0"/>
          </a:p>
        </p:txBody>
      </p:sp>
      <p:sp>
        <p:nvSpPr>
          <p:cNvPr id="3" name="Content Placeholder 2">
            <a:extLst>
              <a:ext uri="{FF2B5EF4-FFF2-40B4-BE49-F238E27FC236}">
                <a16:creationId xmlns:a16="http://schemas.microsoft.com/office/drawing/2014/main" id="{75081D9E-54AC-D918-0BD8-3E87195B3E74}"/>
              </a:ext>
            </a:extLst>
          </p:cNvPr>
          <p:cNvSpPr>
            <a:spLocks noGrp="1"/>
          </p:cNvSpPr>
          <p:nvPr>
            <p:ph idx="1"/>
          </p:nvPr>
        </p:nvSpPr>
        <p:spPr/>
        <p:txBody>
          <a:bodyPr>
            <a:normAutofit lnSpcReduction="10000"/>
          </a:bodyPr>
          <a:lstStyle/>
          <a:p>
            <a:pPr marL="0" indent="0">
              <a:buNone/>
            </a:pPr>
            <a:r>
              <a:rPr lang="en-US" dirty="0"/>
              <a:t>Company C is a public listed company. In the past 5 years, below are the Price/Earnings (PE) ratio:</a:t>
            </a:r>
          </a:p>
          <a:p>
            <a:pPr marL="0" indent="0">
              <a:buNone/>
            </a:pPr>
            <a:r>
              <a:rPr lang="en-MY" dirty="0"/>
              <a:t>Year 1	: 5.38</a:t>
            </a:r>
          </a:p>
          <a:p>
            <a:pPr marL="0" indent="0">
              <a:buNone/>
            </a:pPr>
            <a:r>
              <a:rPr lang="en-MY" dirty="0"/>
              <a:t>Year 2	: 9.63</a:t>
            </a:r>
          </a:p>
          <a:p>
            <a:pPr marL="0" indent="0">
              <a:buNone/>
            </a:pPr>
            <a:r>
              <a:rPr lang="en-MY" dirty="0"/>
              <a:t>Year 3	: 13.5</a:t>
            </a:r>
          </a:p>
          <a:p>
            <a:pPr marL="0" indent="0">
              <a:buNone/>
            </a:pPr>
            <a:r>
              <a:rPr lang="en-MY" dirty="0"/>
              <a:t>Year 4	: 10.5</a:t>
            </a:r>
          </a:p>
          <a:p>
            <a:pPr marL="0" indent="0">
              <a:buNone/>
            </a:pPr>
            <a:r>
              <a:rPr lang="en-MY" dirty="0"/>
              <a:t>Year 5	: 17.4</a:t>
            </a:r>
          </a:p>
          <a:p>
            <a:pPr marL="0" indent="0">
              <a:buNone/>
            </a:pPr>
            <a:endParaRPr lang="en-MY" dirty="0"/>
          </a:p>
          <a:p>
            <a:pPr marL="0" indent="0">
              <a:buNone/>
            </a:pPr>
            <a:r>
              <a:rPr lang="en-MY" dirty="0"/>
              <a:t>What is the average PE ratio in for this 5-year period?</a:t>
            </a:r>
            <a:endParaRPr lang="en-US" dirty="0"/>
          </a:p>
        </p:txBody>
      </p:sp>
      <p:sp>
        <p:nvSpPr>
          <p:cNvPr id="4" name="Slide Number Placeholder 3">
            <a:extLst>
              <a:ext uri="{FF2B5EF4-FFF2-40B4-BE49-F238E27FC236}">
                <a16:creationId xmlns:a16="http://schemas.microsoft.com/office/drawing/2014/main" id="{9C6678E0-26E8-F0A2-C8B3-24D63FC36ECE}"/>
              </a:ext>
            </a:extLst>
          </p:cNvPr>
          <p:cNvSpPr>
            <a:spLocks noGrp="1"/>
          </p:cNvSpPr>
          <p:nvPr>
            <p:ph type="sldNum" sz="quarter" idx="12"/>
          </p:nvPr>
        </p:nvSpPr>
        <p:spPr/>
        <p:txBody>
          <a:bodyPr/>
          <a:lstStyle/>
          <a:p>
            <a:fld id="{499D393E-937C-43AF-8286-1304B3D101C1}" type="slidenum">
              <a:rPr lang="en-MY" smtClean="0"/>
              <a:t>12</a:t>
            </a:fld>
            <a:endParaRPr lang="en-MY"/>
          </a:p>
        </p:txBody>
      </p:sp>
    </p:spTree>
    <p:extLst>
      <p:ext uri="{BB962C8B-B14F-4D97-AF65-F5344CB8AC3E}">
        <p14:creationId xmlns:p14="http://schemas.microsoft.com/office/powerpoint/2010/main" val="1777851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049ECF96-FCB7-7C07-89C3-9BEE74C61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2610E2-4514-F87F-FF35-BB2E93F2CEEB}"/>
              </a:ext>
            </a:extLst>
          </p:cNvPr>
          <p:cNvSpPr>
            <a:spLocks noGrp="1"/>
          </p:cNvSpPr>
          <p:nvPr>
            <p:ph type="title"/>
          </p:nvPr>
        </p:nvSpPr>
        <p:spPr/>
        <p:txBody>
          <a:bodyPr/>
          <a:lstStyle/>
          <a:p>
            <a:r>
              <a:rPr lang="en-US" dirty="0"/>
              <a:t>CLU5 – Weighted mean</a:t>
            </a:r>
            <a:endParaRPr lang="en-MY" dirty="0"/>
          </a:p>
        </p:txBody>
      </p:sp>
      <p:sp>
        <p:nvSpPr>
          <p:cNvPr id="3" name="Content Placeholder 2">
            <a:extLst>
              <a:ext uri="{FF2B5EF4-FFF2-40B4-BE49-F238E27FC236}">
                <a16:creationId xmlns:a16="http://schemas.microsoft.com/office/drawing/2014/main" id="{199C1EC2-A644-1609-5A5A-5725B83CFC64}"/>
              </a:ext>
            </a:extLst>
          </p:cNvPr>
          <p:cNvSpPr>
            <a:spLocks noGrp="1"/>
          </p:cNvSpPr>
          <p:nvPr>
            <p:ph idx="1"/>
          </p:nvPr>
        </p:nvSpPr>
        <p:spPr/>
        <p:txBody>
          <a:bodyPr>
            <a:normAutofit fontScale="62500" lnSpcReduction="20000"/>
          </a:bodyPr>
          <a:lstStyle/>
          <a:p>
            <a:pPr marL="0" indent="0">
              <a:lnSpc>
                <a:spcPct val="170000"/>
              </a:lnSpc>
              <a:buNone/>
            </a:pPr>
            <a:r>
              <a:rPr lang="en-US" dirty="0"/>
              <a:t>Mr. Alif recently started becoming a Grab driver. There are 500 passengers who gave him reviews, from 1 star to 5 stars. </a:t>
            </a:r>
            <a:r>
              <a:rPr lang="en-US" dirty="0" err="1"/>
              <a:t>Mr</a:t>
            </a:r>
            <a:r>
              <a:rPr lang="en-US" dirty="0"/>
              <a:t> Alif decides to get your help to understand his average rating. He claims that to recover a 0.1 drop of rating, he’d need to get 100 passengers rating him 5 stars.</a:t>
            </a:r>
          </a:p>
          <a:p>
            <a:pPr marL="0" indent="0">
              <a:lnSpc>
                <a:spcPct val="170000"/>
              </a:lnSpc>
              <a:buNone/>
            </a:pPr>
            <a:endParaRPr lang="en-MY" dirty="0"/>
          </a:p>
          <a:p>
            <a:pPr marL="0" indent="0">
              <a:lnSpc>
                <a:spcPct val="170000"/>
              </a:lnSpc>
              <a:buNone/>
            </a:pPr>
            <a:endParaRPr lang="en-MY" dirty="0"/>
          </a:p>
          <a:p>
            <a:pPr marL="0" indent="0">
              <a:lnSpc>
                <a:spcPct val="170000"/>
              </a:lnSpc>
              <a:buNone/>
            </a:pPr>
            <a:endParaRPr lang="en-MY" dirty="0"/>
          </a:p>
          <a:p>
            <a:pPr marL="0" indent="0">
              <a:lnSpc>
                <a:spcPct val="170000"/>
              </a:lnSpc>
              <a:buNone/>
            </a:pPr>
            <a:endParaRPr lang="en-MY" dirty="0"/>
          </a:p>
          <a:p>
            <a:pPr marL="0" indent="0">
              <a:lnSpc>
                <a:spcPct val="170000"/>
              </a:lnSpc>
              <a:buNone/>
            </a:pPr>
            <a:r>
              <a:rPr lang="en-MY" dirty="0"/>
              <a:t>What is the average rating for Mr. Alif?</a:t>
            </a:r>
            <a:endParaRPr lang="en-US"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84D91620-2AEF-E037-EB05-D56CFA6B113B}"/>
                  </a:ext>
                </a:extLst>
              </p:cNvPr>
              <p:cNvGraphicFramePr>
                <a:graphicFrameLocks noGrp="1"/>
              </p:cNvGraphicFramePr>
              <p:nvPr>
                <p:extLst>
                  <p:ext uri="{D42A27DB-BD31-4B8C-83A1-F6EECF244321}">
                    <p14:modId xmlns:p14="http://schemas.microsoft.com/office/powerpoint/2010/main" val="1119527447"/>
                  </p:ext>
                </p:extLst>
              </p:nvPr>
            </p:nvGraphicFramePr>
            <p:xfrm>
              <a:off x="838200" y="3113712"/>
              <a:ext cx="10515600" cy="2692728"/>
            </p:xfrm>
            <a:graphic>
              <a:graphicData uri="http://schemas.openxmlformats.org/drawingml/2006/table">
                <a:tbl>
                  <a:tblPr firstRow="1" bandRow="1">
                    <a:tableStyleId>{5C22544A-7EE6-4342-B048-85BDC9FD1C3A}</a:tableStyleId>
                  </a:tblPr>
                  <a:tblGrid>
                    <a:gridCol w="2103121">
                      <a:extLst>
                        <a:ext uri="{9D8B030D-6E8A-4147-A177-3AD203B41FA5}">
                          <a16:colId xmlns:a16="http://schemas.microsoft.com/office/drawing/2014/main" val="1285046222"/>
                        </a:ext>
                      </a:extLst>
                    </a:gridCol>
                    <a:gridCol w="2441955">
                      <a:extLst>
                        <a:ext uri="{9D8B030D-6E8A-4147-A177-3AD203B41FA5}">
                          <a16:colId xmlns:a16="http://schemas.microsoft.com/office/drawing/2014/main" val="399677557"/>
                        </a:ext>
                      </a:extLst>
                    </a:gridCol>
                    <a:gridCol w="2126488">
                      <a:extLst>
                        <a:ext uri="{9D8B030D-6E8A-4147-A177-3AD203B41FA5}">
                          <a16:colId xmlns:a16="http://schemas.microsoft.com/office/drawing/2014/main" val="1079911950"/>
                        </a:ext>
                      </a:extLst>
                    </a:gridCol>
                    <a:gridCol w="1609052">
                      <a:extLst>
                        <a:ext uri="{9D8B030D-6E8A-4147-A177-3AD203B41FA5}">
                          <a16:colId xmlns:a16="http://schemas.microsoft.com/office/drawing/2014/main" val="1045375795"/>
                        </a:ext>
                      </a:extLst>
                    </a:gridCol>
                    <a:gridCol w="2234984">
                      <a:extLst>
                        <a:ext uri="{9D8B030D-6E8A-4147-A177-3AD203B41FA5}">
                          <a16:colId xmlns:a16="http://schemas.microsoft.com/office/drawing/2014/main" val="3844172413"/>
                        </a:ext>
                      </a:extLst>
                    </a:gridCol>
                  </a:tblGrid>
                  <a:tr h="421968">
                    <a:tc>
                      <a:txBody>
                        <a:bodyPr/>
                        <a:lstStyle/>
                        <a:p>
                          <a:pPr algn="ctr"/>
                          <a:r>
                            <a:rPr lang="en-US" sz="1600" dirty="0"/>
                            <a:t>No of Stars (x)</a:t>
                          </a:r>
                          <a:endParaRPr lang="en-MY" sz="1600" dirty="0"/>
                        </a:p>
                      </a:txBody>
                      <a:tcPr/>
                    </a:tc>
                    <a:tc>
                      <a:txBody>
                        <a:bodyPr/>
                        <a:lstStyle/>
                        <a:p>
                          <a:pPr algn="ctr"/>
                          <a:r>
                            <a:rPr lang="en-US" sz="1600" dirty="0"/>
                            <a:t>No of Reviews (n)</a:t>
                          </a:r>
                          <a:endParaRPr lang="en-MY" sz="1600" dirty="0"/>
                        </a:p>
                      </a:txBody>
                      <a:tcPr/>
                    </a:tc>
                    <a:tc>
                      <a:txBody>
                        <a:bodyPr/>
                        <a:lstStyle/>
                        <a:p>
                          <a:pPr algn="ctr"/>
                          <a:r>
                            <a:rPr lang="en-US" sz="1600" dirty="0"/>
                            <a:t>Weightage (w)</a:t>
                          </a:r>
                          <a:endParaRPr lang="en-MY" sz="1600" dirty="0"/>
                        </a:p>
                      </a:txBody>
                      <a:tcPr/>
                    </a:tc>
                    <a:tc>
                      <a:txBody>
                        <a:bodyPr/>
                        <a:lstStyle/>
                        <a:p>
                          <a:pPr algn="ctr"/>
                          <a14:m>
                            <m:oMathPara xmlns:m="http://schemas.openxmlformats.org/officeDocument/2006/math">
                              <m:oMathParaPr>
                                <m:jc m:val="centerGroup"/>
                              </m:oMathParaPr>
                              <m:oMath xmlns:m="http://schemas.openxmlformats.org/officeDocument/2006/math">
                                <m:r>
                                  <a:rPr lang="en-MY" sz="1600" i="1" smtClean="0">
                                    <a:latin typeface="Cambria Math" panose="02040503050406030204" pitchFamily="18" charset="0"/>
                                  </a:rPr>
                                  <m:t>𝛴</m:t>
                                </m:r>
                                <m:r>
                                  <a:rPr lang="en-US" sz="1600" b="1" i="1" smtClean="0">
                                    <a:latin typeface="Cambria Math" panose="02040503050406030204" pitchFamily="18" charset="0"/>
                                  </a:rPr>
                                  <m:t>𝒘</m:t>
                                </m:r>
                                <m:r>
                                  <a:rPr lang="en-US" sz="1600" b="1" i="1" baseline="-25000" smtClean="0">
                                    <a:latin typeface="Cambria Math" panose="02040503050406030204" pitchFamily="18" charset="0"/>
                                  </a:rPr>
                                  <m:t>𝒏</m:t>
                                </m:r>
                                <m:r>
                                  <a:rPr lang="en-US" sz="1600" b="1" i="1" smtClean="0">
                                    <a:latin typeface="Cambria Math" panose="02040503050406030204" pitchFamily="18" charset="0"/>
                                  </a:rPr>
                                  <m:t>𝒙</m:t>
                                </m:r>
                                <m:r>
                                  <a:rPr lang="en-US" sz="1600" b="1" i="1" baseline="-25000" smtClean="0">
                                    <a:latin typeface="Cambria Math" panose="02040503050406030204" pitchFamily="18" charset="0"/>
                                  </a:rPr>
                                  <m:t>𝒏</m:t>
                                </m:r>
                              </m:oMath>
                            </m:oMathPara>
                          </a14:m>
                          <a:endParaRPr lang="en-MY" sz="1600" baseline="-25000" dirty="0"/>
                        </a:p>
                      </a:txBody>
                      <a:tcPr/>
                    </a:tc>
                    <a:tc>
                      <a:txBody>
                        <a:bodyPr/>
                        <a:lstStyle/>
                        <a:p>
                          <a:pPr algn="ctr"/>
                          <a14:m>
                            <m:oMathPara xmlns:m="http://schemas.openxmlformats.org/officeDocument/2006/math">
                              <m:oMathParaPr>
                                <m:jc m:val="centerGroup"/>
                              </m:oMathParaPr>
                              <m:oMath xmlns:m="http://schemas.openxmlformats.org/officeDocument/2006/math">
                                <m:r>
                                  <a:rPr lang="en-MY" sz="1600" i="1" smtClean="0">
                                    <a:latin typeface="Cambria Math" panose="02040503050406030204" pitchFamily="18" charset="0"/>
                                  </a:rPr>
                                  <m:t>𝛴</m:t>
                                </m:r>
                                <m:r>
                                  <a:rPr lang="en-US" sz="1600" b="1" i="1" smtClean="0">
                                    <a:latin typeface="Cambria Math" panose="02040503050406030204" pitchFamily="18" charset="0"/>
                                  </a:rPr>
                                  <m:t>𝒘</m:t>
                                </m:r>
                                <m:r>
                                  <a:rPr lang="en-US" sz="1600" b="1" i="1" baseline="-25000" smtClean="0">
                                    <a:latin typeface="Cambria Math" panose="02040503050406030204" pitchFamily="18" charset="0"/>
                                  </a:rPr>
                                  <m:t>𝒏</m:t>
                                </m:r>
                              </m:oMath>
                            </m:oMathPara>
                          </a14:m>
                          <a:endParaRPr lang="en-MY" sz="1600" baseline="-25000" dirty="0"/>
                        </a:p>
                      </a:txBody>
                      <a:tcPr/>
                    </a:tc>
                    <a:extLst>
                      <a:ext uri="{0D108BD9-81ED-4DB2-BD59-A6C34878D82A}">
                        <a16:rowId xmlns:a16="http://schemas.microsoft.com/office/drawing/2014/main" val="751150913"/>
                      </a:ext>
                    </a:extLst>
                  </a:tr>
                  <a:tr h="370840">
                    <a:tc>
                      <a:txBody>
                        <a:bodyPr/>
                        <a:lstStyle/>
                        <a:p>
                          <a:r>
                            <a:rPr lang="en-US" sz="1600" dirty="0"/>
                            <a:t>1</a:t>
                          </a:r>
                          <a:endParaRPr lang="en-MY" sz="1600" dirty="0"/>
                        </a:p>
                      </a:txBody>
                      <a:tcPr/>
                    </a:tc>
                    <a:tc>
                      <a:txBody>
                        <a:bodyPr/>
                        <a:lstStyle/>
                        <a:p>
                          <a:r>
                            <a:rPr lang="en-US" sz="1600" dirty="0"/>
                            <a:t>30</a:t>
                          </a:r>
                          <a:endParaRPr lang="en-MY" sz="1600" dirty="0"/>
                        </a:p>
                      </a:txBody>
                      <a:tcPr/>
                    </a:tc>
                    <a:tc>
                      <a:txBody>
                        <a:bodyPr/>
                        <a:lstStyle/>
                        <a:p>
                          <a:r>
                            <a:rPr lang="en-US" sz="1600" dirty="0"/>
                            <a:t>5</a:t>
                          </a:r>
                          <a:endParaRPr lang="en-MY" sz="1600" dirty="0"/>
                        </a:p>
                      </a:txBody>
                      <a:tcPr/>
                    </a:tc>
                    <a:tc>
                      <a:txBody>
                        <a:bodyPr/>
                        <a:lstStyle/>
                        <a:p>
                          <a:r>
                            <a:rPr lang="en-US" sz="1600" dirty="0"/>
                            <a:t>1 * (30*5) = 150</a:t>
                          </a:r>
                          <a:endParaRPr lang="en-MY" sz="1600" dirty="0"/>
                        </a:p>
                      </a:txBody>
                      <a:tcPr/>
                    </a:tc>
                    <a:tc>
                      <a:txBody>
                        <a:bodyPr/>
                        <a:lstStyle/>
                        <a:p>
                          <a:r>
                            <a:rPr lang="en-US" sz="1600" dirty="0"/>
                            <a:t>30 * 5 = 150</a:t>
                          </a:r>
                          <a:endParaRPr lang="en-MY" sz="1600" dirty="0"/>
                        </a:p>
                      </a:txBody>
                      <a:tcPr/>
                    </a:tc>
                    <a:extLst>
                      <a:ext uri="{0D108BD9-81ED-4DB2-BD59-A6C34878D82A}">
                        <a16:rowId xmlns:a16="http://schemas.microsoft.com/office/drawing/2014/main" val="3915979824"/>
                      </a:ext>
                    </a:extLst>
                  </a:tr>
                  <a:tr h="370840">
                    <a:tc>
                      <a:txBody>
                        <a:bodyPr/>
                        <a:lstStyle/>
                        <a:p>
                          <a:r>
                            <a:rPr lang="en-US" sz="1600" dirty="0"/>
                            <a:t>2</a:t>
                          </a:r>
                          <a:endParaRPr lang="en-MY" sz="1600" dirty="0"/>
                        </a:p>
                      </a:txBody>
                      <a:tcPr/>
                    </a:tc>
                    <a:tc>
                      <a:txBody>
                        <a:bodyPr/>
                        <a:lstStyle/>
                        <a:p>
                          <a:r>
                            <a:rPr lang="en-US" sz="1600" dirty="0"/>
                            <a:t>20</a:t>
                          </a:r>
                          <a:endParaRPr lang="en-MY" sz="1600" dirty="0"/>
                        </a:p>
                      </a:txBody>
                      <a:tcPr/>
                    </a:tc>
                    <a:tc>
                      <a:txBody>
                        <a:bodyPr/>
                        <a:lstStyle/>
                        <a:p>
                          <a:r>
                            <a:rPr lang="en-US" sz="1600" dirty="0"/>
                            <a:t>4</a:t>
                          </a:r>
                          <a:endParaRPr lang="en-MY" sz="1600" dirty="0"/>
                        </a:p>
                      </a:txBody>
                      <a:tcPr/>
                    </a:tc>
                    <a:tc>
                      <a:txBody>
                        <a:bodyPr/>
                        <a:lstStyle/>
                        <a:p>
                          <a:r>
                            <a:rPr lang="en-US" sz="1600" dirty="0"/>
                            <a:t>2 * (20*4) = 160</a:t>
                          </a:r>
                          <a:endParaRPr lang="en-MY" sz="1600" dirty="0"/>
                        </a:p>
                      </a:txBody>
                      <a:tcPr/>
                    </a:tc>
                    <a:tc>
                      <a:txBody>
                        <a:bodyPr/>
                        <a:lstStyle/>
                        <a:p>
                          <a:r>
                            <a:rPr lang="en-US" sz="1600" dirty="0"/>
                            <a:t>20 * 4 = 80</a:t>
                          </a:r>
                          <a:endParaRPr lang="en-MY" sz="1600" dirty="0"/>
                        </a:p>
                      </a:txBody>
                      <a:tcPr/>
                    </a:tc>
                    <a:extLst>
                      <a:ext uri="{0D108BD9-81ED-4DB2-BD59-A6C34878D82A}">
                        <a16:rowId xmlns:a16="http://schemas.microsoft.com/office/drawing/2014/main" val="2742459137"/>
                      </a:ext>
                    </a:extLst>
                  </a:tr>
                  <a:tr h="370840">
                    <a:tc>
                      <a:txBody>
                        <a:bodyPr/>
                        <a:lstStyle/>
                        <a:p>
                          <a:r>
                            <a:rPr lang="en-US" sz="1600" dirty="0"/>
                            <a:t>3</a:t>
                          </a:r>
                          <a:endParaRPr lang="en-MY" sz="1600" dirty="0"/>
                        </a:p>
                      </a:txBody>
                      <a:tcPr/>
                    </a:tc>
                    <a:tc>
                      <a:txBody>
                        <a:bodyPr/>
                        <a:lstStyle/>
                        <a:p>
                          <a:r>
                            <a:rPr lang="en-US" sz="1600" dirty="0"/>
                            <a:t>20</a:t>
                          </a:r>
                          <a:endParaRPr lang="en-MY" sz="1600" dirty="0"/>
                        </a:p>
                      </a:txBody>
                      <a:tcPr/>
                    </a:tc>
                    <a:tc>
                      <a:txBody>
                        <a:bodyPr/>
                        <a:lstStyle/>
                        <a:p>
                          <a:r>
                            <a:rPr lang="en-US" sz="1600" dirty="0"/>
                            <a:t>3</a:t>
                          </a:r>
                          <a:endParaRPr lang="en-MY" sz="1600" dirty="0"/>
                        </a:p>
                      </a:txBody>
                      <a:tcPr/>
                    </a:tc>
                    <a:tc>
                      <a:txBody>
                        <a:bodyPr/>
                        <a:lstStyle/>
                        <a:p>
                          <a:r>
                            <a:rPr lang="en-US" sz="1600" dirty="0"/>
                            <a:t>3 * (20 * 3) = 180</a:t>
                          </a:r>
                          <a:endParaRPr lang="en-MY" sz="1600" dirty="0"/>
                        </a:p>
                      </a:txBody>
                      <a:tcPr/>
                    </a:tc>
                    <a:tc>
                      <a:txBody>
                        <a:bodyPr/>
                        <a:lstStyle/>
                        <a:p>
                          <a:r>
                            <a:rPr lang="en-US" sz="1600" dirty="0"/>
                            <a:t>20 * 3 = 60</a:t>
                          </a:r>
                          <a:endParaRPr lang="en-MY" sz="1600" dirty="0"/>
                        </a:p>
                      </a:txBody>
                      <a:tcPr/>
                    </a:tc>
                    <a:extLst>
                      <a:ext uri="{0D108BD9-81ED-4DB2-BD59-A6C34878D82A}">
                        <a16:rowId xmlns:a16="http://schemas.microsoft.com/office/drawing/2014/main" val="3617920626"/>
                      </a:ext>
                    </a:extLst>
                  </a:tr>
                  <a:tr h="370840">
                    <a:tc>
                      <a:txBody>
                        <a:bodyPr/>
                        <a:lstStyle/>
                        <a:p>
                          <a:r>
                            <a:rPr lang="en-US" sz="1600" dirty="0"/>
                            <a:t>4</a:t>
                          </a:r>
                          <a:endParaRPr lang="en-MY" sz="1600" dirty="0"/>
                        </a:p>
                      </a:txBody>
                      <a:tcPr/>
                    </a:tc>
                    <a:tc>
                      <a:txBody>
                        <a:bodyPr/>
                        <a:lstStyle/>
                        <a:p>
                          <a:r>
                            <a:rPr lang="en-US" sz="1600" dirty="0"/>
                            <a:t>150</a:t>
                          </a:r>
                          <a:endParaRPr lang="en-MY" sz="1600" dirty="0"/>
                        </a:p>
                      </a:txBody>
                      <a:tcPr/>
                    </a:tc>
                    <a:tc>
                      <a:txBody>
                        <a:bodyPr/>
                        <a:lstStyle/>
                        <a:p>
                          <a:r>
                            <a:rPr lang="en-US" sz="1600" dirty="0"/>
                            <a:t>2</a:t>
                          </a:r>
                          <a:endParaRPr lang="en-MY" sz="1600" dirty="0"/>
                        </a:p>
                      </a:txBody>
                      <a:tcPr/>
                    </a:tc>
                    <a:tc>
                      <a:txBody>
                        <a:bodyPr/>
                        <a:lstStyle/>
                        <a:p>
                          <a:r>
                            <a:rPr lang="en-US" sz="1600" dirty="0"/>
                            <a:t>4 * (150 * 2) = 1200</a:t>
                          </a:r>
                          <a:endParaRPr lang="en-MY" sz="1600" dirty="0"/>
                        </a:p>
                      </a:txBody>
                      <a:tcPr/>
                    </a:tc>
                    <a:tc>
                      <a:txBody>
                        <a:bodyPr/>
                        <a:lstStyle/>
                        <a:p>
                          <a:r>
                            <a:rPr lang="en-US" sz="1600" dirty="0"/>
                            <a:t>150 * 2 = 300</a:t>
                          </a:r>
                          <a:endParaRPr lang="en-MY" sz="1600" dirty="0"/>
                        </a:p>
                      </a:txBody>
                      <a:tcPr/>
                    </a:tc>
                    <a:extLst>
                      <a:ext uri="{0D108BD9-81ED-4DB2-BD59-A6C34878D82A}">
                        <a16:rowId xmlns:a16="http://schemas.microsoft.com/office/drawing/2014/main" val="3197420574"/>
                      </a:ext>
                    </a:extLst>
                  </a:tr>
                  <a:tr h="370840">
                    <a:tc>
                      <a:txBody>
                        <a:bodyPr/>
                        <a:lstStyle/>
                        <a:p>
                          <a:r>
                            <a:rPr lang="en-US" sz="1600" dirty="0"/>
                            <a:t>5</a:t>
                          </a:r>
                          <a:endParaRPr lang="en-MY" sz="1600" dirty="0"/>
                        </a:p>
                      </a:txBody>
                      <a:tcPr/>
                    </a:tc>
                    <a:tc>
                      <a:txBody>
                        <a:bodyPr/>
                        <a:lstStyle/>
                        <a:p>
                          <a:r>
                            <a:rPr lang="en-US" sz="1600" dirty="0"/>
                            <a:t>280</a:t>
                          </a:r>
                          <a:endParaRPr lang="en-MY" sz="1600" dirty="0"/>
                        </a:p>
                      </a:txBody>
                      <a:tcPr/>
                    </a:tc>
                    <a:tc>
                      <a:txBody>
                        <a:bodyPr/>
                        <a:lstStyle/>
                        <a:p>
                          <a:r>
                            <a:rPr lang="en-US" sz="1600" dirty="0"/>
                            <a:t>1</a:t>
                          </a:r>
                          <a:endParaRPr lang="en-MY" sz="1600" dirty="0"/>
                        </a:p>
                      </a:txBody>
                      <a:tcPr/>
                    </a:tc>
                    <a:tc>
                      <a:txBody>
                        <a:bodyPr/>
                        <a:lstStyle/>
                        <a:p>
                          <a:r>
                            <a:rPr lang="en-US" sz="1600" dirty="0"/>
                            <a:t>5 * (280 * 1) = 1400</a:t>
                          </a:r>
                          <a:endParaRPr lang="en-MY" sz="1600" dirty="0"/>
                        </a:p>
                      </a:txBody>
                      <a:tcPr/>
                    </a:tc>
                    <a:tc>
                      <a:txBody>
                        <a:bodyPr/>
                        <a:lstStyle/>
                        <a:p>
                          <a:r>
                            <a:rPr lang="en-US" sz="1600" dirty="0"/>
                            <a:t>280 * 1 = 280</a:t>
                          </a:r>
                          <a:endParaRPr lang="en-MY" sz="1600" dirty="0"/>
                        </a:p>
                      </a:txBody>
                      <a:tcPr/>
                    </a:tc>
                    <a:extLst>
                      <a:ext uri="{0D108BD9-81ED-4DB2-BD59-A6C34878D82A}">
                        <a16:rowId xmlns:a16="http://schemas.microsoft.com/office/drawing/2014/main" val="471293648"/>
                      </a:ext>
                    </a:extLst>
                  </a:tr>
                </a:tbl>
              </a:graphicData>
            </a:graphic>
          </p:graphicFrame>
        </mc:Choice>
        <mc:Fallback xmlns="">
          <p:graphicFrame>
            <p:nvGraphicFramePr>
              <p:cNvPr id="4" name="Table 3">
                <a:extLst>
                  <a:ext uri="{FF2B5EF4-FFF2-40B4-BE49-F238E27FC236}">
                    <a16:creationId xmlns:a16="http://schemas.microsoft.com/office/drawing/2014/main" id="{84D91620-2AEF-E037-EB05-D56CFA6B113B}"/>
                  </a:ext>
                </a:extLst>
              </p:cNvPr>
              <p:cNvGraphicFramePr>
                <a:graphicFrameLocks noGrp="1"/>
              </p:cNvGraphicFramePr>
              <p:nvPr>
                <p:extLst>
                  <p:ext uri="{D42A27DB-BD31-4B8C-83A1-F6EECF244321}">
                    <p14:modId xmlns:p14="http://schemas.microsoft.com/office/powerpoint/2010/main" val="1119527447"/>
                  </p:ext>
                </p:extLst>
              </p:nvPr>
            </p:nvGraphicFramePr>
            <p:xfrm>
              <a:off x="838200" y="3113712"/>
              <a:ext cx="10515600" cy="2692728"/>
            </p:xfrm>
            <a:graphic>
              <a:graphicData uri="http://schemas.openxmlformats.org/drawingml/2006/table">
                <a:tbl>
                  <a:tblPr firstRow="1" bandRow="1">
                    <a:tableStyleId>{5C22544A-7EE6-4342-B048-85BDC9FD1C3A}</a:tableStyleId>
                  </a:tblPr>
                  <a:tblGrid>
                    <a:gridCol w="2103121">
                      <a:extLst>
                        <a:ext uri="{9D8B030D-6E8A-4147-A177-3AD203B41FA5}">
                          <a16:colId xmlns:a16="http://schemas.microsoft.com/office/drawing/2014/main" val="1285046222"/>
                        </a:ext>
                      </a:extLst>
                    </a:gridCol>
                    <a:gridCol w="2441955">
                      <a:extLst>
                        <a:ext uri="{9D8B030D-6E8A-4147-A177-3AD203B41FA5}">
                          <a16:colId xmlns:a16="http://schemas.microsoft.com/office/drawing/2014/main" val="399677557"/>
                        </a:ext>
                      </a:extLst>
                    </a:gridCol>
                    <a:gridCol w="2126488">
                      <a:extLst>
                        <a:ext uri="{9D8B030D-6E8A-4147-A177-3AD203B41FA5}">
                          <a16:colId xmlns:a16="http://schemas.microsoft.com/office/drawing/2014/main" val="1079911950"/>
                        </a:ext>
                      </a:extLst>
                    </a:gridCol>
                    <a:gridCol w="1609052">
                      <a:extLst>
                        <a:ext uri="{9D8B030D-6E8A-4147-A177-3AD203B41FA5}">
                          <a16:colId xmlns:a16="http://schemas.microsoft.com/office/drawing/2014/main" val="1045375795"/>
                        </a:ext>
                      </a:extLst>
                    </a:gridCol>
                    <a:gridCol w="2234984">
                      <a:extLst>
                        <a:ext uri="{9D8B030D-6E8A-4147-A177-3AD203B41FA5}">
                          <a16:colId xmlns:a16="http://schemas.microsoft.com/office/drawing/2014/main" val="3844172413"/>
                        </a:ext>
                      </a:extLst>
                    </a:gridCol>
                  </a:tblGrid>
                  <a:tr h="421968">
                    <a:tc>
                      <a:txBody>
                        <a:bodyPr/>
                        <a:lstStyle/>
                        <a:p>
                          <a:pPr algn="ctr"/>
                          <a:r>
                            <a:rPr lang="en-US" sz="1600" dirty="0"/>
                            <a:t>No of Stars (x)</a:t>
                          </a:r>
                          <a:endParaRPr lang="en-MY" sz="1600" dirty="0"/>
                        </a:p>
                      </a:txBody>
                      <a:tcPr/>
                    </a:tc>
                    <a:tc>
                      <a:txBody>
                        <a:bodyPr/>
                        <a:lstStyle/>
                        <a:p>
                          <a:pPr algn="ctr"/>
                          <a:r>
                            <a:rPr lang="en-US" sz="1600" dirty="0"/>
                            <a:t>No of Reviews (n)</a:t>
                          </a:r>
                          <a:endParaRPr lang="en-MY" sz="1600" dirty="0"/>
                        </a:p>
                      </a:txBody>
                      <a:tcPr/>
                    </a:tc>
                    <a:tc>
                      <a:txBody>
                        <a:bodyPr/>
                        <a:lstStyle/>
                        <a:p>
                          <a:pPr algn="ctr"/>
                          <a:r>
                            <a:rPr lang="en-US" sz="1600" dirty="0"/>
                            <a:t>Weightage (w)</a:t>
                          </a:r>
                          <a:endParaRPr lang="en-MY" sz="1600" dirty="0"/>
                        </a:p>
                      </a:txBody>
                      <a:tcPr/>
                    </a:tc>
                    <a:tc>
                      <a:txBody>
                        <a:bodyPr/>
                        <a:lstStyle/>
                        <a:p>
                          <a:endParaRPr lang="en-US"/>
                        </a:p>
                      </a:txBody>
                      <a:tcPr>
                        <a:blipFill>
                          <a:blip r:embed="rId2"/>
                          <a:stretch>
                            <a:fillRect l="-415152" t="-2899" r="-140530" b="-559420"/>
                          </a:stretch>
                        </a:blipFill>
                      </a:tcPr>
                    </a:tc>
                    <a:tc>
                      <a:txBody>
                        <a:bodyPr/>
                        <a:lstStyle/>
                        <a:p>
                          <a:endParaRPr lang="en-US"/>
                        </a:p>
                      </a:txBody>
                      <a:tcPr>
                        <a:blipFill>
                          <a:blip r:embed="rId2"/>
                          <a:stretch>
                            <a:fillRect l="-370572" t="-2899" r="-1090" b="-559420"/>
                          </a:stretch>
                        </a:blipFill>
                      </a:tcPr>
                    </a:tc>
                    <a:extLst>
                      <a:ext uri="{0D108BD9-81ED-4DB2-BD59-A6C34878D82A}">
                        <a16:rowId xmlns:a16="http://schemas.microsoft.com/office/drawing/2014/main" val="751150913"/>
                      </a:ext>
                    </a:extLst>
                  </a:tr>
                  <a:tr h="370840">
                    <a:tc>
                      <a:txBody>
                        <a:bodyPr/>
                        <a:lstStyle/>
                        <a:p>
                          <a:r>
                            <a:rPr lang="en-US" sz="1600" dirty="0"/>
                            <a:t>1</a:t>
                          </a:r>
                          <a:endParaRPr lang="en-MY" sz="1600" dirty="0"/>
                        </a:p>
                      </a:txBody>
                      <a:tcPr/>
                    </a:tc>
                    <a:tc>
                      <a:txBody>
                        <a:bodyPr/>
                        <a:lstStyle/>
                        <a:p>
                          <a:r>
                            <a:rPr lang="en-US" sz="1600" dirty="0"/>
                            <a:t>30</a:t>
                          </a:r>
                          <a:endParaRPr lang="en-MY" sz="1600" dirty="0"/>
                        </a:p>
                      </a:txBody>
                      <a:tcPr/>
                    </a:tc>
                    <a:tc>
                      <a:txBody>
                        <a:bodyPr/>
                        <a:lstStyle/>
                        <a:p>
                          <a:r>
                            <a:rPr lang="en-US" sz="1600" dirty="0"/>
                            <a:t>5</a:t>
                          </a:r>
                          <a:endParaRPr lang="en-MY" sz="1600" dirty="0"/>
                        </a:p>
                      </a:txBody>
                      <a:tcPr/>
                    </a:tc>
                    <a:tc>
                      <a:txBody>
                        <a:bodyPr/>
                        <a:lstStyle/>
                        <a:p>
                          <a:r>
                            <a:rPr lang="en-US" sz="1600" dirty="0"/>
                            <a:t>1 * (30*5) = 150</a:t>
                          </a:r>
                          <a:endParaRPr lang="en-MY" sz="1600" dirty="0"/>
                        </a:p>
                      </a:txBody>
                      <a:tcPr/>
                    </a:tc>
                    <a:tc>
                      <a:txBody>
                        <a:bodyPr/>
                        <a:lstStyle/>
                        <a:p>
                          <a:r>
                            <a:rPr lang="en-US" sz="1600" dirty="0"/>
                            <a:t>30 * 5 = 150</a:t>
                          </a:r>
                          <a:endParaRPr lang="en-MY" sz="1600" dirty="0"/>
                        </a:p>
                      </a:txBody>
                      <a:tcPr/>
                    </a:tc>
                    <a:extLst>
                      <a:ext uri="{0D108BD9-81ED-4DB2-BD59-A6C34878D82A}">
                        <a16:rowId xmlns:a16="http://schemas.microsoft.com/office/drawing/2014/main" val="3915979824"/>
                      </a:ext>
                    </a:extLst>
                  </a:tr>
                  <a:tr h="370840">
                    <a:tc>
                      <a:txBody>
                        <a:bodyPr/>
                        <a:lstStyle/>
                        <a:p>
                          <a:r>
                            <a:rPr lang="en-US" sz="1600" dirty="0"/>
                            <a:t>2</a:t>
                          </a:r>
                          <a:endParaRPr lang="en-MY" sz="1600" dirty="0"/>
                        </a:p>
                      </a:txBody>
                      <a:tcPr/>
                    </a:tc>
                    <a:tc>
                      <a:txBody>
                        <a:bodyPr/>
                        <a:lstStyle/>
                        <a:p>
                          <a:r>
                            <a:rPr lang="en-US" sz="1600" dirty="0"/>
                            <a:t>20</a:t>
                          </a:r>
                          <a:endParaRPr lang="en-MY" sz="1600" dirty="0"/>
                        </a:p>
                      </a:txBody>
                      <a:tcPr/>
                    </a:tc>
                    <a:tc>
                      <a:txBody>
                        <a:bodyPr/>
                        <a:lstStyle/>
                        <a:p>
                          <a:r>
                            <a:rPr lang="en-US" sz="1600" dirty="0"/>
                            <a:t>4</a:t>
                          </a:r>
                          <a:endParaRPr lang="en-MY" sz="1600" dirty="0"/>
                        </a:p>
                      </a:txBody>
                      <a:tcPr/>
                    </a:tc>
                    <a:tc>
                      <a:txBody>
                        <a:bodyPr/>
                        <a:lstStyle/>
                        <a:p>
                          <a:r>
                            <a:rPr lang="en-US" sz="1600" dirty="0"/>
                            <a:t>2 * (20*4) = 160</a:t>
                          </a:r>
                          <a:endParaRPr lang="en-MY" sz="1600" dirty="0"/>
                        </a:p>
                      </a:txBody>
                      <a:tcPr/>
                    </a:tc>
                    <a:tc>
                      <a:txBody>
                        <a:bodyPr/>
                        <a:lstStyle/>
                        <a:p>
                          <a:r>
                            <a:rPr lang="en-US" sz="1600" dirty="0"/>
                            <a:t>20 * 4 = 80</a:t>
                          </a:r>
                          <a:endParaRPr lang="en-MY" sz="1600" dirty="0"/>
                        </a:p>
                      </a:txBody>
                      <a:tcPr/>
                    </a:tc>
                    <a:extLst>
                      <a:ext uri="{0D108BD9-81ED-4DB2-BD59-A6C34878D82A}">
                        <a16:rowId xmlns:a16="http://schemas.microsoft.com/office/drawing/2014/main" val="2742459137"/>
                      </a:ext>
                    </a:extLst>
                  </a:tr>
                  <a:tr h="370840">
                    <a:tc>
                      <a:txBody>
                        <a:bodyPr/>
                        <a:lstStyle/>
                        <a:p>
                          <a:r>
                            <a:rPr lang="en-US" sz="1600" dirty="0"/>
                            <a:t>3</a:t>
                          </a:r>
                          <a:endParaRPr lang="en-MY" sz="1600" dirty="0"/>
                        </a:p>
                      </a:txBody>
                      <a:tcPr/>
                    </a:tc>
                    <a:tc>
                      <a:txBody>
                        <a:bodyPr/>
                        <a:lstStyle/>
                        <a:p>
                          <a:r>
                            <a:rPr lang="en-US" sz="1600" dirty="0"/>
                            <a:t>20</a:t>
                          </a:r>
                          <a:endParaRPr lang="en-MY" sz="1600" dirty="0"/>
                        </a:p>
                      </a:txBody>
                      <a:tcPr/>
                    </a:tc>
                    <a:tc>
                      <a:txBody>
                        <a:bodyPr/>
                        <a:lstStyle/>
                        <a:p>
                          <a:r>
                            <a:rPr lang="en-US" sz="1600" dirty="0"/>
                            <a:t>3</a:t>
                          </a:r>
                          <a:endParaRPr lang="en-MY" sz="1600" dirty="0"/>
                        </a:p>
                      </a:txBody>
                      <a:tcPr/>
                    </a:tc>
                    <a:tc>
                      <a:txBody>
                        <a:bodyPr/>
                        <a:lstStyle/>
                        <a:p>
                          <a:r>
                            <a:rPr lang="en-US" sz="1600" dirty="0"/>
                            <a:t>3 * (20 * 3) = 180</a:t>
                          </a:r>
                          <a:endParaRPr lang="en-MY" sz="1600" dirty="0"/>
                        </a:p>
                      </a:txBody>
                      <a:tcPr/>
                    </a:tc>
                    <a:tc>
                      <a:txBody>
                        <a:bodyPr/>
                        <a:lstStyle/>
                        <a:p>
                          <a:r>
                            <a:rPr lang="en-US" sz="1600" dirty="0"/>
                            <a:t>20 * 3 = 60</a:t>
                          </a:r>
                          <a:endParaRPr lang="en-MY" sz="1600" dirty="0"/>
                        </a:p>
                      </a:txBody>
                      <a:tcPr/>
                    </a:tc>
                    <a:extLst>
                      <a:ext uri="{0D108BD9-81ED-4DB2-BD59-A6C34878D82A}">
                        <a16:rowId xmlns:a16="http://schemas.microsoft.com/office/drawing/2014/main" val="3617920626"/>
                      </a:ext>
                    </a:extLst>
                  </a:tr>
                  <a:tr h="579120">
                    <a:tc>
                      <a:txBody>
                        <a:bodyPr/>
                        <a:lstStyle/>
                        <a:p>
                          <a:r>
                            <a:rPr lang="en-US" sz="1600" dirty="0"/>
                            <a:t>4</a:t>
                          </a:r>
                          <a:endParaRPr lang="en-MY" sz="1600" dirty="0"/>
                        </a:p>
                      </a:txBody>
                      <a:tcPr/>
                    </a:tc>
                    <a:tc>
                      <a:txBody>
                        <a:bodyPr/>
                        <a:lstStyle/>
                        <a:p>
                          <a:r>
                            <a:rPr lang="en-US" sz="1600" dirty="0"/>
                            <a:t>150</a:t>
                          </a:r>
                          <a:endParaRPr lang="en-MY" sz="1600" dirty="0"/>
                        </a:p>
                      </a:txBody>
                      <a:tcPr/>
                    </a:tc>
                    <a:tc>
                      <a:txBody>
                        <a:bodyPr/>
                        <a:lstStyle/>
                        <a:p>
                          <a:r>
                            <a:rPr lang="en-US" sz="1600" dirty="0"/>
                            <a:t>2</a:t>
                          </a:r>
                          <a:endParaRPr lang="en-MY" sz="1600" dirty="0"/>
                        </a:p>
                      </a:txBody>
                      <a:tcPr/>
                    </a:tc>
                    <a:tc>
                      <a:txBody>
                        <a:bodyPr/>
                        <a:lstStyle/>
                        <a:p>
                          <a:r>
                            <a:rPr lang="en-US" sz="1600" dirty="0"/>
                            <a:t>4 * (150 * 2) = 1200</a:t>
                          </a:r>
                          <a:endParaRPr lang="en-MY" sz="1600" dirty="0"/>
                        </a:p>
                      </a:txBody>
                      <a:tcPr/>
                    </a:tc>
                    <a:tc>
                      <a:txBody>
                        <a:bodyPr/>
                        <a:lstStyle/>
                        <a:p>
                          <a:r>
                            <a:rPr lang="en-US" sz="1600" dirty="0"/>
                            <a:t>150 * 2 = 300</a:t>
                          </a:r>
                          <a:endParaRPr lang="en-MY" sz="1600" dirty="0"/>
                        </a:p>
                      </a:txBody>
                      <a:tcPr/>
                    </a:tc>
                    <a:extLst>
                      <a:ext uri="{0D108BD9-81ED-4DB2-BD59-A6C34878D82A}">
                        <a16:rowId xmlns:a16="http://schemas.microsoft.com/office/drawing/2014/main" val="3197420574"/>
                      </a:ext>
                    </a:extLst>
                  </a:tr>
                  <a:tr h="579120">
                    <a:tc>
                      <a:txBody>
                        <a:bodyPr/>
                        <a:lstStyle/>
                        <a:p>
                          <a:r>
                            <a:rPr lang="en-US" sz="1600" dirty="0"/>
                            <a:t>5</a:t>
                          </a:r>
                          <a:endParaRPr lang="en-MY" sz="1600" dirty="0"/>
                        </a:p>
                      </a:txBody>
                      <a:tcPr/>
                    </a:tc>
                    <a:tc>
                      <a:txBody>
                        <a:bodyPr/>
                        <a:lstStyle/>
                        <a:p>
                          <a:r>
                            <a:rPr lang="en-US" sz="1600" dirty="0"/>
                            <a:t>280</a:t>
                          </a:r>
                          <a:endParaRPr lang="en-MY" sz="1600" dirty="0"/>
                        </a:p>
                      </a:txBody>
                      <a:tcPr/>
                    </a:tc>
                    <a:tc>
                      <a:txBody>
                        <a:bodyPr/>
                        <a:lstStyle/>
                        <a:p>
                          <a:r>
                            <a:rPr lang="en-US" sz="1600" dirty="0"/>
                            <a:t>1</a:t>
                          </a:r>
                          <a:endParaRPr lang="en-MY" sz="1600" dirty="0"/>
                        </a:p>
                      </a:txBody>
                      <a:tcPr/>
                    </a:tc>
                    <a:tc>
                      <a:txBody>
                        <a:bodyPr/>
                        <a:lstStyle/>
                        <a:p>
                          <a:r>
                            <a:rPr lang="en-US" sz="1600" dirty="0"/>
                            <a:t>5 * (280 * 1) = 1400</a:t>
                          </a:r>
                          <a:endParaRPr lang="en-MY" sz="1600" dirty="0"/>
                        </a:p>
                      </a:txBody>
                      <a:tcPr/>
                    </a:tc>
                    <a:tc>
                      <a:txBody>
                        <a:bodyPr/>
                        <a:lstStyle/>
                        <a:p>
                          <a:r>
                            <a:rPr lang="en-US" sz="1600" dirty="0"/>
                            <a:t>280 * 1 = 280</a:t>
                          </a:r>
                          <a:endParaRPr lang="en-MY" sz="1600" dirty="0"/>
                        </a:p>
                      </a:txBody>
                      <a:tcPr/>
                    </a:tc>
                    <a:extLst>
                      <a:ext uri="{0D108BD9-81ED-4DB2-BD59-A6C34878D82A}">
                        <a16:rowId xmlns:a16="http://schemas.microsoft.com/office/drawing/2014/main" val="471293648"/>
                      </a:ext>
                    </a:extLst>
                  </a:tr>
                </a:tbl>
              </a:graphicData>
            </a:graphic>
          </p:graphicFrame>
        </mc:Fallback>
      </mc:AlternateContent>
      <p:sp>
        <p:nvSpPr>
          <p:cNvPr id="5" name="Slide Number Placeholder 4">
            <a:extLst>
              <a:ext uri="{FF2B5EF4-FFF2-40B4-BE49-F238E27FC236}">
                <a16:creationId xmlns:a16="http://schemas.microsoft.com/office/drawing/2014/main" id="{6639AB0A-A28E-D23D-9522-4C15BBD11761}"/>
              </a:ext>
            </a:extLst>
          </p:cNvPr>
          <p:cNvSpPr>
            <a:spLocks noGrp="1"/>
          </p:cNvSpPr>
          <p:nvPr>
            <p:ph type="sldNum" sz="quarter" idx="12"/>
          </p:nvPr>
        </p:nvSpPr>
        <p:spPr/>
        <p:txBody>
          <a:bodyPr/>
          <a:lstStyle/>
          <a:p>
            <a:fld id="{499D393E-937C-43AF-8286-1304B3D101C1}" type="slidenum">
              <a:rPr lang="en-MY" smtClean="0"/>
              <a:t>13</a:t>
            </a:fld>
            <a:endParaRPr lang="en-MY"/>
          </a:p>
        </p:txBody>
      </p:sp>
    </p:spTree>
    <p:extLst>
      <p:ext uri="{BB962C8B-B14F-4D97-AF65-F5344CB8AC3E}">
        <p14:creationId xmlns:p14="http://schemas.microsoft.com/office/powerpoint/2010/main" val="3756718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407A1-4CE8-EA58-A827-14CF5E4251BF}"/>
              </a:ext>
            </a:extLst>
          </p:cNvPr>
          <p:cNvSpPr>
            <a:spLocks noGrp="1"/>
          </p:cNvSpPr>
          <p:nvPr>
            <p:ph type="title"/>
          </p:nvPr>
        </p:nvSpPr>
        <p:spPr/>
        <p:txBody>
          <a:bodyPr/>
          <a:lstStyle/>
          <a:p>
            <a:r>
              <a:rPr lang="en-US" dirty="0"/>
              <a:t>What is a “normal” distribution?</a:t>
            </a:r>
            <a:endParaRPr lang="en-MY" dirty="0"/>
          </a:p>
        </p:txBody>
      </p:sp>
      <p:sp>
        <p:nvSpPr>
          <p:cNvPr id="3" name="Content Placeholder 2">
            <a:extLst>
              <a:ext uri="{FF2B5EF4-FFF2-40B4-BE49-F238E27FC236}">
                <a16:creationId xmlns:a16="http://schemas.microsoft.com/office/drawing/2014/main" id="{51E44F43-6E50-2D13-F2FC-696532AA04C0}"/>
              </a:ext>
            </a:extLst>
          </p:cNvPr>
          <p:cNvSpPr>
            <a:spLocks noGrp="1"/>
          </p:cNvSpPr>
          <p:nvPr>
            <p:ph idx="1"/>
          </p:nvPr>
        </p:nvSpPr>
        <p:spPr>
          <a:xfrm>
            <a:off x="838200" y="1825625"/>
            <a:ext cx="5257800" cy="4351338"/>
          </a:xfrm>
        </p:spPr>
        <p:txBody>
          <a:bodyPr>
            <a:normAutofit fontScale="77500" lnSpcReduction="20000"/>
          </a:bodyPr>
          <a:lstStyle/>
          <a:p>
            <a:pPr>
              <a:lnSpc>
                <a:spcPct val="160000"/>
              </a:lnSpc>
            </a:pPr>
            <a:r>
              <a:rPr lang="en-US" dirty="0"/>
              <a:t>Normal distribution, also known as the Gaussian distribution, is a probability distribution that is symmetric about the mean, showing that data near the mean are more frequent in occurrence than data far from the mean (</a:t>
            </a:r>
            <a:r>
              <a:rPr lang="el-GR" dirty="0"/>
              <a:t>μ</a:t>
            </a:r>
            <a:r>
              <a:rPr lang="en-US" dirty="0"/>
              <a:t>)</a:t>
            </a:r>
          </a:p>
          <a:p>
            <a:pPr>
              <a:lnSpc>
                <a:spcPct val="160000"/>
              </a:lnSpc>
            </a:pPr>
            <a:r>
              <a:rPr lang="en-MY" dirty="0"/>
              <a:t>Standard deviation (</a:t>
            </a:r>
            <a:r>
              <a:rPr lang="el-GR" dirty="0"/>
              <a:t>σ) </a:t>
            </a:r>
            <a:r>
              <a:rPr lang="en-US" dirty="0"/>
              <a:t>is also equally spread around the curve on both sides</a:t>
            </a:r>
            <a:endParaRPr lang="en-MY" dirty="0"/>
          </a:p>
        </p:txBody>
      </p:sp>
      <p:pic>
        <p:nvPicPr>
          <p:cNvPr id="5" name="Picture 4">
            <a:extLst>
              <a:ext uri="{FF2B5EF4-FFF2-40B4-BE49-F238E27FC236}">
                <a16:creationId xmlns:a16="http://schemas.microsoft.com/office/drawing/2014/main" id="{800E50D3-F290-0D8F-484A-828A11830995}"/>
              </a:ext>
            </a:extLst>
          </p:cNvPr>
          <p:cNvPicPr>
            <a:picLocks noChangeAspect="1"/>
          </p:cNvPicPr>
          <p:nvPr/>
        </p:nvPicPr>
        <p:blipFill>
          <a:blip r:embed="rId2"/>
          <a:stretch>
            <a:fillRect/>
          </a:stretch>
        </p:blipFill>
        <p:spPr>
          <a:xfrm>
            <a:off x="6715064" y="1881686"/>
            <a:ext cx="4638736" cy="3094628"/>
          </a:xfrm>
          <a:prstGeom prst="rect">
            <a:avLst/>
          </a:prstGeom>
        </p:spPr>
      </p:pic>
      <p:sp>
        <p:nvSpPr>
          <p:cNvPr id="4" name="Speech Bubble: Rectangle with Corners Rounded 3">
            <a:extLst>
              <a:ext uri="{FF2B5EF4-FFF2-40B4-BE49-F238E27FC236}">
                <a16:creationId xmlns:a16="http://schemas.microsoft.com/office/drawing/2014/main" id="{1C60D109-1490-A04F-F5F5-25D138093621}"/>
              </a:ext>
            </a:extLst>
          </p:cNvPr>
          <p:cNvSpPr/>
          <p:nvPr/>
        </p:nvSpPr>
        <p:spPr>
          <a:xfrm>
            <a:off x="7287768" y="5175504"/>
            <a:ext cx="3529584" cy="1001459"/>
          </a:xfrm>
          <a:prstGeom prst="wedgeRoundRectCallout">
            <a:avLst>
              <a:gd name="adj1" fmla="val -650"/>
              <a:gd name="adj2" fmla="val -8359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 a normal distribution curve, mean = mode = median</a:t>
            </a:r>
            <a:endParaRPr lang="en-MY" dirty="0"/>
          </a:p>
        </p:txBody>
      </p:sp>
      <p:sp>
        <p:nvSpPr>
          <p:cNvPr id="6" name="Slide Number Placeholder 5">
            <a:extLst>
              <a:ext uri="{FF2B5EF4-FFF2-40B4-BE49-F238E27FC236}">
                <a16:creationId xmlns:a16="http://schemas.microsoft.com/office/drawing/2014/main" id="{11E8CEAD-FD29-A0BB-6D10-C26F3A0FEA6F}"/>
              </a:ext>
            </a:extLst>
          </p:cNvPr>
          <p:cNvSpPr>
            <a:spLocks noGrp="1"/>
          </p:cNvSpPr>
          <p:nvPr>
            <p:ph type="sldNum" sz="quarter" idx="12"/>
          </p:nvPr>
        </p:nvSpPr>
        <p:spPr/>
        <p:txBody>
          <a:bodyPr/>
          <a:lstStyle/>
          <a:p>
            <a:fld id="{499D393E-937C-43AF-8286-1304B3D101C1}" type="slidenum">
              <a:rPr lang="en-MY" smtClean="0"/>
              <a:t>14</a:t>
            </a:fld>
            <a:endParaRPr lang="en-MY"/>
          </a:p>
        </p:txBody>
      </p:sp>
    </p:spTree>
    <p:extLst>
      <p:ext uri="{BB962C8B-B14F-4D97-AF65-F5344CB8AC3E}">
        <p14:creationId xmlns:p14="http://schemas.microsoft.com/office/powerpoint/2010/main" val="924185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96164-A46A-A539-F141-52B568CBA1FA}"/>
              </a:ext>
            </a:extLst>
          </p:cNvPr>
          <p:cNvSpPr>
            <a:spLocks noGrp="1"/>
          </p:cNvSpPr>
          <p:nvPr>
            <p:ph type="title"/>
          </p:nvPr>
        </p:nvSpPr>
        <p:spPr/>
        <p:txBody>
          <a:bodyPr/>
          <a:lstStyle/>
          <a:p>
            <a:r>
              <a:rPr lang="en-US" dirty="0"/>
              <a:t>About standard deviation (</a:t>
            </a:r>
            <a:r>
              <a:rPr lang="el-GR" dirty="0"/>
              <a:t>σ</a:t>
            </a:r>
            <a:r>
              <a:rPr lang="en-US" dirty="0"/>
              <a:t>) and kurtosis</a:t>
            </a:r>
            <a:endParaRPr lang="en-MY" dirty="0"/>
          </a:p>
        </p:txBody>
      </p:sp>
      <p:sp>
        <p:nvSpPr>
          <p:cNvPr id="3" name="Content Placeholder 2">
            <a:extLst>
              <a:ext uri="{FF2B5EF4-FFF2-40B4-BE49-F238E27FC236}">
                <a16:creationId xmlns:a16="http://schemas.microsoft.com/office/drawing/2014/main" id="{6D3ECF81-F042-1F8C-0D9B-7697960405EA}"/>
              </a:ext>
            </a:extLst>
          </p:cNvPr>
          <p:cNvSpPr>
            <a:spLocks noGrp="1"/>
          </p:cNvSpPr>
          <p:nvPr>
            <p:ph idx="1"/>
          </p:nvPr>
        </p:nvSpPr>
        <p:spPr>
          <a:xfrm>
            <a:off x="838200" y="1825625"/>
            <a:ext cx="7062216" cy="4351338"/>
          </a:xfrm>
        </p:spPr>
        <p:txBody>
          <a:bodyPr>
            <a:normAutofit lnSpcReduction="10000"/>
          </a:bodyPr>
          <a:lstStyle/>
          <a:p>
            <a:r>
              <a:rPr lang="en-US" dirty="0"/>
              <a:t>Standard deviation is a statistical measure that describes the spread of data around its mean (average)</a:t>
            </a:r>
          </a:p>
          <a:p>
            <a:r>
              <a:rPr lang="en-US" dirty="0"/>
              <a:t>A low standard deviation indicates that data points are clustered tightly around the mean, while a high standard deviation means they are more spread out</a:t>
            </a:r>
          </a:p>
          <a:p>
            <a:r>
              <a:rPr lang="en-US" dirty="0"/>
              <a:t>Understanding the distribution of data points help to identify if average or median would be best suited to answer business questions</a:t>
            </a:r>
            <a:endParaRPr lang="en-MY" dirty="0"/>
          </a:p>
        </p:txBody>
      </p:sp>
      <p:pic>
        <p:nvPicPr>
          <p:cNvPr id="4" name="Picture 3">
            <a:extLst>
              <a:ext uri="{FF2B5EF4-FFF2-40B4-BE49-F238E27FC236}">
                <a16:creationId xmlns:a16="http://schemas.microsoft.com/office/drawing/2014/main" id="{A969780E-4B9D-74A7-2C6B-37395B5D0602}"/>
              </a:ext>
            </a:extLst>
          </p:cNvPr>
          <p:cNvPicPr>
            <a:picLocks noChangeAspect="1"/>
          </p:cNvPicPr>
          <p:nvPr/>
        </p:nvPicPr>
        <p:blipFill>
          <a:blip r:embed="rId2"/>
          <a:stretch>
            <a:fillRect/>
          </a:stretch>
        </p:blipFill>
        <p:spPr>
          <a:xfrm>
            <a:off x="8210550" y="1858169"/>
            <a:ext cx="3143250" cy="4286250"/>
          </a:xfrm>
          <a:prstGeom prst="rect">
            <a:avLst/>
          </a:prstGeom>
        </p:spPr>
      </p:pic>
      <p:sp>
        <p:nvSpPr>
          <p:cNvPr id="5" name="Slide Number Placeholder 4">
            <a:extLst>
              <a:ext uri="{FF2B5EF4-FFF2-40B4-BE49-F238E27FC236}">
                <a16:creationId xmlns:a16="http://schemas.microsoft.com/office/drawing/2014/main" id="{27436856-546B-A751-7429-03ADB5DCBF39}"/>
              </a:ext>
            </a:extLst>
          </p:cNvPr>
          <p:cNvSpPr>
            <a:spLocks noGrp="1"/>
          </p:cNvSpPr>
          <p:nvPr>
            <p:ph type="sldNum" sz="quarter" idx="12"/>
          </p:nvPr>
        </p:nvSpPr>
        <p:spPr/>
        <p:txBody>
          <a:bodyPr/>
          <a:lstStyle/>
          <a:p>
            <a:fld id="{499D393E-937C-43AF-8286-1304B3D101C1}" type="slidenum">
              <a:rPr lang="en-MY" smtClean="0"/>
              <a:t>15</a:t>
            </a:fld>
            <a:endParaRPr lang="en-MY"/>
          </a:p>
        </p:txBody>
      </p:sp>
    </p:spTree>
    <p:extLst>
      <p:ext uri="{BB962C8B-B14F-4D97-AF65-F5344CB8AC3E}">
        <p14:creationId xmlns:p14="http://schemas.microsoft.com/office/powerpoint/2010/main" val="967090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57143-07F1-E5A3-D240-796879D95C7D}"/>
              </a:ext>
            </a:extLst>
          </p:cNvPr>
          <p:cNvSpPr>
            <a:spLocks noGrp="1"/>
          </p:cNvSpPr>
          <p:nvPr>
            <p:ph type="title"/>
          </p:nvPr>
        </p:nvSpPr>
        <p:spPr/>
        <p:txBody>
          <a:bodyPr/>
          <a:lstStyle/>
          <a:p>
            <a:r>
              <a:rPr lang="en-US" dirty="0"/>
              <a:t>LAB 1A: Applying measures of central tendency to a copper wire production dataset</a:t>
            </a:r>
            <a:endParaRPr lang="en-MY" dirty="0"/>
          </a:p>
        </p:txBody>
      </p:sp>
      <p:sp>
        <p:nvSpPr>
          <p:cNvPr id="3" name="Content Placeholder 2">
            <a:extLst>
              <a:ext uri="{FF2B5EF4-FFF2-40B4-BE49-F238E27FC236}">
                <a16:creationId xmlns:a16="http://schemas.microsoft.com/office/drawing/2014/main" id="{3F6E6C1D-CF96-1790-4705-EB7F815E50B4}"/>
              </a:ext>
            </a:extLst>
          </p:cNvPr>
          <p:cNvSpPr>
            <a:spLocks noGrp="1"/>
          </p:cNvSpPr>
          <p:nvPr>
            <p:ph idx="1"/>
          </p:nvPr>
        </p:nvSpPr>
        <p:spPr/>
        <p:txBody>
          <a:bodyPr>
            <a:normAutofit fontScale="62500" lnSpcReduction="20000"/>
          </a:bodyPr>
          <a:lstStyle/>
          <a:p>
            <a:pPr marL="0" indent="0">
              <a:buNone/>
            </a:pPr>
            <a:r>
              <a:rPr lang="en-US" sz="1800" dirty="0"/>
              <a:t>Credits to Oscar, </a:t>
            </a:r>
            <a:r>
              <a:rPr lang="en-US" sz="1800" dirty="0">
                <a:hlinkClick r:id="rId2"/>
              </a:rPr>
              <a:t>Kaggle (2021)</a:t>
            </a:r>
            <a:endParaRPr lang="en-US" sz="1800" dirty="0"/>
          </a:p>
          <a:p>
            <a:pPr marL="0" indent="0">
              <a:buNone/>
            </a:pPr>
            <a:r>
              <a:rPr lang="en-US" b="1" dirty="0"/>
              <a:t>Context</a:t>
            </a:r>
          </a:p>
          <a:p>
            <a:pPr marL="0" indent="0">
              <a:buNone/>
            </a:pPr>
            <a:r>
              <a:rPr lang="en-US" dirty="0"/>
              <a:t>This dataset was taken from a copper production line in November 2020. The purpose of the job was to find the root cause of an increasing number of defects in a copper production line.</a:t>
            </a:r>
          </a:p>
          <a:p>
            <a:pPr marL="0" indent="0">
              <a:buNone/>
            </a:pPr>
            <a:endParaRPr lang="en-US" dirty="0"/>
          </a:p>
          <a:p>
            <a:pPr marL="0" indent="0">
              <a:buNone/>
            </a:pPr>
            <a:r>
              <a:rPr lang="en-US" b="1" dirty="0"/>
              <a:t>Content</a:t>
            </a:r>
          </a:p>
          <a:p>
            <a:pPr marL="0" indent="0">
              <a:buNone/>
            </a:pPr>
            <a:r>
              <a:rPr lang="en-US" dirty="0"/>
              <a:t>The data includes the dates and shifts for each inspection, the type of defect, and the production downtime in minutes per type of defect. This file compiles all the failures in a copper wire production line for 1 month.</a:t>
            </a:r>
          </a:p>
          <a:p>
            <a:pPr marL="0" indent="0">
              <a:buNone/>
            </a:pPr>
            <a:endParaRPr lang="en-US" dirty="0"/>
          </a:p>
          <a:p>
            <a:pPr marL="0" indent="0">
              <a:buNone/>
            </a:pPr>
            <a:r>
              <a:rPr lang="en-US" b="1" dirty="0"/>
              <a:t>Metadata (definition)</a:t>
            </a:r>
          </a:p>
          <a:p>
            <a:r>
              <a:rPr lang="en-US" dirty="0"/>
              <a:t>Machine: machine number used – all machines are the same type</a:t>
            </a:r>
          </a:p>
          <a:p>
            <a:r>
              <a:rPr lang="en-US" dirty="0"/>
              <a:t>Shift: AM, PM</a:t>
            </a:r>
          </a:p>
          <a:p>
            <a:r>
              <a:rPr lang="en-US" dirty="0"/>
              <a:t>Cable failures: Failures specifically related to cable breaking while spinning it</a:t>
            </a:r>
          </a:p>
          <a:p>
            <a:r>
              <a:rPr lang="en-US" dirty="0"/>
              <a:t>Downtime: time lost in minutes</a:t>
            </a:r>
          </a:p>
          <a:p>
            <a:pPr marL="0" indent="0">
              <a:buNone/>
            </a:pPr>
            <a:endParaRPr lang="en-US" dirty="0"/>
          </a:p>
        </p:txBody>
      </p:sp>
      <p:sp>
        <p:nvSpPr>
          <p:cNvPr id="4" name="Slide Number Placeholder 3">
            <a:extLst>
              <a:ext uri="{FF2B5EF4-FFF2-40B4-BE49-F238E27FC236}">
                <a16:creationId xmlns:a16="http://schemas.microsoft.com/office/drawing/2014/main" id="{F7ECC6B7-7D51-ECC2-058B-11E6F8D59A72}"/>
              </a:ext>
            </a:extLst>
          </p:cNvPr>
          <p:cNvSpPr>
            <a:spLocks noGrp="1"/>
          </p:cNvSpPr>
          <p:nvPr>
            <p:ph type="sldNum" sz="quarter" idx="12"/>
          </p:nvPr>
        </p:nvSpPr>
        <p:spPr/>
        <p:txBody>
          <a:bodyPr/>
          <a:lstStyle/>
          <a:p>
            <a:fld id="{499D393E-937C-43AF-8286-1304B3D101C1}" type="slidenum">
              <a:rPr lang="en-MY" smtClean="0"/>
              <a:t>16</a:t>
            </a:fld>
            <a:endParaRPr lang="en-MY"/>
          </a:p>
        </p:txBody>
      </p:sp>
    </p:spTree>
    <p:extLst>
      <p:ext uri="{BB962C8B-B14F-4D97-AF65-F5344CB8AC3E}">
        <p14:creationId xmlns:p14="http://schemas.microsoft.com/office/powerpoint/2010/main" val="1746881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18F4544A-E768-BA15-63D3-09085103C5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63FDB7-A7FC-AB2A-DF52-AD45C4C73E9A}"/>
              </a:ext>
            </a:extLst>
          </p:cNvPr>
          <p:cNvSpPr>
            <a:spLocks noGrp="1"/>
          </p:cNvSpPr>
          <p:nvPr>
            <p:ph type="title"/>
          </p:nvPr>
        </p:nvSpPr>
        <p:spPr/>
        <p:txBody>
          <a:bodyPr/>
          <a:lstStyle/>
          <a:p>
            <a:r>
              <a:rPr lang="en-US" dirty="0"/>
              <a:t>LAB 1A: Applying measures of central tendency to a copper wire production dataset</a:t>
            </a:r>
            <a:endParaRPr lang="en-MY" dirty="0"/>
          </a:p>
        </p:txBody>
      </p:sp>
      <p:sp>
        <p:nvSpPr>
          <p:cNvPr id="3" name="Content Placeholder 2">
            <a:extLst>
              <a:ext uri="{FF2B5EF4-FFF2-40B4-BE49-F238E27FC236}">
                <a16:creationId xmlns:a16="http://schemas.microsoft.com/office/drawing/2014/main" id="{485C1850-DE38-4818-C719-7A988B49AC02}"/>
              </a:ext>
            </a:extLst>
          </p:cNvPr>
          <p:cNvSpPr>
            <a:spLocks noGrp="1"/>
          </p:cNvSpPr>
          <p:nvPr>
            <p:ph idx="1"/>
          </p:nvPr>
        </p:nvSpPr>
        <p:spPr/>
        <p:txBody>
          <a:bodyPr>
            <a:normAutofit fontScale="70000" lnSpcReduction="20000"/>
          </a:bodyPr>
          <a:lstStyle/>
          <a:p>
            <a:pPr marL="0" indent="0">
              <a:buNone/>
            </a:pPr>
            <a:r>
              <a:rPr lang="en-US" b="1" dirty="0"/>
              <a:t>Your task</a:t>
            </a:r>
          </a:p>
          <a:p>
            <a:pPr marL="0" indent="0">
              <a:buNone/>
            </a:pPr>
            <a:r>
              <a:rPr lang="en-US" dirty="0"/>
              <a:t>As a business analyst, your task is to understand the main root cause of process failures by distinguishing the contributions from different sources: human related failure (operators and supervised vs unsupervised work, there are no supervisors on weekends), machine related failure (one machine failing more than others), raw material failure (related to cable failures) and other factors included in the other category.</a:t>
            </a:r>
          </a:p>
          <a:p>
            <a:pPr marL="0" indent="0">
              <a:buNone/>
            </a:pPr>
            <a:endParaRPr lang="en-US" dirty="0"/>
          </a:p>
          <a:p>
            <a:pPr marL="0" indent="0">
              <a:buNone/>
            </a:pPr>
            <a:r>
              <a:rPr lang="en-US" b="1" dirty="0"/>
              <a:t>Technical brief</a:t>
            </a:r>
          </a:p>
          <a:p>
            <a:r>
              <a:rPr lang="en-US" dirty="0"/>
              <a:t>Create the following DAX measures</a:t>
            </a:r>
          </a:p>
          <a:p>
            <a:pPr lvl="1"/>
            <a:r>
              <a:rPr lang="en-US" dirty="0"/>
              <a:t>Avg of cable failure downtime</a:t>
            </a:r>
          </a:p>
          <a:p>
            <a:pPr lvl="1"/>
            <a:r>
              <a:rPr lang="en-US" dirty="0"/>
              <a:t>Median of cable failure downtime</a:t>
            </a:r>
          </a:p>
          <a:p>
            <a:pPr lvl="1"/>
            <a:r>
              <a:rPr lang="en-US" dirty="0"/>
              <a:t>Max of cable failure downtime</a:t>
            </a:r>
          </a:p>
          <a:p>
            <a:pPr lvl="1"/>
            <a:r>
              <a:rPr lang="en-US" dirty="0"/>
              <a:t>Non-zero Min of cable failure downtime</a:t>
            </a:r>
          </a:p>
          <a:p>
            <a:pPr marL="457200" lvl="1" indent="0">
              <a:buNone/>
            </a:pPr>
            <a:endParaRPr lang="en-US" dirty="0"/>
          </a:p>
          <a:p>
            <a:pPr marL="0" indent="0">
              <a:buNone/>
            </a:pPr>
            <a:r>
              <a:rPr lang="en-US" sz="2000" i="1" dirty="0"/>
              <a:t>Note: When dealing with a lot of DAX codes, it is advisable to create measures folder simply by first create a blank table from Home &gt; Enter data</a:t>
            </a:r>
          </a:p>
          <a:p>
            <a:pPr lvl="1"/>
            <a:endParaRPr lang="en-US" dirty="0"/>
          </a:p>
          <a:p>
            <a:pPr lvl="1"/>
            <a:endParaRPr lang="en-US" dirty="0"/>
          </a:p>
          <a:p>
            <a:pPr marL="0" indent="0">
              <a:buNone/>
            </a:pPr>
            <a:endParaRPr lang="en-US" dirty="0"/>
          </a:p>
          <a:p>
            <a:pPr marL="0" indent="0">
              <a:buNone/>
            </a:pPr>
            <a:endParaRPr lang="en-MY" dirty="0"/>
          </a:p>
        </p:txBody>
      </p:sp>
      <p:sp>
        <p:nvSpPr>
          <p:cNvPr id="4" name="Slide Number Placeholder 3">
            <a:extLst>
              <a:ext uri="{FF2B5EF4-FFF2-40B4-BE49-F238E27FC236}">
                <a16:creationId xmlns:a16="http://schemas.microsoft.com/office/drawing/2014/main" id="{9DD2272F-D863-9E6F-E24D-19C31BB37C15}"/>
              </a:ext>
            </a:extLst>
          </p:cNvPr>
          <p:cNvSpPr>
            <a:spLocks noGrp="1"/>
          </p:cNvSpPr>
          <p:nvPr>
            <p:ph type="sldNum" sz="quarter" idx="12"/>
          </p:nvPr>
        </p:nvSpPr>
        <p:spPr/>
        <p:txBody>
          <a:bodyPr/>
          <a:lstStyle/>
          <a:p>
            <a:fld id="{499D393E-937C-43AF-8286-1304B3D101C1}" type="slidenum">
              <a:rPr lang="en-MY" smtClean="0"/>
              <a:t>17</a:t>
            </a:fld>
            <a:endParaRPr lang="en-MY"/>
          </a:p>
        </p:txBody>
      </p:sp>
    </p:spTree>
    <p:extLst>
      <p:ext uri="{BB962C8B-B14F-4D97-AF65-F5344CB8AC3E}">
        <p14:creationId xmlns:p14="http://schemas.microsoft.com/office/powerpoint/2010/main" val="947326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D4B76C4A-522E-7027-A856-180EBA7487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663441-2B0A-A04F-14ED-6FBEC39DA0FC}"/>
              </a:ext>
            </a:extLst>
          </p:cNvPr>
          <p:cNvSpPr>
            <a:spLocks noGrp="1"/>
          </p:cNvSpPr>
          <p:nvPr>
            <p:ph type="title"/>
          </p:nvPr>
        </p:nvSpPr>
        <p:spPr/>
        <p:txBody>
          <a:bodyPr/>
          <a:lstStyle/>
          <a:p>
            <a:r>
              <a:rPr lang="en-US" dirty="0"/>
              <a:t>LAB 1A: Applying measures of central tendency to a copper wire production dataset</a:t>
            </a:r>
            <a:endParaRPr lang="en-MY" dirty="0"/>
          </a:p>
        </p:txBody>
      </p:sp>
      <p:sp>
        <p:nvSpPr>
          <p:cNvPr id="3" name="Content Placeholder 2">
            <a:extLst>
              <a:ext uri="{FF2B5EF4-FFF2-40B4-BE49-F238E27FC236}">
                <a16:creationId xmlns:a16="http://schemas.microsoft.com/office/drawing/2014/main" id="{F1996E07-BC42-AD6F-499A-43DD6FC5E1BB}"/>
              </a:ext>
            </a:extLst>
          </p:cNvPr>
          <p:cNvSpPr>
            <a:spLocks noGrp="1"/>
          </p:cNvSpPr>
          <p:nvPr>
            <p:ph idx="1"/>
          </p:nvPr>
        </p:nvSpPr>
        <p:spPr/>
        <p:txBody>
          <a:bodyPr>
            <a:normAutofit/>
          </a:bodyPr>
          <a:lstStyle/>
          <a:p>
            <a:pPr marL="0" indent="0">
              <a:buNone/>
            </a:pPr>
            <a:r>
              <a:rPr lang="en-US" b="1" dirty="0"/>
              <a:t>Discussion</a:t>
            </a:r>
          </a:p>
          <a:p>
            <a:pPr marL="514350" indent="-514350">
              <a:buAutoNum type="arabicPeriod"/>
            </a:pPr>
            <a:r>
              <a:rPr lang="en-US" dirty="0"/>
              <a:t>What other areas can be </a:t>
            </a:r>
            <a:r>
              <a:rPr lang="en-US" dirty="0" err="1"/>
              <a:t>analysed</a:t>
            </a:r>
            <a:r>
              <a:rPr lang="en-US" dirty="0"/>
              <a:t> from the given dataset?</a:t>
            </a:r>
          </a:p>
          <a:p>
            <a:pPr marL="514350" indent="-514350">
              <a:buAutoNum type="arabicPeriod"/>
            </a:pPr>
            <a:r>
              <a:rPr lang="en-US" dirty="0"/>
              <a:t>What can be communicated to stakeholders to obtain clearer insights?</a:t>
            </a:r>
          </a:p>
          <a:p>
            <a:pPr marL="0" indent="0">
              <a:buNone/>
            </a:pPr>
            <a:endParaRPr lang="en-MY" dirty="0"/>
          </a:p>
        </p:txBody>
      </p:sp>
      <p:sp>
        <p:nvSpPr>
          <p:cNvPr id="4" name="Slide Number Placeholder 3">
            <a:extLst>
              <a:ext uri="{FF2B5EF4-FFF2-40B4-BE49-F238E27FC236}">
                <a16:creationId xmlns:a16="http://schemas.microsoft.com/office/drawing/2014/main" id="{885AC57A-576F-4185-C038-62A50E5BC579}"/>
              </a:ext>
            </a:extLst>
          </p:cNvPr>
          <p:cNvSpPr>
            <a:spLocks noGrp="1"/>
          </p:cNvSpPr>
          <p:nvPr>
            <p:ph type="sldNum" sz="quarter" idx="12"/>
          </p:nvPr>
        </p:nvSpPr>
        <p:spPr/>
        <p:txBody>
          <a:bodyPr/>
          <a:lstStyle/>
          <a:p>
            <a:fld id="{499D393E-937C-43AF-8286-1304B3D101C1}" type="slidenum">
              <a:rPr lang="en-MY" smtClean="0"/>
              <a:t>18</a:t>
            </a:fld>
            <a:endParaRPr lang="en-MY"/>
          </a:p>
        </p:txBody>
      </p:sp>
    </p:spTree>
    <p:extLst>
      <p:ext uri="{BB962C8B-B14F-4D97-AF65-F5344CB8AC3E}">
        <p14:creationId xmlns:p14="http://schemas.microsoft.com/office/powerpoint/2010/main" val="1795652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63524B-5FEE-971B-EE48-ED7963DE9670}"/>
              </a:ext>
            </a:extLst>
          </p:cNvPr>
          <p:cNvSpPr>
            <a:spLocks noGrp="1"/>
          </p:cNvSpPr>
          <p:nvPr>
            <p:ph type="title"/>
          </p:nvPr>
        </p:nvSpPr>
        <p:spPr>
          <a:xfrm>
            <a:off x="841248" y="256032"/>
            <a:ext cx="10506456" cy="1014984"/>
          </a:xfrm>
        </p:spPr>
        <p:txBody>
          <a:bodyPr anchor="b">
            <a:normAutofit/>
          </a:bodyPr>
          <a:lstStyle/>
          <a:p>
            <a:r>
              <a:rPr lang="en-US"/>
              <a:t>Regression analysis (</a:t>
            </a:r>
            <a:r>
              <a:rPr lang="cy-GB"/>
              <a:t>ŷ</a:t>
            </a:r>
            <a:r>
              <a:rPr lang="en-US"/>
              <a:t>)</a:t>
            </a:r>
            <a:endParaRPr lang="en-MY" dirty="0"/>
          </a:p>
        </p:txBody>
      </p:sp>
      <p:sp>
        <p:nvSpPr>
          <p:cNvPr id="22" name="Rectangle 21">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4" name="Content Placeholder 2">
            <a:extLst>
              <a:ext uri="{FF2B5EF4-FFF2-40B4-BE49-F238E27FC236}">
                <a16:creationId xmlns:a16="http://schemas.microsoft.com/office/drawing/2014/main" id="{EA1B55E7-DC79-ACAC-D658-914825A4891E}"/>
              </a:ext>
            </a:extLst>
          </p:cNvPr>
          <p:cNvGraphicFramePr>
            <a:graphicFrameLocks noGrp="1"/>
          </p:cNvGraphicFramePr>
          <p:nvPr>
            <p:ph idx="1"/>
            <p:extLst>
              <p:ext uri="{D42A27DB-BD31-4B8C-83A1-F6EECF244321}">
                <p14:modId xmlns:p14="http://schemas.microsoft.com/office/powerpoint/2010/main" val="3651595996"/>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45958FD7-E141-6979-4AAF-3CF9C72A91A4}"/>
              </a:ext>
            </a:extLst>
          </p:cNvPr>
          <p:cNvSpPr>
            <a:spLocks noGrp="1"/>
          </p:cNvSpPr>
          <p:nvPr>
            <p:ph type="sldNum" sz="quarter" idx="12"/>
          </p:nvPr>
        </p:nvSpPr>
        <p:spPr/>
        <p:txBody>
          <a:bodyPr/>
          <a:lstStyle/>
          <a:p>
            <a:fld id="{499D393E-937C-43AF-8286-1304B3D101C1}" type="slidenum">
              <a:rPr lang="en-MY" smtClean="0"/>
              <a:t>19</a:t>
            </a:fld>
            <a:endParaRPr lang="en-MY"/>
          </a:p>
        </p:txBody>
      </p:sp>
    </p:spTree>
    <p:extLst>
      <p:ext uri="{BB962C8B-B14F-4D97-AF65-F5344CB8AC3E}">
        <p14:creationId xmlns:p14="http://schemas.microsoft.com/office/powerpoint/2010/main" val="30275293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148F29-1813-566B-ACCB-FADA5B9BE51C}"/>
              </a:ext>
            </a:extLst>
          </p:cNvPr>
          <p:cNvSpPr>
            <a:spLocks noGrp="1"/>
          </p:cNvSpPr>
          <p:nvPr>
            <p:ph type="title"/>
          </p:nvPr>
        </p:nvSpPr>
        <p:spPr>
          <a:xfrm>
            <a:off x="761800" y="762001"/>
            <a:ext cx="5334197" cy="1708242"/>
          </a:xfrm>
        </p:spPr>
        <p:txBody>
          <a:bodyPr anchor="ctr">
            <a:normAutofit/>
          </a:bodyPr>
          <a:lstStyle/>
          <a:p>
            <a:r>
              <a:rPr lang="en-US" sz="4000"/>
              <a:t>Simple Linear Regression Model</a:t>
            </a:r>
            <a:endParaRPr lang="en-MY" sz="4000"/>
          </a:p>
        </p:txBody>
      </p:sp>
      <p:sp>
        <p:nvSpPr>
          <p:cNvPr id="3" name="Content Placeholder 2">
            <a:extLst>
              <a:ext uri="{FF2B5EF4-FFF2-40B4-BE49-F238E27FC236}">
                <a16:creationId xmlns:a16="http://schemas.microsoft.com/office/drawing/2014/main" id="{7679DEE2-F785-19C8-6D5E-B84027D25A43}"/>
              </a:ext>
            </a:extLst>
          </p:cNvPr>
          <p:cNvSpPr>
            <a:spLocks noGrp="1"/>
          </p:cNvSpPr>
          <p:nvPr>
            <p:ph idx="1"/>
          </p:nvPr>
        </p:nvSpPr>
        <p:spPr>
          <a:xfrm>
            <a:off x="761800" y="2470244"/>
            <a:ext cx="5334197" cy="3769835"/>
          </a:xfrm>
        </p:spPr>
        <p:txBody>
          <a:bodyPr anchor="ctr">
            <a:normAutofit/>
          </a:bodyPr>
          <a:lstStyle/>
          <a:p>
            <a:r>
              <a:rPr lang="en-US" sz="2000"/>
              <a:t>Simple linear regression is a statistical method that allows us to summarize and study relationships between two continuous (quantitative) variables:</a:t>
            </a:r>
          </a:p>
          <a:p>
            <a:pPr lvl="1"/>
            <a:r>
              <a:rPr lang="en-US" sz="2000"/>
              <a:t>Independent variable, x (aka predictor, explanatory)</a:t>
            </a:r>
          </a:p>
          <a:p>
            <a:pPr lvl="1"/>
            <a:r>
              <a:rPr lang="en-US" sz="2000"/>
              <a:t>Dependent variable, y (aka response, outcome)</a:t>
            </a:r>
          </a:p>
          <a:p>
            <a:r>
              <a:rPr lang="en-US" sz="2000"/>
              <a:t>Simple linear regression gets its adjective "simple," because it concerns the study of only one predictor variable.</a:t>
            </a:r>
            <a:endParaRPr lang="en-MY" sz="2000"/>
          </a:p>
        </p:txBody>
      </p:sp>
      <p:pic>
        <p:nvPicPr>
          <p:cNvPr id="5" name="Picture 4" descr="A calculus formula">
            <a:extLst>
              <a:ext uri="{FF2B5EF4-FFF2-40B4-BE49-F238E27FC236}">
                <a16:creationId xmlns:a16="http://schemas.microsoft.com/office/drawing/2014/main" id="{5364C30C-3D91-9A64-2E41-43EE4F94C8A8}"/>
              </a:ext>
            </a:extLst>
          </p:cNvPr>
          <p:cNvPicPr>
            <a:picLocks noChangeAspect="1"/>
          </p:cNvPicPr>
          <p:nvPr/>
        </p:nvPicPr>
        <p:blipFill>
          <a:blip r:embed="rId2"/>
          <a:srcRect l="21060" r="27104"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
        <p:nvSpPr>
          <p:cNvPr id="4" name="Slide Number Placeholder 3">
            <a:extLst>
              <a:ext uri="{FF2B5EF4-FFF2-40B4-BE49-F238E27FC236}">
                <a16:creationId xmlns:a16="http://schemas.microsoft.com/office/drawing/2014/main" id="{06110929-8A02-397A-6F3F-0181DEFCE114}"/>
              </a:ext>
            </a:extLst>
          </p:cNvPr>
          <p:cNvSpPr>
            <a:spLocks noGrp="1"/>
          </p:cNvSpPr>
          <p:nvPr>
            <p:ph type="sldNum" sz="quarter" idx="12"/>
          </p:nvPr>
        </p:nvSpPr>
        <p:spPr/>
        <p:txBody>
          <a:bodyPr/>
          <a:lstStyle/>
          <a:p>
            <a:fld id="{499D393E-937C-43AF-8286-1304B3D101C1}" type="slidenum">
              <a:rPr lang="en-MY" smtClean="0"/>
              <a:t>20</a:t>
            </a:fld>
            <a:endParaRPr lang="en-MY"/>
          </a:p>
        </p:txBody>
      </p:sp>
    </p:spTree>
    <p:extLst>
      <p:ext uri="{BB962C8B-B14F-4D97-AF65-F5344CB8AC3E}">
        <p14:creationId xmlns:p14="http://schemas.microsoft.com/office/powerpoint/2010/main" val="9578110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a:extLst>
            <a:ext uri="{FF2B5EF4-FFF2-40B4-BE49-F238E27FC236}">
              <a16:creationId xmlns:a16="http://schemas.microsoft.com/office/drawing/2014/main" id="{E8781138-8030-D770-ECA1-C53F9CDA3F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974B44-FF4E-4B2A-D2D5-3BDADB9DC887}"/>
              </a:ext>
            </a:extLst>
          </p:cNvPr>
          <p:cNvSpPr>
            <a:spLocks noGrp="1"/>
          </p:cNvSpPr>
          <p:nvPr>
            <p:ph type="title"/>
          </p:nvPr>
        </p:nvSpPr>
        <p:spPr/>
        <p:txBody>
          <a:bodyPr/>
          <a:lstStyle/>
          <a:p>
            <a:r>
              <a:rPr lang="en-US" dirty="0"/>
              <a:t>Simple Linear Regression Equation</a:t>
            </a:r>
            <a:endParaRPr lang="en-MY" dirty="0"/>
          </a:p>
        </p:txBody>
      </p:sp>
      <p:sp>
        <p:nvSpPr>
          <p:cNvPr id="9" name="Content Placeholder 8">
            <a:extLst>
              <a:ext uri="{FF2B5EF4-FFF2-40B4-BE49-F238E27FC236}">
                <a16:creationId xmlns:a16="http://schemas.microsoft.com/office/drawing/2014/main" id="{C31B524D-3B00-E105-577C-19C59B210476}"/>
              </a:ext>
            </a:extLst>
          </p:cNvPr>
          <p:cNvSpPr>
            <a:spLocks noGrp="1"/>
          </p:cNvSpPr>
          <p:nvPr>
            <p:ph idx="1"/>
          </p:nvPr>
        </p:nvSpPr>
        <p:spPr>
          <a:xfrm>
            <a:off x="5968180" y="1413689"/>
            <a:ext cx="5385619" cy="4763273"/>
          </a:xfrm>
        </p:spPr>
        <p:txBody>
          <a:bodyPr>
            <a:normAutofit/>
          </a:bodyPr>
          <a:lstStyle/>
          <a:p>
            <a:r>
              <a:rPr lang="en-US" dirty="0"/>
              <a:t>The formula contains an error term </a:t>
            </a:r>
            <a:r>
              <a:rPr lang="en-US" sz="2800" dirty="0"/>
              <a:t>(</a:t>
            </a:r>
            <a:r>
              <a:rPr lang="en-MY" sz="2800" dirty="0"/>
              <a:t>𝜀) but is often ignored (in business practice) because the prediction model focuses on </a:t>
            </a:r>
            <a:r>
              <a:rPr lang="en-MY" sz="2800" b="1" dirty="0"/>
              <a:t>expected value of y</a:t>
            </a:r>
            <a:r>
              <a:rPr lang="en-MY" sz="2800" dirty="0"/>
              <a:t> given x</a:t>
            </a:r>
          </a:p>
          <a:p>
            <a:r>
              <a:rPr lang="en-MY" dirty="0"/>
              <a:t>When a linear correlation is established, simple regression model is a powerful predictive tool</a:t>
            </a:r>
          </a:p>
          <a:p>
            <a:pPr lvl="1"/>
            <a:r>
              <a:rPr lang="en-MY" dirty="0"/>
              <a:t>E.g.: what is the projected revenue in Q3Y25 given there are similar trends for the past 6 quarters?</a:t>
            </a:r>
          </a:p>
        </p:txBody>
      </p:sp>
      <p:pic>
        <p:nvPicPr>
          <p:cNvPr id="10" name="Picture 9">
            <a:extLst>
              <a:ext uri="{FF2B5EF4-FFF2-40B4-BE49-F238E27FC236}">
                <a16:creationId xmlns:a16="http://schemas.microsoft.com/office/drawing/2014/main" id="{2AAC4C17-CC94-02C2-EDAB-F45952253442}"/>
              </a:ext>
            </a:extLst>
          </p:cNvPr>
          <p:cNvPicPr>
            <a:picLocks noChangeAspect="1"/>
          </p:cNvPicPr>
          <p:nvPr/>
        </p:nvPicPr>
        <p:blipFill>
          <a:blip r:embed="rId2"/>
          <a:stretch>
            <a:fillRect/>
          </a:stretch>
        </p:blipFill>
        <p:spPr>
          <a:xfrm>
            <a:off x="948406" y="1413689"/>
            <a:ext cx="4497336" cy="4082752"/>
          </a:xfrm>
          <a:prstGeom prst="rect">
            <a:avLst/>
          </a:prstGeom>
        </p:spPr>
      </p:pic>
      <p:sp>
        <p:nvSpPr>
          <p:cNvPr id="11" name="TextBox 10">
            <a:extLst>
              <a:ext uri="{FF2B5EF4-FFF2-40B4-BE49-F238E27FC236}">
                <a16:creationId xmlns:a16="http://schemas.microsoft.com/office/drawing/2014/main" id="{FDA75F61-ED29-BEF4-DA1F-FD413C6E2843}"/>
              </a:ext>
            </a:extLst>
          </p:cNvPr>
          <p:cNvSpPr txBox="1"/>
          <p:nvPr/>
        </p:nvSpPr>
        <p:spPr>
          <a:xfrm>
            <a:off x="948405" y="5496441"/>
            <a:ext cx="4497337" cy="646331"/>
          </a:xfrm>
          <a:prstGeom prst="rect">
            <a:avLst/>
          </a:prstGeom>
          <a:noFill/>
        </p:spPr>
        <p:txBody>
          <a:bodyPr wrap="square" rtlCol="0">
            <a:spAutoFit/>
          </a:bodyPr>
          <a:lstStyle/>
          <a:p>
            <a:r>
              <a:rPr lang="en-US" sz="1200" i="1" dirty="0"/>
              <a:t>SST (sum of squares total), SSR (sum of squares regression or sum of squares mean), and (</a:t>
            </a:r>
            <a:r>
              <a:rPr lang="en-MY" sz="1200" i="1" dirty="0"/>
              <a:t>𝜀) would not be covered in-depth in this course</a:t>
            </a:r>
          </a:p>
        </p:txBody>
      </p:sp>
      <p:sp>
        <p:nvSpPr>
          <p:cNvPr id="3" name="Slide Number Placeholder 2">
            <a:extLst>
              <a:ext uri="{FF2B5EF4-FFF2-40B4-BE49-F238E27FC236}">
                <a16:creationId xmlns:a16="http://schemas.microsoft.com/office/drawing/2014/main" id="{BA0D4803-07E1-53E5-1A0B-5A9402EB1E12}"/>
              </a:ext>
            </a:extLst>
          </p:cNvPr>
          <p:cNvSpPr>
            <a:spLocks noGrp="1"/>
          </p:cNvSpPr>
          <p:nvPr>
            <p:ph type="sldNum" sz="quarter" idx="12"/>
          </p:nvPr>
        </p:nvSpPr>
        <p:spPr/>
        <p:txBody>
          <a:bodyPr/>
          <a:lstStyle/>
          <a:p>
            <a:fld id="{499D393E-937C-43AF-8286-1304B3D101C1}" type="slidenum">
              <a:rPr lang="en-MY" smtClean="0"/>
              <a:t>21</a:t>
            </a:fld>
            <a:endParaRPr lang="en-MY"/>
          </a:p>
        </p:txBody>
      </p:sp>
    </p:spTree>
    <p:extLst>
      <p:ext uri="{BB962C8B-B14F-4D97-AF65-F5344CB8AC3E}">
        <p14:creationId xmlns:p14="http://schemas.microsoft.com/office/powerpoint/2010/main" val="2325151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3D2521E5-6619-2BB7-BBAB-64AD191C6C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725FAE-E050-8533-0C5D-CFBCEC8BE896}"/>
              </a:ext>
            </a:extLst>
          </p:cNvPr>
          <p:cNvSpPr>
            <a:spLocks noGrp="1"/>
          </p:cNvSpPr>
          <p:nvPr>
            <p:ph type="title"/>
          </p:nvPr>
        </p:nvSpPr>
        <p:spPr/>
        <p:txBody>
          <a:bodyPr/>
          <a:lstStyle/>
          <a:p>
            <a:r>
              <a:rPr lang="en-US" dirty="0"/>
              <a:t>LAB 1B: Calculating simple regression model of copper wire production dataset</a:t>
            </a:r>
            <a:endParaRPr lang="en-MY" dirty="0"/>
          </a:p>
        </p:txBody>
      </p:sp>
      <p:sp>
        <p:nvSpPr>
          <p:cNvPr id="3" name="Content Placeholder 2">
            <a:extLst>
              <a:ext uri="{FF2B5EF4-FFF2-40B4-BE49-F238E27FC236}">
                <a16:creationId xmlns:a16="http://schemas.microsoft.com/office/drawing/2014/main" id="{87D72B6C-AC1B-5B23-45CA-FA0702924490}"/>
              </a:ext>
            </a:extLst>
          </p:cNvPr>
          <p:cNvSpPr>
            <a:spLocks noGrp="1"/>
          </p:cNvSpPr>
          <p:nvPr>
            <p:ph idx="1"/>
          </p:nvPr>
        </p:nvSpPr>
        <p:spPr/>
        <p:txBody>
          <a:bodyPr>
            <a:normAutofit fontScale="92500" lnSpcReduction="10000"/>
          </a:bodyPr>
          <a:lstStyle/>
          <a:p>
            <a:pPr marL="0" indent="0">
              <a:buNone/>
            </a:pPr>
            <a:r>
              <a:rPr lang="en-US" sz="1800" dirty="0"/>
              <a:t>Credits to Oscar, </a:t>
            </a:r>
            <a:r>
              <a:rPr lang="en-US" sz="1800" dirty="0">
                <a:hlinkClick r:id="rId2"/>
              </a:rPr>
              <a:t>Kaggle (2021)</a:t>
            </a:r>
            <a:endParaRPr lang="en-US" sz="1800" dirty="0"/>
          </a:p>
          <a:p>
            <a:pPr marL="0" indent="0">
              <a:buNone/>
            </a:pPr>
            <a:r>
              <a:rPr lang="en-US" b="1" dirty="0"/>
              <a:t>Context</a:t>
            </a:r>
          </a:p>
          <a:p>
            <a:pPr marL="0" indent="0">
              <a:buNone/>
            </a:pPr>
            <a:r>
              <a:rPr lang="en-US" dirty="0"/>
              <a:t>The production manager is hypothesizing the “other failures” may have a positive correlation with cable failures (e.g.: raw material failures causes the cables to break when spinning it)</a:t>
            </a:r>
          </a:p>
          <a:p>
            <a:pPr marL="0" indent="0">
              <a:buNone/>
            </a:pPr>
            <a:endParaRPr lang="en-US" dirty="0"/>
          </a:p>
          <a:p>
            <a:pPr marL="0" indent="0">
              <a:buNone/>
            </a:pPr>
            <a:r>
              <a:rPr lang="en-US" b="1" dirty="0"/>
              <a:t>Your task</a:t>
            </a:r>
          </a:p>
          <a:p>
            <a:r>
              <a:rPr lang="en-US" dirty="0"/>
              <a:t>Identify the dependent and independent variable</a:t>
            </a:r>
          </a:p>
          <a:p>
            <a:r>
              <a:rPr lang="en-US" dirty="0"/>
              <a:t>Establish a simple regression </a:t>
            </a:r>
            <a:r>
              <a:rPr lang="en-US"/>
              <a:t>model using DAX table with </a:t>
            </a:r>
            <a:r>
              <a:rPr lang="en-US" dirty="0"/>
              <a:t>LINESTX function</a:t>
            </a:r>
          </a:p>
          <a:p>
            <a:pPr marL="0" indent="0">
              <a:buNone/>
            </a:pPr>
            <a:r>
              <a:rPr lang="en-US" sz="1800" i="1" dirty="0"/>
              <a:t>Note: Further reading </a:t>
            </a:r>
            <a:r>
              <a:rPr lang="en-US" sz="1800" i="1" dirty="0">
                <a:hlinkClick r:id="rId3"/>
              </a:rPr>
              <a:t>here</a:t>
            </a:r>
            <a:endParaRPr lang="en-US" sz="1800" i="1" dirty="0"/>
          </a:p>
        </p:txBody>
      </p:sp>
      <p:sp>
        <p:nvSpPr>
          <p:cNvPr id="4" name="Slide Number Placeholder 3">
            <a:extLst>
              <a:ext uri="{FF2B5EF4-FFF2-40B4-BE49-F238E27FC236}">
                <a16:creationId xmlns:a16="http://schemas.microsoft.com/office/drawing/2014/main" id="{269A5FDB-1A49-B221-B318-D3339F2B8DED}"/>
              </a:ext>
            </a:extLst>
          </p:cNvPr>
          <p:cNvSpPr>
            <a:spLocks noGrp="1"/>
          </p:cNvSpPr>
          <p:nvPr>
            <p:ph type="sldNum" sz="quarter" idx="12"/>
          </p:nvPr>
        </p:nvSpPr>
        <p:spPr/>
        <p:txBody>
          <a:bodyPr/>
          <a:lstStyle/>
          <a:p>
            <a:fld id="{499D393E-937C-43AF-8286-1304B3D101C1}" type="slidenum">
              <a:rPr lang="en-MY" smtClean="0"/>
              <a:t>22</a:t>
            </a:fld>
            <a:endParaRPr lang="en-MY"/>
          </a:p>
        </p:txBody>
      </p:sp>
    </p:spTree>
    <p:extLst>
      <p:ext uri="{BB962C8B-B14F-4D97-AF65-F5344CB8AC3E}">
        <p14:creationId xmlns:p14="http://schemas.microsoft.com/office/powerpoint/2010/main" val="7894098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9D50C2BB-9C47-1C91-4D2B-48517ACA40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63BAB-72CB-505D-096C-A1DA13DED1AF}"/>
              </a:ext>
            </a:extLst>
          </p:cNvPr>
          <p:cNvSpPr>
            <a:spLocks noGrp="1"/>
          </p:cNvSpPr>
          <p:nvPr>
            <p:ph type="title"/>
          </p:nvPr>
        </p:nvSpPr>
        <p:spPr/>
        <p:txBody>
          <a:bodyPr/>
          <a:lstStyle/>
          <a:p>
            <a:r>
              <a:rPr lang="en-US" dirty="0"/>
              <a:t>LAB 1B: Calculating simple regression model of copper wire production dataset</a:t>
            </a:r>
            <a:endParaRPr lang="en-MY" dirty="0"/>
          </a:p>
        </p:txBody>
      </p:sp>
      <p:sp>
        <p:nvSpPr>
          <p:cNvPr id="3" name="Content Placeholder 2">
            <a:extLst>
              <a:ext uri="{FF2B5EF4-FFF2-40B4-BE49-F238E27FC236}">
                <a16:creationId xmlns:a16="http://schemas.microsoft.com/office/drawing/2014/main" id="{2B1F0106-337E-BC9D-7623-BABD29B3CA1E}"/>
              </a:ext>
            </a:extLst>
          </p:cNvPr>
          <p:cNvSpPr>
            <a:spLocks noGrp="1"/>
          </p:cNvSpPr>
          <p:nvPr>
            <p:ph idx="1"/>
          </p:nvPr>
        </p:nvSpPr>
        <p:spPr/>
        <p:txBody>
          <a:bodyPr>
            <a:normAutofit/>
          </a:bodyPr>
          <a:lstStyle/>
          <a:p>
            <a:pPr marL="0" indent="0">
              <a:buNone/>
            </a:pPr>
            <a:r>
              <a:rPr lang="en-US" b="1" dirty="0"/>
              <a:t>Discussion</a:t>
            </a:r>
          </a:p>
          <a:p>
            <a:pPr marL="514350" indent="-514350">
              <a:buFont typeface="+mj-lt"/>
              <a:buAutoNum type="arabicPeriod"/>
            </a:pPr>
            <a:r>
              <a:rPr lang="en-US" dirty="0"/>
              <a:t>With a negative slope, is this:</a:t>
            </a:r>
          </a:p>
          <a:p>
            <a:pPr marL="971550" lvl="1" indent="-514350">
              <a:buFont typeface="+mj-lt"/>
              <a:buAutoNum type="alphaLcPeriod"/>
            </a:pPr>
            <a:r>
              <a:rPr lang="en-US" dirty="0"/>
              <a:t>Direct relationship between two variables</a:t>
            </a:r>
          </a:p>
          <a:p>
            <a:pPr marL="971550" lvl="1" indent="-514350">
              <a:buFont typeface="+mj-lt"/>
              <a:buAutoNum type="alphaLcPeriod"/>
            </a:pPr>
            <a:r>
              <a:rPr lang="en-US" dirty="0"/>
              <a:t>Inverse relationship between two variables</a:t>
            </a:r>
          </a:p>
          <a:p>
            <a:pPr marL="971550" lvl="1" indent="-514350">
              <a:buFont typeface="+mj-lt"/>
              <a:buAutoNum type="alphaLcPeriod"/>
            </a:pPr>
            <a:r>
              <a:rPr lang="en-US" dirty="0"/>
              <a:t>Neither (insufficient to conclude with just slope value/gradient as information)</a:t>
            </a:r>
          </a:p>
          <a:p>
            <a:pPr marL="514350" indent="-514350">
              <a:buFont typeface="+mj-lt"/>
              <a:buAutoNum type="arabicPeriod"/>
            </a:pPr>
            <a:r>
              <a:rPr lang="en-US" dirty="0"/>
              <a:t>If the information is insufficient, what else would be required to assess the relationship between these variables?</a:t>
            </a:r>
          </a:p>
        </p:txBody>
      </p:sp>
      <p:sp>
        <p:nvSpPr>
          <p:cNvPr id="4" name="Slide Number Placeholder 3">
            <a:extLst>
              <a:ext uri="{FF2B5EF4-FFF2-40B4-BE49-F238E27FC236}">
                <a16:creationId xmlns:a16="http://schemas.microsoft.com/office/drawing/2014/main" id="{06C7DD74-9BF2-5A9F-A2B7-B9A9C9D3A210}"/>
              </a:ext>
            </a:extLst>
          </p:cNvPr>
          <p:cNvSpPr>
            <a:spLocks noGrp="1"/>
          </p:cNvSpPr>
          <p:nvPr>
            <p:ph type="sldNum" sz="quarter" idx="12"/>
          </p:nvPr>
        </p:nvSpPr>
        <p:spPr/>
        <p:txBody>
          <a:bodyPr/>
          <a:lstStyle/>
          <a:p>
            <a:fld id="{499D393E-937C-43AF-8286-1304B3D101C1}" type="slidenum">
              <a:rPr lang="en-MY" smtClean="0"/>
              <a:t>23</a:t>
            </a:fld>
            <a:endParaRPr lang="en-MY"/>
          </a:p>
        </p:txBody>
      </p:sp>
    </p:spTree>
    <p:extLst>
      <p:ext uri="{BB962C8B-B14F-4D97-AF65-F5344CB8AC3E}">
        <p14:creationId xmlns:p14="http://schemas.microsoft.com/office/powerpoint/2010/main" val="33853828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D60A63-33CD-9A7C-BD2D-A6D1E79558B9}"/>
                  </a:ext>
                </a:extLst>
              </p:cNvPr>
              <p:cNvSpPr>
                <a:spLocks noGrp="1"/>
              </p:cNvSpPr>
              <p:nvPr>
                <p:ph type="title"/>
              </p:nvPr>
            </p:nvSpPr>
            <p:spPr/>
            <p:txBody>
              <a:bodyPr/>
              <a:lstStyle/>
              <a:p>
                <a:r>
                  <a:rPr lang="en-US" dirty="0"/>
                  <a:t>Coefficient of determinant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r>
                  <a:rPr lang="en-MY" dirty="0"/>
                  <a:t>)</a:t>
                </a:r>
              </a:p>
            </p:txBody>
          </p:sp>
        </mc:Choice>
        <mc:Fallback xmlns="">
          <p:sp>
            <p:nvSpPr>
              <p:cNvPr id="2" name="Title 1">
                <a:extLst>
                  <a:ext uri="{FF2B5EF4-FFF2-40B4-BE49-F238E27FC236}">
                    <a16:creationId xmlns:a16="http://schemas.microsoft.com/office/drawing/2014/main" id="{CDD60A63-33CD-9A7C-BD2D-A6D1E79558B9}"/>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MY">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069A3D-6942-E596-385A-D98D902C91C2}"/>
                  </a:ext>
                </a:extLst>
              </p:cNvPr>
              <p:cNvSpPr>
                <a:spLocks noGrp="1"/>
              </p:cNvSpPr>
              <p:nvPr>
                <p:ph idx="1"/>
              </p:nvPr>
            </p:nvSpPr>
            <p:spPr/>
            <p:txBody>
              <a:bodyPr>
                <a:normAutofit fontScale="92500"/>
              </a:bodyPr>
              <a:lstStyle/>
              <a:p>
                <a:r>
                  <a:rPr lang="en-US" dirty="0"/>
                  <a:t>The </a:t>
                </a:r>
                <a:r>
                  <a:rPr lang="en-US" b="1" dirty="0"/>
                  <a:t>coefficient of determinant</a:t>
                </a:r>
                <a:r>
                  <a:rPr lang="en-US" dirty="0"/>
                  <a: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r>
                  <a:rPr lang="en-US" dirty="0"/>
                  <a:t>) is a statistical measure that indicates how well a model fits a set of data</a:t>
                </a:r>
              </a:p>
              <a:p>
                <a:r>
                  <a:rPr lang="en-US" dirty="0"/>
                  <a:t>It quantifies the proportion of the variance in the dependent variable that is explained by the independent variable(s) in a regression model</a:t>
                </a:r>
              </a:p>
              <a:p>
                <a:r>
                  <a:rPr lang="en-US" dirty="0"/>
                  <a:t>In simpler terms, it tells you how much of the variation in the outcome you're trying to predict is explained by your model</a:t>
                </a:r>
              </a:p>
              <a:p>
                <a:r>
                  <a:rPr lang="en-US" b="1" dirty="0"/>
                  <a:t>A higher R² indicates that the model is more likely to make accurate predictions</a:t>
                </a:r>
              </a:p>
              <a:p>
                <a:pPr lvl="1"/>
                <a:r>
                  <a:rPr lang="en-US" dirty="0"/>
                  <a:t>If a model has an R² of 0.75, it means that 75% of the variation in the dependent variable can be explained by the independent variable(s) in the model</a:t>
                </a:r>
                <a:endParaRPr lang="en-MY" dirty="0"/>
              </a:p>
            </p:txBody>
          </p:sp>
        </mc:Choice>
        <mc:Fallback xmlns="">
          <p:sp>
            <p:nvSpPr>
              <p:cNvPr id="3" name="Content Placeholder 2">
                <a:extLst>
                  <a:ext uri="{FF2B5EF4-FFF2-40B4-BE49-F238E27FC236}">
                    <a16:creationId xmlns:a16="http://schemas.microsoft.com/office/drawing/2014/main" id="{2A069A3D-6942-E596-385A-D98D902C91C2}"/>
                  </a:ext>
                </a:extLst>
              </p:cNvPr>
              <p:cNvSpPr>
                <a:spLocks noGrp="1" noRot="1" noChangeAspect="1" noMove="1" noResize="1" noEditPoints="1" noAdjustHandles="1" noChangeArrowheads="1" noChangeShapeType="1" noTextEdit="1"/>
              </p:cNvSpPr>
              <p:nvPr>
                <p:ph idx="1"/>
              </p:nvPr>
            </p:nvSpPr>
            <p:spPr>
              <a:blipFill>
                <a:blip r:embed="rId3"/>
                <a:stretch>
                  <a:fillRect l="-928" t="-2101" r="-986"/>
                </a:stretch>
              </a:blipFill>
            </p:spPr>
            <p:txBody>
              <a:bodyPr/>
              <a:lstStyle/>
              <a:p>
                <a:r>
                  <a:rPr lang="en-MY">
                    <a:noFill/>
                  </a:rPr>
                  <a:t> </a:t>
                </a:r>
              </a:p>
            </p:txBody>
          </p:sp>
        </mc:Fallback>
      </mc:AlternateContent>
      <p:sp>
        <p:nvSpPr>
          <p:cNvPr id="4" name="Slide Number Placeholder 3">
            <a:extLst>
              <a:ext uri="{FF2B5EF4-FFF2-40B4-BE49-F238E27FC236}">
                <a16:creationId xmlns:a16="http://schemas.microsoft.com/office/drawing/2014/main" id="{80F2AA12-6DCE-3ED2-4386-A32964F13362}"/>
              </a:ext>
            </a:extLst>
          </p:cNvPr>
          <p:cNvSpPr>
            <a:spLocks noGrp="1"/>
          </p:cNvSpPr>
          <p:nvPr>
            <p:ph type="sldNum" sz="quarter" idx="12"/>
          </p:nvPr>
        </p:nvSpPr>
        <p:spPr/>
        <p:txBody>
          <a:bodyPr/>
          <a:lstStyle/>
          <a:p>
            <a:fld id="{499D393E-937C-43AF-8286-1304B3D101C1}" type="slidenum">
              <a:rPr lang="en-MY" smtClean="0"/>
              <a:t>24</a:t>
            </a:fld>
            <a:endParaRPr lang="en-MY"/>
          </a:p>
        </p:txBody>
      </p:sp>
    </p:spTree>
    <p:extLst>
      <p:ext uri="{BB962C8B-B14F-4D97-AF65-F5344CB8AC3E}">
        <p14:creationId xmlns:p14="http://schemas.microsoft.com/office/powerpoint/2010/main" val="7096529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a:extLst>
            <a:ext uri="{FF2B5EF4-FFF2-40B4-BE49-F238E27FC236}">
              <a16:creationId xmlns:a16="http://schemas.microsoft.com/office/drawing/2014/main" id="{43EA79D4-8C61-E7F0-60F9-3A0ED73257F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66FD85A-AB0E-E3CB-E54A-C30D9858B5F3}"/>
                  </a:ext>
                </a:extLst>
              </p:cNvPr>
              <p:cNvSpPr>
                <a:spLocks noGrp="1"/>
              </p:cNvSpPr>
              <p:nvPr>
                <p:ph type="title"/>
              </p:nvPr>
            </p:nvSpPr>
            <p:spPr/>
            <p:txBody>
              <a:bodyPr/>
              <a:lstStyle/>
              <a:p>
                <a:r>
                  <a:rPr lang="en-US" dirty="0"/>
                  <a:t>Correlation coefficient (</a:t>
                </a:r>
                <a14:m>
                  <m:oMath xmlns:m="http://schemas.openxmlformats.org/officeDocument/2006/math">
                    <m:r>
                      <a:rPr lang="en-US" i="1" smtClean="0">
                        <a:latin typeface="Cambria Math" panose="02040503050406030204" pitchFamily="18" charset="0"/>
                      </a:rPr>
                      <m:t>𝑟</m:t>
                    </m:r>
                  </m:oMath>
                </a14:m>
                <a:r>
                  <a:rPr lang="en-MY" dirty="0"/>
                  <a:t>)</a:t>
                </a:r>
              </a:p>
            </p:txBody>
          </p:sp>
        </mc:Choice>
        <mc:Fallback xmlns="">
          <p:sp>
            <p:nvSpPr>
              <p:cNvPr id="2" name="Title 1">
                <a:extLst>
                  <a:ext uri="{FF2B5EF4-FFF2-40B4-BE49-F238E27FC236}">
                    <a16:creationId xmlns:a16="http://schemas.microsoft.com/office/drawing/2014/main" id="{966FD85A-AB0E-E3CB-E54A-C30D9858B5F3}"/>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MY">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2B735E-BC2D-F611-EAA6-3D8538061B75}"/>
                  </a:ext>
                </a:extLst>
              </p:cNvPr>
              <p:cNvSpPr>
                <a:spLocks noGrp="1"/>
              </p:cNvSpPr>
              <p:nvPr>
                <p:ph idx="1"/>
              </p:nvPr>
            </p:nvSpPr>
            <p:spPr/>
            <p:txBody>
              <a:bodyPr>
                <a:normAutofit fontScale="92500"/>
              </a:bodyPr>
              <a:lstStyle/>
              <a:p>
                <a:r>
                  <a:rPr lang="en-US" dirty="0"/>
                  <a:t>The </a:t>
                </a:r>
                <a:r>
                  <a:rPr lang="en-US" b="1" dirty="0"/>
                  <a:t>correlation coefficient</a:t>
                </a:r>
                <a:r>
                  <a:rPr lang="en-US" dirty="0"/>
                  <a:t> (</a:t>
                </a:r>
                <a14:m>
                  <m:oMath xmlns:m="http://schemas.openxmlformats.org/officeDocument/2006/math">
                    <m:r>
                      <a:rPr lang="en-US" i="1" smtClean="0">
                        <a:latin typeface="Cambria Math" panose="02040503050406030204" pitchFamily="18" charset="0"/>
                      </a:rPr>
                      <m:t>𝑟</m:t>
                    </m:r>
                  </m:oMath>
                </a14:m>
                <a:r>
                  <a:rPr lang="en-US" dirty="0"/>
                  <a:t>) is  </a:t>
                </a:r>
                <a:r>
                  <a:rPr lang="en-US" dirty="0" err="1"/>
                  <a:t>is</a:t>
                </a:r>
                <a:r>
                  <a:rPr lang="en-US" dirty="0"/>
                  <a:t> directly related to the coefficient of determination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𝑅</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en-US" dirty="0"/>
                  <a:t>in the obvious way. If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i="1">
                            <a:latin typeface="Cambria Math" panose="02040503050406030204" pitchFamily="18" charset="0"/>
                          </a:rPr>
                          <m:t>2</m:t>
                        </m:r>
                      </m:sup>
                    </m:sSup>
                  </m:oMath>
                </a14:m>
                <a:r>
                  <a:rPr lang="en-US" dirty="0"/>
                  <a:t> is represented in decimal form, e.g. 0.39 or 0.87, then all we have to do to obtain </a:t>
                </a:r>
                <a14:m>
                  <m:oMath xmlns:m="http://schemas.openxmlformats.org/officeDocument/2006/math">
                    <m:r>
                      <a:rPr lang="en-US" i="1">
                        <a:latin typeface="Cambria Math" panose="02040503050406030204" pitchFamily="18" charset="0"/>
                      </a:rPr>
                      <m:t>𝑟</m:t>
                    </m:r>
                  </m:oMath>
                </a14:m>
                <a:r>
                  <a:rPr lang="en-US" dirty="0"/>
                  <a:t> is to take the square root of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i="1">
                            <a:latin typeface="Cambria Math" panose="02040503050406030204" pitchFamily="18" charset="0"/>
                          </a:rPr>
                          <m:t>2</m:t>
                        </m:r>
                      </m:sup>
                    </m:sSup>
                  </m:oMath>
                </a14:m>
                <a:endParaRPr lang="en-US" dirty="0"/>
              </a:p>
              <a:p>
                <a:pPr lvl="1"/>
                <a:r>
                  <a:rPr lang="en-US" dirty="0"/>
                  <a:t>If </a:t>
                </a:r>
                <a14:m>
                  <m:oMath xmlns:m="http://schemas.openxmlformats.org/officeDocument/2006/math">
                    <m:r>
                      <a:rPr lang="en-US" i="1" smtClean="0">
                        <a:latin typeface="Cambria Math" panose="02040503050406030204" pitchFamily="18" charset="0"/>
                      </a:rPr>
                      <m:t>𝑟</m:t>
                    </m:r>
                  </m:oMath>
                </a14:m>
                <a:r>
                  <a:rPr lang="en-US" dirty="0"/>
                  <a:t> = 0 then there is no linear relationship between x and y</a:t>
                </a:r>
              </a:p>
              <a:p>
                <a:pPr lvl="1"/>
                <a:r>
                  <a:rPr lang="en-US" dirty="0"/>
                  <a:t>If </a:t>
                </a:r>
                <a14:m>
                  <m:oMath xmlns:m="http://schemas.openxmlformats.org/officeDocument/2006/math">
                    <m:r>
                      <a:rPr lang="en-US" i="1" smtClean="0">
                        <a:latin typeface="Cambria Math" panose="02040503050406030204" pitchFamily="18" charset="0"/>
                      </a:rPr>
                      <m:t>𝑟</m:t>
                    </m:r>
                  </m:oMath>
                </a14:m>
                <a:r>
                  <a:rPr lang="en-US" dirty="0"/>
                  <a:t> = 1 then there is a </a:t>
                </a:r>
                <a:r>
                  <a:rPr lang="en-US" b="1" dirty="0"/>
                  <a:t>perfect positive linear relationship</a:t>
                </a:r>
                <a:r>
                  <a:rPr lang="en-US" dirty="0"/>
                  <a:t> between x and y</a:t>
                </a:r>
              </a:p>
              <a:p>
                <a:pPr lvl="1"/>
                <a:r>
                  <a:rPr lang="en-US" dirty="0"/>
                  <a:t>If </a:t>
                </a:r>
                <a14:m>
                  <m:oMath xmlns:m="http://schemas.openxmlformats.org/officeDocument/2006/math">
                    <m:r>
                      <a:rPr lang="en-US" i="1" smtClean="0">
                        <a:latin typeface="Cambria Math" panose="02040503050406030204" pitchFamily="18" charset="0"/>
                      </a:rPr>
                      <m:t>𝑟</m:t>
                    </m:r>
                  </m:oMath>
                </a14:m>
                <a:r>
                  <a:rPr lang="en-US" dirty="0"/>
                  <a:t> = -1 then there is a </a:t>
                </a:r>
                <a:r>
                  <a:rPr lang="en-US" b="1" dirty="0"/>
                  <a:t>perfect negative linear relationship</a:t>
                </a:r>
                <a:r>
                  <a:rPr lang="en-US" dirty="0"/>
                  <a:t> between x and y</a:t>
                </a:r>
              </a:p>
              <a:p>
                <a:r>
                  <a:rPr lang="en-US" dirty="0"/>
                  <a:t>All other values of </a:t>
                </a:r>
                <a14:m>
                  <m:oMath xmlns:m="http://schemas.openxmlformats.org/officeDocument/2006/math">
                    <m:r>
                      <a:rPr lang="en-US" i="1" smtClean="0">
                        <a:latin typeface="Cambria Math" panose="02040503050406030204" pitchFamily="18" charset="0"/>
                      </a:rPr>
                      <m:t>𝑟</m:t>
                    </m:r>
                  </m:oMath>
                </a14:m>
                <a:r>
                  <a:rPr lang="en-US" dirty="0"/>
                  <a:t> tell us that the relationship between x and y is not perfect. The closer r is to 0, the weaker the linear relationship.</a:t>
                </a:r>
              </a:p>
              <a:p>
                <a14:m>
                  <m:oMath xmlns:m="http://schemas.openxmlformats.org/officeDocument/2006/math">
                    <m:sSup>
                      <m:sSupPr>
                        <m:ctrlPr>
                          <a:rPr lang="en-US" b="1" i="1" smtClean="0">
                            <a:solidFill>
                              <a:srgbClr val="FF0000"/>
                            </a:solidFill>
                            <a:latin typeface="Cambria Math" panose="02040503050406030204" pitchFamily="18" charset="0"/>
                          </a:rPr>
                        </m:ctrlPr>
                      </m:sSupPr>
                      <m:e>
                        <m:r>
                          <a:rPr lang="en-US" b="1" i="1" smtClean="0">
                            <a:solidFill>
                              <a:srgbClr val="FF0000"/>
                            </a:solidFill>
                            <a:latin typeface="Cambria Math" panose="02040503050406030204" pitchFamily="18" charset="0"/>
                          </a:rPr>
                          <m:t>𝑹</m:t>
                        </m:r>
                      </m:e>
                      <m:sup>
                        <m:r>
                          <a:rPr lang="en-US" b="1" i="1" smtClean="0">
                            <a:solidFill>
                              <a:srgbClr val="FF0000"/>
                            </a:solidFill>
                            <a:latin typeface="Cambria Math" panose="02040503050406030204" pitchFamily="18" charset="0"/>
                          </a:rPr>
                          <m:t>𝟐</m:t>
                        </m:r>
                      </m:sup>
                    </m:sSup>
                  </m:oMath>
                </a14:m>
                <a:r>
                  <a:rPr lang="en-US" b="1" dirty="0">
                    <a:solidFill>
                      <a:srgbClr val="FF0000"/>
                    </a:solidFill>
                  </a:rPr>
                  <a:t> indicates how well the data points fit in a line while </a:t>
                </a:r>
                <a14:m>
                  <m:oMath xmlns:m="http://schemas.openxmlformats.org/officeDocument/2006/math">
                    <m:r>
                      <a:rPr lang="en-US" b="1" i="1">
                        <a:solidFill>
                          <a:srgbClr val="FF0000"/>
                        </a:solidFill>
                        <a:latin typeface="Cambria Math" panose="02040503050406030204" pitchFamily="18" charset="0"/>
                      </a:rPr>
                      <m:t>𝒓</m:t>
                    </m:r>
                  </m:oMath>
                </a14:m>
                <a:r>
                  <a:rPr lang="en-US" b="1" dirty="0">
                    <a:solidFill>
                      <a:srgbClr val="FF0000"/>
                    </a:solidFill>
                  </a:rPr>
                  <a:t> indicates the strength of the linear relationship</a:t>
                </a:r>
              </a:p>
            </p:txBody>
          </p:sp>
        </mc:Choice>
        <mc:Fallback xmlns="">
          <p:sp>
            <p:nvSpPr>
              <p:cNvPr id="3" name="Content Placeholder 2">
                <a:extLst>
                  <a:ext uri="{FF2B5EF4-FFF2-40B4-BE49-F238E27FC236}">
                    <a16:creationId xmlns:a16="http://schemas.microsoft.com/office/drawing/2014/main" id="{D22B735E-BC2D-F611-EAA6-3D8538061B75}"/>
                  </a:ext>
                </a:extLst>
              </p:cNvPr>
              <p:cNvSpPr>
                <a:spLocks noGrp="1" noRot="1" noChangeAspect="1" noMove="1" noResize="1" noEditPoints="1" noAdjustHandles="1" noChangeArrowheads="1" noChangeShapeType="1" noTextEdit="1"/>
              </p:cNvSpPr>
              <p:nvPr>
                <p:ph idx="1"/>
              </p:nvPr>
            </p:nvSpPr>
            <p:spPr>
              <a:blipFill>
                <a:blip r:embed="rId3"/>
                <a:stretch>
                  <a:fillRect l="-928" t="-2101" r="-1275" b="-2521"/>
                </a:stretch>
              </a:blipFill>
            </p:spPr>
            <p:txBody>
              <a:bodyPr/>
              <a:lstStyle/>
              <a:p>
                <a:r>
                  <a:rPr lang="en-MY">
                    <a:noFill/>
                  </a:rPr>
                  <a:t> </a:t>
                </a:r>
              </a:p>
            </p:txBody>
          </p:sp>
        </mc:Fallback>
      </mc:AlternateContent>
      <p:sp>
        <p:nvSpPr>
          <p:cNvPr id="4" name="Slide Number Placeholder 3">
            <a:extLst>
              <a:ext uri="{FF2B5EF4-FFF2-40B4-BE49-F238E27FC236}">
                <a16:creationId xmlns:a16="http://schemas.microsoft.com/office/drawing/2014/main" id="{523A6A6F-20ED-F2C5-60CC-698A312C0469}"/>
              </a:ext>
            </a:extLst>
          </p:cNvPr>
          <p:cNvSpPr>
            <a:spLocks noGrp="1"/>
          </p:cNvSpPr>
          <p:nvPr>
            <p:ph type="sldNum" sz="quarter" idx="12"/>
          </p:nvPr>
        </p:nvSpPr>
        <p:spPr/>
        <p:txBody>
          <a:bodyPr/>
          <a:lstStyle/>
          <a:p>
            <a:fld id="{499D393E-937C-43AF-8286-1304B3D101C1}" type="slidenum">
              <a:rPr lang="en-MY" smtClean="0"/>
              <a:t>25</a:t>
            </a:fld>
            <a:endParaRPr lang="en-MY"/>
          </a:p>
        </p:txBody>
      </p:sp>
    </p:spTree>
    <p:extLst>
      <p:ext uri="{BB962C8B-B14F-4D97-AF65-F5344CB8AC3E}">
        <p14:creationId xmlns:p14="http://schemas.microsoft.com/office/powerpoint/2010/main" val="10030744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7B2615C3-BC2F-4097-3301-0B7D8DB37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74C25B-B75D-8524-7DCE-EBBF8604F622}"/>
              </a:ext>
            </a:extLst>
          </p:cNvPr>
          <p:cNvSpPr>
            <a:spLocks noGrp="1"/>
          </p:cNvSpPr>
          <p:nvPr>
            <p:ph type="title"/>
          </p:nvPr>
        </p:nvSpPr>
        <p:spPr/>
        <p:txBody>
          <a:bodyPr>
            <a:noAutofit/>
          </a:bodyPr>
          <a:lstStyle/>
          <a:p>
            <a:r>
              <a:rPr lang="en-US" sz="3200" dirty="0"/>
              <a:t>LAB 1C: Calculating coefficient of determinant and correlation coefficient of copper wire production dataset</a:t>
            </a:r>
            <a:endParaRPr lang="en-MY"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47464F-8D1B-5F15-8C05-1BB46DC0C24C}"/>
                  </a:ext>
                </a:extLst>
              </p:cNvPr>
              <p:cNvSpPr>
                <a:spLocks noGrp="1"/>
              </p:cNvSpPr>
              <p:nvPr>
                <p:ph idx="1"/>
              </p:nvPr>
            </p:nvSpPr>
            <p:spPr/>
            <p:txBody>
              <a:bodyPr>
                <a:normAutofit fontScale="92500" lnSpcReduction="10000"/>
              </a:bodyPr>
              <a:lstStyle/>
              <a:p>
                <a:pPr marL="0" indent="0">
                  <a:buNone/>
                </a:pPr>
                <a:r>
                  <a:rPr lang="en-US" sz="1800" dirty="0"/>
                  <a:t>Credits to Oscar, </a:t>
                </a:r>
                <a:r>
                  <a:rPr lang="en-US" sz="1800" dirty="0">
                    <a:hlinkClick r:id="rId2"/>
                  </a:rPr>
                  <a:t>Kaggle (2021)</a:t>
                </a:r>
                <a:endParaRPr lang="en-US" sz="1800" dirty="0"/>
              </a:p>
              <a:p>
                <a:pPr marL="0" indent="0">
                  <a:buNone/>
                </a:pPr>
                <a:r>
                  <a:rPr lang="en-US" b="1" dirty="0"/>
                  <a:t>Context</a:t>
                </a:r>
              </a:p>
              <a:p>
                <a:pPr marL="0" indent="0">
                  <a:buNone/>
                </a:pPr>
                <a:r>
                  <a:rPr lang="en-US" dirty="0"/>
                  <a:t>As a data translator, you are required to assess the production manager’s assumption.</a:t>
                </a:r>
              </a:p>
              <a:p>
                <a:pPr marL="0" indent="0">
                  <a:buNone/>
                </a:pPr>
                <a:endParaRPr lang="en-US" dirty="0"/>
              </a:p>
              <a:p>
                <a:pPr marL="0" indent="0">
                  <a:buNone/>
                </a:pPr>
                <a:r>
                  <a:rPr lang="en-US" b="1" dirty="0"/>
                  <a:t>Your task</a:t>
                </a:r>
              </a:p>
              <a:p>
                <a:r>
                  <a:rPr lang="en-US" dirty="0"/>
                  <a:t>Calculate the </a:t>
                </a:r>
                <a:r>
                  <a:rPr lang="en-US" b="1" dirty="0"/>
                  <a:t>coefficient of determinant </a:t>
                </a: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m:t>
                        </m:r>
                        <m:r>
                          <a:rPr lang="en-US" b="1" i="1" smtClean="0">
                            <a:latin typeface="Cambria Math" panose="02040503050406030204" pitchFamily="18" charset="0"/>
                          </a:rPr>
                          <m:t>𝑹</m:t>
                        </m:r>
                      </m:e>
                      <m:sup>
                        <m:r>
                          <a:rPr lang="en-US" b="1" i="1" smtClean="0">
                            <a:latin typeface="Cambria Math" panose="02040503050406030204" pitchFamily="18" charset="0"/>
                          </a:rPr>
                          <m:t>𝟐</m:t>
                        </m:r>
                      </m:sup>
                    </m:sSup>
                    <m:r>
                      <a:rPr lang="en-US" b="1" i="1" smtClean="0">
                        <a:latin typeface="Cambria Math" panose="02040503050406030204" pitchFamily="18" charset="0"/>
                      </a:rPr>
                      <m:t>)</m:t>
                    </m:r>
                  </m:oMath>
                </a14:m>
                <a:r>
                  <a:rPr lang="en-US" dirty="0"/>
                  <a:t> of the identified variables</a:t>
                </a:r>
              </a:p>
              <a:p>
                <a:r>
                  <a:rPr lang="en-US" dirty="0"/>
                  <a:t>Calculate the </a:t>
                </a:r>
                <a:r>
                  <a:rPr lang="en-US" b="1" dirty="0"/>
                  <a:t>correlation coefficient (</a:t>
                </a:r>
                <a14:m>
                  <m:oMath xmlns:m="http://schemas.openxmlformats.org/officeDocument/2006/math">
                    <m:r>
                      <a:rPr lang="en-US" b="1" i="1" smtClean="0">
                        <a:latin typeface="Cambria Math" panose="02040503050406030204" pitchFamily="18" charset="0"/>
                      </a:rPr>
                      <m:t>𝒓</m:t>
                    </m:r>
                  </m:oMath>
                </a14:m>
                <a:r>
                  <a:rPr lang="en-US" b="1" dirty="0"/>
                  <a:t>)</a:t>
                </a:r>
                <a:r>
                  <a:rPr lang="en-US" dirty="0"/>
                  <a:t> of the identified variables</a:t>
                </a:r>
              </a:p>
              <a:p>
                <a:r>
                  <a:rPr lang="en-US" dirty="0"/>
                  <a:t>Advise the stakeholder(s) accordingly</a:t>
                </a:r>
              </a:p>
            </p:txBody>
          </p:sp>
        </mc:Choice>
        <mc:Fallback xmlns="">
          <p:sp>
            <p:nvSpPr>
              <p:cNvPr id="3" name="Content Placeholder 2">
                <a:extLst>
                  <a:ext uri="{FF2B5EF4-FFF2-40B4-BE49-F238E27FC236}">
                    <a16:creationId xmlns:a16="http://schemas.microsoft.com/office/drawing/2014/main" id="{AB47464F-8D1B-5F15-8C05-1BB46DC0C24C}"/>
                  </a:ext>
                </a:extLst>
              </p:cNvPr>
              <p:cNvSpPr>
                <a:spLocks noGrp="1" noRot="1" noChangeAspect="1" noMove="1" noResize="1" noEditPoints="1" noAdjustHandles="1" noChangeArrowheads="1" noChangeShapeType="1" noTextEdit="1"/>
              </p:cNvSpPr>
              <p:nvPr>
                <p:ph idx="1"/>
              </p:nvPr>
            </p:nvSpPr>
            <p:spPr>
              <a:blipFill>
                <a:blip r:embed="rId3"/>
                <a:stretch>
                  <a:fillRect l="-1043" t="-1261"/>
                </a:stretch>
              </a:blipFill>
            </p:spPr>
            <p:txBody>
              <a:bodyPr/>
              <a:lstStyle/>
              <a:p>
                <a:r>
                  <a:rPr lang="en-MY">
                    <a:noFill/>
                  </a:rPr>
                  <a:t> </a:t>
                </a:r>
              </a:p>
            </p:txBody>
          </p:sp>
        </mc:Fallback>
      </mc:AlternateContent>
      <p:sp>
        <p:nvSpPr>
          <p:cNvPr id="4" name="Slide Number Placeholder 3">
            <a:extLst>
              <a:ext uri="{FF2B5EF4-FFF2-40B4-BE49-F238E27FC236}">
                <a16:creationId xmlns:a16="http://schemas.microsoft.com/office/drawing/2014/main" id="{11A3F6BF-FF6D-A37F-33D9-0C86CCC7DECF}"/>
              </a:ext>
            </a:extLst>
          </p:cNvPr>
          <p:cNvSpPr>
            <a:spLocks noGrp="1"/>
          </p:cNvSpPr>
          <p:nvPr>
            <p:ph type="sldNum" sz="quarter" idx="12"/>
          </p:nvPr>
        </p:nvSpPr>
        <p:spPr/>
        <p:txBody>
          <a:bodyPr/>
          <a:lstStyle/>
          <a:p>
            <a:fld id="{499D393E-937C-43AF-8286-1304B3D101C1}" type="slidenum">
              <a:rPr lang="en-MY" smtClean="0"/>
              <a:t>26</a:t>
            </a:fld>
            <a:endParaRPr lang="en-MY"/>
          </a:p>
        </p:txBody>
      </p:sp>
    </p:spTree>
    <p:extLst>
      <p:ext uri="{BB962C8B-B14F-4D97-AF65-F5344CB8AC3E}">
        <p14:creationId xmlns:p14="http://schemas.microsoft.com/office/powerpoint/2010/main" val="12252610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F4D561-5BBF-C671-FBA3-BDE896A1E652}"/>
              </a:ext>
            </a:extLst>
          </p:cNvPr>
          <p:cNvSpPr>
            <a:spLocks noGrp="1"/>
          </p:cNvSpPr>
          <p:nvPr>
            <p:ph type="title"/>
          </p:nvPr>
        </p:nvSpPr>
        <p:spPr>
          <a:xfrm>
            <a:off x="761800" y="762001"/>
            <a:ext cx="5334197" cy="1708242"/>
          </a:xfrm>
        </p:spPr>
        <p:txBody>
          <a:bodyPr anchor="ctr">
            <a:normAutofit/>
          </a:bodyPr>
          <a:lstStyle/>
          <a:p>
            <a:r>
              <a:rPr lang="en-US" sz="4000"/>
              <a:t>Clustering vs classification</a:t>
            </a:r>
            <a:endParaRPr lang="en-MY" sz="4000"/>
          </a:p>
        </p:txBody>
      </p:sp>
      <p:sp>
        <p:nvSpPr>
          <p:cNvPr id="3" name="Content Placeholder 2">
            <a:extLst>
              <a:ext uri="{FF2B5EF4-FFF2-40B4-BE49-F238E27FC236}">
                <a16:creationId xmlns:a16="http://schemas.microsoft.com/office/drawing/2014/main" id="{231D4B7F-7D32-5FC6-726A-6DF93C51B2BC}"/>
              </a:ext>
            </a:extLst>
          </p:cNvPr>
          <p:cNvSpPr>
            <a:spLocks noGrp="1"/>
          </p:cNvSpPr>
          <p:nvPr>
            <p:ph idx="1"/>
          </p:nvPr>
        </p:nvSpPr>
        <p:spPr>
          <a:xfrm>
            <a:off x="761800" y="2470244"/>
            <a:ext cx="5334197" cy="3769835"/>
          </a:xfrm>
        </p:spPr>
        <p:txBody>
          <a:bodyPr anchor="ctr">
            <a:normAutofit/>
          </a:bodyPr>
          <a:lstStyle/>
          <a:p>
            <a:r>
              <a:rPr lang="en-US" sz="1900" b="1" u="sng"/>
              <a:t>Clustering</a:t>
            </a:r>
            <a:r>
              <a:rPr lang="en-US" sz="1900"/>
              <a:t> is a type of unsupervised learning, where the goal is to group similar data points together based on their features, without using labels</a:t>
            </a:r>
          </a:p>
          <a:p>
            <a:pPr lvl="1"/>
            <a:r>
              <a:rPr lang="en-US" sz="1900"/>
              <a:t>It’s like sorting a mixed box of buttons by size and color — but the algorithm figures out the groups on its own</a:t>
            </a:r>
          </a:p>
          <a:p>
            <a:pPr lvl="1"/>
            <a:r>
              <a:rPr lang="en-US" sz="1900"/>
              <a:t>K-means is a classic clustering algorithm, where a centroid and k (the number of clusters) are defined</a:t>
            </a:r>
          </a:p>
          <a:p>
            <a:r>
              <a:rPr lang="en-US" sz="1900"/>
              <a:t>k-NN (k-nearest neighbors) is a supervised learning algorithm, usually used for </a:t>
            </a:r>
            <a:r>
              <a:rPr lang="en-US" sz="1900" b="1" u="sng"/>
              <a:t>classification</a:t>
            </a:r>
            <a:r>
              <a:rPr lang="en-US" sz="1900"/>
              <a:t> or regression, not clustering.</a:t>
            </a:r>
            <a:endParaRPr lang="en-MY" sz="1900"/>
          </a:p>
        </p:txBody>
      </p:sp>
      <p:pic>
        <p:nvPicPr>
          <p:cNvPr id="5" name="Picture 4" descr="Colorful math learning objects">
            <a:extLst>
              <a:ext uri="{FF2B5EF4-FFF2-40B4-BE49-F238E27FC236}">
                <a16:creationId xmlns:a16="http://schemas.microsoft.com/office/drawing/2014/main" id="{1BBBBD1B-0AFF-1CB4-92AD-2218D155165A}"/>
              </a:ext>
            </a:extLst>
          </p:cNvPr>
          <p:cNvPicPr>
            <a:picLocks noChangeAspect="1"/>
          </p:cNvPicPr>
          <p:nvPr/>
        </p:nvPicPr>
        <p:blipFill>
          <a:blip r:embed="rId2"/>
          <a:srcRect l="17709" r="30455"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
        <p:nvSpPr>
          <p:cNvPr id="4" name="Slide Number Placeholder 3">
            <a:extLst>
              <a:ext uri="{FF2B5EF4-FFF2-40B4-BE49-F238E27FC236}">
                <a16:creationId xmlns:a16="http://schemas.microsoft.com/office/drawing/2014/main" id="{10E5D738-20A2-ED00-C655-28AAAE8D65FD}"/>
              </a:ext>
            </a:extLst>
          </p:cNvPr>
          <p:cNvSpPr>
            <a:spLocks noGrp="1"/>
          </p:cNvSpPr>
          <p:nvPr>
            <p:ph type="sldNum" sz="quarter" idx="12"/>
          </p:nvPr>
        </p:nvSpPr>
        <p:spPr/>
        <p:txBody>
          <a:bodyPr/>
          <a:lstStyle/>
          <a:p>
            <a:fld id="{499D393E-937C-43AF-8286-1304B3D101C1}" type="slidenum">
              <a:rPr lang="en-MY" smtClean="0"/>
              <a:t>27</a:t>
            </a:fld>
            <a:endParaRPr lang="en-MY"/>
          </a:p>
        </p:txBody>
      </p:sp>
    </p:spTree>
    <p:extLst>
      <p:ext uri="{BB962C8B-B14F-4D97-AF65-F5344CB8AC3E}">
        <p14:creationId xmlns:p14="http://schemas.microsoft.com/office/powerpoint/2010/main" val="27249634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a:extLst>
            <a:ext uri="{FF2B5EF4-FFF2-40B4-BE49-F238E27FC236}">
              <a16:creationId xmlns:a16="http://schemas.microsoft.com/office/drawing/2014/main" id="{D622B0C1-567C-8869-2F0B-8A84C5BC7BE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A8B1137-28FA-2CBC-7538-7C496B82EF01}"/>
              </a:ext>
            </a:extLst>
          </p:cNvPr>
          <p:cNvPicPr>
            <a:picLocks noChangeAspect="1"/>
          </p:cNvPicPr>
          <p:nvPr/>
        </p:nvPicPr>
        <p:blipFill>
          <a:blip r:embed="rId2"/>
          <a:srcRect t="16868"/>
          <a:stretch/>
        </p:blipFill>
        <p:spPr>
          <a:xfrm>
            <a:off x="0" y="1553497"/>
            <a:ext cx="12192000" cy="4705788"/>
          </a:xfrm>
          <a:prstGeom prst="rect">
            <a:avLst/>
          </a:prstGeom>
        </p:spPr>
      </p:pic>
      <p:sp>
        <p:nvSpPr>
          <p:cNvPr id="10" name="Title 1">
            <a:extLst>
              <a:ext uri="{FF2B5EF4-FFF2-40B4-BE49-F238E27FC236}">
                <a16:creationId xmlns:a16="http://schemas.microsoft.com/office/drawing/2014/main" id="{B415AAAE-BA7B-45DC-FDB8-7E1064E305FE}"/>
              </a:ext>
            </a:extLst>
          </p:cNvPr>
          <p:cNvSpPr>
            <a:spLocks noGrp="1"/>
          </p:cNvSpPr>
          <p:nvPr>
            <p:ph type="title"/>
          </p:nvPr>
        </p:nvSpPr>
        <p:spPr>
          <a:xfrm>
            <a:off x="838200" y="365125"/>
            <a:ext cx="4451555" cy="1325563"/>
          </a:xfrm>
        </p:spPr>
        <p:txBody>
          <a:bodyPr>
            <a:normAutofit/>
          </a:bodyPr>
          <a:lstStyle/>
          <a:p>
            <a:r>
              <a:rPr lang="en-US" sz="3200" b="1" u="sng" dirty="0"/>
              <a:t>Classification (k-NN)</a:t>
            </a:r>
            <a:endParaRPr lang="en-MY" sz="3200" b="1" u="sng" dirty="0"/>
          </a:p>
        </p:txBody>
      </p:sp>
      <p:sp>
        <p:nvSpPr>
          <p:cNvPr id="11" name="Title 1">
            <a:extLst>
              <a:ext uri="{FF2B5EF4-FFF2-40B4-BE49-F238E27FC236}">
                <a16:creationId xmlns:a16="http://schemas.microsoft.com/office/drawing/2014/main" id="{C1849847-1F24-92D2-5D93-7E658739DF8C}"/>
              </a:ext>
            </a:extLst>
          </p:cNvPr>
          <p:cNvSpPr txBox="1">
            <a:spLocks/>
          </p:cNvSpPr>
          <p:nvPr/>
        </p:nvSpPr>
        <p:spPr>
          <a:xfrm>
            <a:off x="6515100" y="365125"/>
            <a:ext cx="445155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u="sng" dirty="0"/>
              <a:t>Clustering (k-means)</a:t>
            </a:r>
            <a:endParaRPr lang="en-MY" sz="3200" b="1" u="sng" dirty="0"/>
          </a:p>
        </p:txBody>
      </p:sp>
      <p:sp>
        <p:nvSpPr>
          <p:cNvPr id="2" name="Slide Number Placeholder 1">
            <a:extLst>
              <a:ext uri="{FF2B5EF4-FFF2-40B4-BE49-F238E27FC236}">
                <a16:creationId xmlns:a16="http://schemas.microsoft.com/office/drawing/2014/main" id="{89497F08-CA6C-3156-75C7-D1E94A8338A8}"/>
              </a:ext>
            </a:extLst>
          </p:cNvPr>
          <p:cNvSpPr>
            <a:spLocks noGrp="1"/>
          </p:cNvSpPr>
          <p:nvPr>
            <p:ph type="sldNum" sz="quarter" idx="12"/>
          </p:nvPr>
        </p:nvSpPr>
        <p:spPr/>
        <p:txBody>
          <a:bodyPr/>
          <a:lstStyle/>
          <a:p>
            <a:fld id="{499D393E-937C-43AF-8286-1304B3D101C1}" type="slidenum">
              <a:rPr lang="en-MY" smtClean="0"/>
              <a:t>28</a:t>
            </a:fld>
            <a:endParaRPr lang="en-MY"/>
          </a:p>
        </p:txBody>
      </p:sp>
    </p:spTree>
    <p:extLst>
      <p:ext uri="{BB962C8B-B14F-4D97-AF65-F5344CB8AC3E}">
        <p14:creationId xmlns:p14="http://schemas.microsoft.com/office/powerpoint/2010/main" val="19102229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4EF4ABC5-5DDA-7F84-C4F8-7ACA311D4D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DF359F-E394-036F-C5AA-046371237522}"/>
              </a:ext>
            </a:extLst>
          </p:cNvPr>
          <p:cNvSpPr>
            <a:spLocks noGrp="1"/>
          </p:cNvSpPr>
          <p:nvPr>
            <p:ph type="title"/>
          </p:nvPr>
        </p:nvSpPr>
        <p:spPr/>
        <p:txBody>
          <a:bodyPr/>
          <a:lstStyle/>
          <a:p>
            <a:r>
              <a:rPr lang="en-US" dirty="0"/>
              <a:t>K-NN algorithm at work: Geo-clustering case study</a:t>
            </a:r>
            <a:endParaRPr lang="en-MY" dirty="0"/>
          </a:p>
        </p:txBody>
      </p:sp>
      <p:sp>
        <p:nvSpPr>
          <p:cNvPr id="3" name="Content Placeholder 2">
            <a:extLst>
              <a:ext uri="{FF2B5EF4-FFF2-40B4-BE49-F238E27FC236}">
                <a16:creationId xmlns:a16="http://schemas.microsoft.com/office/drawing/2014/main" id="{4D2ACFC7-6813-43BD-1B77-D4B88FBF206E}"/>
              </a:ext>
            </a:extLst>
          </p:cNvPr>
          <p:cNvSpPr>
            <a:spLocks noGrp="1"/>
          </p:cNvSpPr>
          <p:nvPr>
            <p:ph idx="1"/>
          </p:nvPr>
        </p:nvSpPr>
        <p:spPr/>
        <p:txBody>
          <a:bodyPr>
            <a:normAutofit fontScale="92500" lnSpcReduction="10000"/>
          </a:bodyPr>
          <a:lstStyle/>
          <a:p>
            <a:pPr marL="0" indent="0">
              <a:buNone/>
            </a:pPr>
            <a:r>
              <a:rPr lang="en-US" b="1" dirty="0"/>
              <a:t>Context</a:t>
            </a:r>
          </a:p>
          <a:p>
            <a:r>
              <a:rPr lang="en-US" dirty="0"/>
              <a:t>A popular carbonated beverage brand in Singapore wants to study the footfall traffic across all 20k outlets in the country. The objective is to identify suitable psycho-demographic regions for pilot tests. Unlike Malaysia demographics, there are no strict “regions” in Singapore in the Stores table.</a:t>
            </a:r>
          </a:p>
          <a:p>
            <a:pPr marL="0" indent="0">
              <a:buNone/>
            </a:pPr>
            <a:r>
              <a:rPr lang="en-US" b="1" dirty="0"/>
              <a:t>Work done</a:t>
            </a:r>
          </a:p>
          <a:p>
            <a:r>
              <a:rPr lang="en-US" dirty="0"/>
              <a:t>A third-party vendor was engaged to collect survey data every quarter</a:t>
            </a:r>
          </a:p>
          <a:p>
            <a:r>
              <a:rPr lang="en-US" dirty="0"/>
              <a:t>Post data cleansing and modeling in Power BI, the outlets geocodes (</a:t>
            </a:r>
            <a:r>
              <a:rPr lang="en-US" dirty="0" err="1"/>
              <a:t>latlon</a:t>
            </a:r>
            <a:r>
              <a:rPr lang="en-US" dirty="0"/>
              <a:t>) were clustered using k-NN algorithm in Python to determine the 4 clusters in Singapore, thereby defining the regions of that country.</a:t>
            </a:r>
            <a:endParaRPr lang="en-MY" dirty="0"/>
          </a:p>
        </p:txBody>
      </p:sp>
      <p:sp>
        <p:nvSpPr>
          <p:cNvPr id="4" name="Slide Number Placeholder 3">
            <a:extLst>
              <a:ext uri="{FF2B5EF4-FFF2-40B4-BE49-F238E27FC236}">
                <a16:creationId xmlns:a16="http://schemas.microsoft.com/office/drawing/2014/main" id="{2F72A996-03F4-1395-02B4-F97C25915EA4}"/>
              </a:ext>
            </a:extLst>
          </p:cNvPr>
          <p:cNvSpPr>
            <a:spLocks noGrp="1"/>
          </p:cNvSpPr>
          <p:nvPr>
            <p:ph type="sldNum" sz="quarter" idx="12"/>
          </p:nvPr>
        </p:nvSpPr>
        <p:spPr/>
        <p:txBody>
          <a:bodyPr/>
          <a:lstStyle/>
          <a:p>
            <a:fld id="{499D393E-937C-43AF-8286-1304B3D101C1}" type="slidenum">
              <a:rPr lang="en-MY" smtClean="0"/>
              <a:t>29</a:t>
            </a:fld>
            <a:endParaRPr lang="en-MY"/>
          </a:p>
        </p:txBody>
      </p:sp>
    </p:spTree>
    <p:extLst>
      <p:ext uri="{BB962C8B-B14F-4D97-AF65-F5344CB8AC3E}">
        <p14:creationId xmlns:p14="http://schemas.microsoft.com/office/powerpoint/2010/main" val="26469661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73D0A-F78E-B69F-E334-4621BF4D4D34}"/>
              </a:ext>
            </a:extLst>
          </p:cNvPr>
          <p:cNvSpPr>
            <a:spLocks noGrp="1"/>
          </p:cNvSpPr>
          <p:nvPr>
            <p:ph type="title"/>
          </p:nvPr>
        </p:nvSpPr>
        <p:spPr/>
        <p:txBody>
          <a:bodyPr/>
          <a:lstStyle/>
          <a:p>
            <a:r>
              <a:rPr lang="en-US" dirty="0"/>
              <a:t>K-means at work: Lookalike (LAL) Marketing Case Study</a:t>
            </a:r>
            <a:endParaRPr lang="en-MY" dirty="0"/>
          </a:p>
        </p:txBody>
      </p:sp>
      <p:sp>
        <p:nvSpPr>
          <p:cNvPr id="3" name="Content Placeholder 2">
            <a:extLst>
              <a:ext uri="{FF2B5EF4-FFF2-40B4-BE49-F238E27FC236}">
                <a16:creationId xmlns:a16="http://schemas.microsoft.com/office/drawing/2014/main" id="{7E922CA6-78AD-908B-E6BD-7531E490C79B}"/>
              </a:ext>
            </a:extLst>
          </p:cNvPr>
          <p:cNvSpPr>
            <a:spLocks noGrp="1"/>
          </p:cNvSpPr>
          <p:nvPr>
            <p:ph idx="1"/>
          </p:nvPr>
        </p:nvSpPr>
        <p:spPr/>
        <p:txBody>
          <a:bodyPr>
            <a:normAutofit lnSpcReduction="10000"/>
          </a:bodyPr>
          <a:lstStyle/>
          <a:p>
            <a:pPr marL="0" indent="0">
              <a:buNone/>
            </a:pPr>
            <a:r>
              <a:rPr lang="en-US" b="1" dirty="0"/>
              <a:t>Context</a:t>
            </a:r>
          </a:p>
          <a:p>
            <a:r>
              <a:rPr lang="en-US" dirty="0"/>
              <a:t>Facebook marketing uses LAL algorithm to engage with wider audience in the network. This is usually leveraged by businesses during marketing outreach campaigns to gather more leads.</a:t>
            </a:r>
          </a:p>
          <a:p>
            <a:r>
              <a:rPr lang="en-US" dirty="0"/>
              <a:t>One of the world’s largest alcohol beverage brands in Malaysia engaged a marketing agency to manage the outreach campaigns to strengthen their digital presence</a:t>
            </a:r>
          </a:p>
          <a:p>
            <a:pPr marL="0" indent="0">
              <a:buNone/>
            </a:pPr>
            <a:r>
              <a:rPr lang="en-US" b="1" dirty="0"/>
              <a:t>Work done</a:t>
            </a:r>
          </a:p>
          <a:p>
            <a:r>
              <a:rPr lang="en-MY" dirty="0"/>
              <a:t>A threshold LAL % was determined, monitored and iterated over time before reaching that “sweet spot” of marketing outreach</a:t>
            </a:r>
          </a:p>
        </p:txBody>
      </p:sp>
      <p:sp>
        <p:nvSpPr>
          <p:cNvPr id="5" name="TextBox 4">
            <a:extLst>
              <a:ext uri="{FF2B5EF4-FFF2-40B4-BE49-F238E27FC236}">
                <a16:creationId xmlns:a16="http://schemas.microsoft.com/office/drawing/2014/main" id="{19DCD5F7-17A3-035F-1B43-79558C7C6372}"/>
              </a:ext>
            </a:extLst>
          </p:cNvPr>
          <p:cNvSpPr txBox="1"/>
          <p:nvPr/>
        </p:nvSpPr>
        <p:spPr>
          <a:xfrm>
            <a:off x="838200" y="6176963"/>
            <a:ext cx="6096000" cy="276999"/>
          </a:xfrm>
          <a:prstGeom prst="rect">
            <a:avLst/>
          </a:prstGeom>
          <a:noFill/>
        </p:spPr>
        <p:txBody>
          <a:bodyPr wrap="square">
            <a:spAutoFit/>
          </a:bodyPr>
          <a:lstStyle/>
          <a:p>
            <a:r>
              <a:rPr lang="en-US" sz="1200" i="1" dirty="0"/>
              <a:t>For more info, visit Facebook </a:t>
            </a:r>
            <a:r>
              <a:rPr lang="en-US" sz="1200" i="1" dirty="0">
                <a:hlinkClick r:id="rId2"/>
              </a:rPr>
              <a:t>article</a:t>
            </a:r>
            <a:r>
              <a:rPr lang="en-US" sz="1200" i="1" dirty="0"/>
              <a:t> on Lookalike Audiences</a:t>
            </a:r>
            <a:endParaRPr lang="en-MY" sz="1200" i="1" dirty="0"/>
          </a:p>
        </p:txBody>
      </p:sp>
      <p:sp>
        <p:nvSpPr>
          <p:cNvPr id="4" name="Slide Number Placeholder 3">
            <a:extLst>
              <a:ext uri="{FF2B5EF4-FFF2-40B4-BE49-F238E27FC236}">
                <a16:creationId xmlns:a16="http://schemas.microsoft.com/office/drawing/2014/main" id="{0BAFDDA1-8614-027B-867C-2BA593C85D16}"/>
              </a:ext>
            </a:extLst>
          </p:cNvPr>
          <p:cNvSpPr>
            <a:spLocks noGrp="1"/>
          </p:cNvSpPr>
          <p:nvPr>
            <p:ph type="sldNum" sz="quarter" idx="12"/>
          </p:nvPr>
        </p:nvSpPr>
        <p:spPr/>
        <p:txBody>
          <a:bodyPr/>
          <a:lstStyle/>
          <a:p>
            <a:fld id="{499D393E-937C-43AF-8286-1304B3D101C1}" type="slidenum">
              <a:rPr lang="en-MY" smtClean="0"/>
              <a:t>30</a:t>
            </a:fld>
            <a:endParaRPr lang="en-MY"/>
          </a:p>
        </p:txBody>
      </p:sp>
    </p:spTree>
    <p:extLst>
      <p:ext uri="{BB962C8B-B14F-4D97-AF65-F5344CB8AC3E}">
        <p14:creationId xmlns:p14="http://schemas.microsoft.com/office/powerpoint/2010/main" val="21988657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C0E23-45E8-F87B-8F1E-18A172C79FA4}"/>
              </a:ext>
            </a:extLst>
          </p:cNvPr>
          <p:cNvSpPr>
            <a:spLocks noGrp="1"/>
          </p:cNvSpPr>
          <p:nvPr>
            <p:ph type="title"/>
          </p:nvPr>
        </p:nvSpPr>
        <p:spPr/>
        <p:txBody>
          <a:bodyPr/>
          <a:lstStyle/>
          <a:p>
            <a:r>
              <a:rPr lang="en-US" dirty="0"/>
              <a:t>Forecasting</a:t>
            </a:r>
            <a:endParaRPr lang="en-MY" dirty="0"/>
          </a:p>
        </p:txBody>
      </p:sp>
      <p:sp>
        <p:nvSpPr>
          <p:cNvPr id="3" name="Content Placeholder 2">
            <a:extLst>
              <a:ext uri="{FF2B5EF4-FFF2-40B4-BE49-F238E27FC236}">
                <a16:creationId xmlns:a16="http://schemas.microsoft.com/office/drawing/2014/main" id="{FCE070D1-1D39-0D32-5F68-5E1CC7BBAE06}"/>
              </a:ext>
            </a:extLst>
          </p:cNvPr>
          <p:cNvSpPr>
            <a:spLocks noGrp="1"/>
          </p:cNvSpPr>
          <p:nvPr>
            <p:ph idx="1"/>
          </p:nvPr>
        </p:nvSpPr>
        <p:spPr/>
        <p:txBody>
          <a:bodyPr/>
          <a:lstStyle/>
          <a:p>
            <a:r>
              <a:rPr lang="en-US" dirty="0"/>
              <a:t>Forecasting is the process of predicting future events or outcomes by analyzing past data and identifying trends</a:t>
            </a:r>
          </a:p>
          <a:p>
            <a:r>
              <a:rPr lang="en-US" dirty="0"/>
              <a:t>It's used to anticipate changes in the future, making informed decisions, and planning for potential challenges</a:t>
            </a:r>
          </a:p>
          <a:p>
            <a:r>
              <a:rPr lang="en-US" dirty="0"/>
              <a:t>Typical work functions that rely on forecasting:</a:t>
            </a:r>
          </a:p>
          <a:p>
            <a:pPr lvl="1"/>
            <a:r>
              <a:rPr lang="en-US" dirty="0"/>
              <a:t>Supply Chain - Supply &amp; demand planning management</a:t>
            </a:r>
          </a:p>
          <a:p>
            <a:pPr lvl="1"/>
            <a:r>
              <a:rPr lang="en-MY" dirty="0"/>
              <a:t>Sales forecast (some companies call this pledging/commitment)</a:t>
            </a:r>
          </a:p>
          <a:p>
            <a:pPr lvl="1"/>
            <a:r>
              <a:rPr lang="en-MY" dirty="0"/>
              <a:t>Financial forecast (some companies use rolling forecast)*</a:t>
            </a:r>
          </a:p>
          <a:p>
            <a:pPr lvl="1"/>
            <a:r>
              <a:rPr lang="en-MY" dirty="0"/>
              <a:t>How weather forecasts affect the sales forecast of seasonal items**</a:t>
            </a:r>
          </a:p>
        </p:txBody>
      </p:sp>
      <p:sp>
        <p:nvSpPr>
          <p:cNvPr id="4" name="TextBox 3">
            <a:extLst>
              <a:ext uri="{FF2B5EF4-FFF2-40B4-BE49-F238E27FC236}">
                <a16:creationId xmlns:a16="http://schemas.microsoft.com/office/drawing/2014/main" id="{1FCE612E-2098-705F-2C39-085CC700F210}"/>
              </a:ext>
            </a:extLst>
          </p:cNvPr>
          <p:cNvSpPr txBox="1"/>
          <p:nvPr/>
        </p:nvSpPr>
        <p:spPr>
          <a:xfrm>
            <a:off x="838200" y="6176963"/>
            <a:ext cx="6096000" cy="461665"/>
          </a:xfrm>
          <a:prstGeom prst="rect">
            <a:avLst/>
          </a:prstGeom>
          <a:noFill/>
        </p:spPr>
        <p:txBody>
          <a:bodyPr wrap="square">
            <a:spAutoFit/>
          </a:bodyPr>
          <a:lstStyle/>
          <a:p>
            <a:r>
              <a:rPr lang="en-US" sz="1200" i="1" dirty="0"/>
              <a:t>*Financial modelling and forecasting methods will not be covered in this module</a:t>
            </a:r>
          </a:p>
          <a:p>
            <a:r>
              <a:rPr lang="en-US" sz="1200" i="1" dirty="0"/>
              <a:t>**Multivariate time series forecast will not be covered in this module</a:t>
            </a:r>
            <a:endParaRPr lang="en-MY" sz="1200" i="1" dirty="0"/>
          </a:p>
        </p:txBody>
      </p:sp>
      <p:sp>
        <p:nvSpPr>
          <p:cNvPr id="5" name="Slide Number Placeholder 4">
            <a:extLst>
              <a:ext uri="{FF2B5EF4-FFF2-40B4-BE49-F238E27FC236}">
                <a16:creationId xmlns:a16="http://schemas.microsoft.com/office/drawing/2014/main" id="{19F877F3-06E0-EF95-9D8C-1DD6AAA1F271}"/>
              </a:ext>
            </a:extLst>
          </p:cNvPr>
          <p:cNvSpPr>
            <a:spLocks noGrp="1"/>
          </p:cNvSpPr>
          <p:nvPr>
            <p:ph type="sldNum" sz="quarter" idx="12"/>
          </p:nvPr>
        </p:nvSpPr>
        <p:spPr/>
        <p:txBody>
          <a:bodyPr/>
          <a:lstStyle/>
          <a:p>
            <a:fld id="{499D393E-937C-43AF-8286-1304B3D101C1}" type="slidenum">
              <a:rPr lang="en-MY" smtClean="0"/>
              <a:t>31</a:t>
            </a:fld>
            <a:endParaRPr lang="en-MY"/>
          </a:p>
        </p:txBody>
      </p:sp>
    </p:spTree>
    <p:extLst>
      <p:ext uri="{BB962C8B-B14F-4D97-AF65-F5344CB8AC3E}">
        <p14:creationId xmlns:p14="http://schemas.microsoft.com/office/powerpoint/2010/main" val="5173721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46328-3D7A-3A69-71ED-CF65F4493BC1}"/>
              </a:ext>
            </a:extLst>
          </p:cNvPr>
          <p:cNvSpPr>
            <a:spLocks noGrp="1"/>
          </p:cNvSpPr>
          <p:nvPr>
            <p:ph type="title"/>
          </p:nvPr>
        </p:nvSpPr>
        <p:spPr/>
        <p:txBody>
          <a:bodyPr/>
          <a:lstStyle/>
          <a:p>
            <a:r>
              <a:rPr lang="en-US" dirty="0"/>
              <a:t>Simple Linear Regression as a Forecasting Tool</a:t>
            </a:r>
            <a:endParaRPr lang="en-MY" dirty="0"/>
          </a:p>
        </p:txBody>
      </p:sp>
      <p:sp>
        <p:nvSpPr>
          <p:cNvPr id="3" name="Content Placeholder 2">
            <a:extLst>
              <a:ext uri="{FF2B5EF4-FFF2-40B4-BE49-F238E27FC236}">
                <a16:creationId xmlns:a16="http://schemas.microsoft.com/office/drawing/2014/main" id="{F2487445-B51C-0B82-9127-8BC005CC9D43}"/>
              </a:ext>
            </a:extLst>
          </p:cNvPr>
          <p:cNvSpPr>
            <a:spLocks noGrp="1"/>
          </p:cNvSpPr>
          <p:nvPr>
            <p:ph idx="1"/>
          </p:nvPr>
        </p:nvSpPr>
        <p:spPr>
          <a:xfrm>
            <a:off x="5688531" y="1825625"/>
            <a:ext cx="5665269" cy="4351338"/>
          </a:xfrm>
        </p:spPr>
        <p:txBody>
          <a:bodyPr>
            <a:normAutofit lnSpcReduction="10000"/>
          </a:bodyPr>
          <a:lstStyle/>
          <a:p>
            <a:r>
              <a:rPr lang="en-US" dirty="0"/>
              <a:t>When x is an independent variable apart from time, and a simple linear regression fits the data sample for that given period, y can be easily obtained using the linear equation formula</a:t>
            </a:r>
          </a:p>
          <a:p>
            <a:pPr marL="0" indent="0">
              <a:buNone/>
            </a:pPr>
            <a:endParaRPr lang="en-US" sz="400" dirty="0"/>
          </a:p>
          <a:p>
            <a:pPr marL="457200" lvl="1" indent="0">
              <a:buNone/>
            </a:pPr>
            <a:r>
              <a:rPr lang="en-US" sz="2000" dirty="0"/>
              <a:t>An energy audit team models daily electricity usage (kWh) based on the number of people present in the office:</a:t>
            </a:r>
          </a:p>
          <a:p>
            <a:pPr marL="457200" lvl="1" indent="0">
              <a:buNone/>
            </a:pPr>
            <a:r>
              <a:rPr lang="en-US" sz="1800" b="1" dirty="0">
                <a:solidFill>
                  <a:schemeClr val="accent3"/>
                </a:solidFill>
                <a:latin typeface="Consolas" panose="020B0609020204030204" pitchFamily="49" charset="0"/>
              </a:rPr>
              <a:t>Usage = 1.8 × Number of People + 50</a:t>
            </a:r>
          </a:p>
          <a:p>
            <a:pPr marL="457200" lvl="1" indent="0">
              <a:buNone/>
            </a:pPr>
            <a:r>
              <a:rPr lang="en-US" sz="2000" dirty="0"/>
              <a:t>What’s the expected electricity use if 25 people come to work?</a:t>
            </a:r>
            <a:endParaRPr lang="en-MY" sz="2000" dirty="0"/>
          </a:p>
        </p:txBody>
      </p:sp>
      <p:pic>
        <p:nvPicPr>
          <p:cNvPr id="4" name="Picture 3">
            <a:extLst>
              <a:ext uri="{FF2B5EF4-FFF2-40B4-BE49-F238E27FC236}">
                <a16:creationId xmlns:a16="http://schemas.microsoft.com/office/drawing/2014/main" id="{9D485465-1017-9503-7CF4-ABC45C84908D}"/>
              </a:ext>
            </a:extLst>
          </p:cNvPr>
          <p:cNvPicPr>
            <a:picLocks noChangeAspect="1"/>
          </p:cNvPicPr>
          <p:nvPr/>
        </p:nvPicPr>
        <p:blipFill>
          <a:blip r:embed="rId2"/>
          <a:stretch>
            <a:fillRect/>
          </a:stretch>
        </p:blipFill>
        <p:spPr>
          <a:xfrm>
            <a:off x="838200" y="1959918"/>
            <a:ext cx="4497336" cy="4082752"/>
          </a:xfrm>
          <a:prstGeom prst="rect">
            <a:avLst/>
          </a:prstGeom>
        </p:spPr>
      </p:pic>
      <p:sp>
        <p:nvSpPr>
          <p:cNvPr id="5" name="Rectangle 4">
            <a:extLst>
              <a:ext uri="{FF2B5EF4-FFF2-40B4-BE49-F238E27FC236}">
                <a16:creationId xmlns:a16="http://schemas.microsoft.com/office/drawing/2014/main" id="{162FE941-9B73-5C2D-7C2A-EAFEB02F9E8C}"/>
              </a:ext>
            </a:extLst>
          </p:cNvPr>
          <p:cNvSpPr/>
          <p:nvPr/>
        </p:nvSpPr>
        <p:spPr>
          <a:xfrm>
            <a:off x="1135781" y="4562375"/>
            <a:ext cx="1241659" cy="433137"/>
          </a:xfrm>
          <a:prstGeom prst="rect">
            <a:avLst/>
          </a:prstGeom>
          <a:noFill/>
          <a:ln w="5715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MY"/>
          </a:p>
        </p:txBody>
      </p:sp>
      <p:sp>
        <p:nvSpPr>
          <p:cNvPr id="6" name="Slide Number Placeholder 5">
            <a:extLst>
              <a:ext uri="{FF2B5EF4-FFF2-40B4-BE49-F238E27FC236}">
                <a16:creationId xmlns:a16="http://schemas.microsoft.com/office/drawing/2014/main" id="{8DBA00D6-2585-5024-E890-ED41D62B60B3}"/>
              </a:ext>
            </a:extLst>
          </p:cNvPr>
          <p:cNvSpPr>
            <a:spLocks noGrp="1"/>
          </p:cNvSpPr>
          <p:nvPr>
            <p:ph type="sldNum" sz="quarter" idx="12"/>
          </p:nvPr>
        </p:nvSpPr>
        <p:spPr/>
        <p:txBody>
          <a:bodyPr/>
          <a:lstStyle/>
          <a:p>
            <a:fld id="{499D393E-937C-43AF-8286-1304B3D101C1}" type="slidenum">
              <a:rPr lang="en-MY" smtClean="0"/>
              <a:t>32</a:t>
            </a:fld>
            <a:endParaRPr lang="en-MY"/>
          </a:p>
        </p:txBody>
      </p:sp>
    </p:spTree>
    <p:extLst>
      <p:ext uri="{BB962C8B-B14F-4D97-AF65-F5344CB8AC3E}">
        <p14:creationId xmlns:p14="http://schemas.microsoft.com/office/powerpoint/2010/main" val="30881936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C5D945-1227-9D5F-6595-4F2EB5054427}"/>
              </a:ext>
            </a:extLst>
          </p:cNvPr>
          <p:cNvSpPr>
            <a:spLocks noGrp="1"/>
          </p:cNvSpPr>
          <p:nvPr>
            <p:ph type="title"/>
          </p:nvPr>
        </p:nvSpPr>
        <p:spPr>
          <a:xfrm>
            <a:off x="761800" y="762001"/>
            <a:ext cx="5334197" cy="1708242"/>
          </a:xfrm>
        </p:spPr>
        <p:txBody>
          <a:bodyPr anchor="ctr">
            <a:normAutofit/>
          </a:bodyPr>
          <a:lstStyle/>
          <a:p>
            <a:r>
              <a:rPr lang="en-US" sz="4000" dirty="0"/>
              <a:t>Simple Moving Averages (SMA)</a:t>
            </a:r>
            <a:endParaRPr lang="en-MY" sz="4000" dirty="0"/>
          </a:p>
        </p:txBody>
      </p:sp>
      <p:sp>
        <p:nvSpPr>
          <p:cNvPr id="3" name="Content Placeholder 2">
            <a:extLst>
              <a:ext uri="{FF2B5EF4-FFF2-40B4-BE49-F238E27FC236}">
                <a16:creationId xmlns:a16="http://schemas.microsoft.com/office/drawing/2014/main" id="{691926DC-9DF0-8775-9A97-7A7D1D4099E9}"/>
              </a:ext>
            </a:extLst>
          </p:cNvPr>
          <p:cNvSpPr>
            <a:spLocks noGrp="1"/>
          </p:cNvSpPr>
          <p:nvPr>
            <p:ph idx="1"/>
          </p:nvPr>
        </p:nvSpPr>
        <p:spPr>
          <a:xfrm>
            <a:off x="761800" y="2470244"/>
            <a:ext cx="5334197" cy="3769835"/>
          </a:xfrm>
        </p:spPr>
        <p:txBody>
          <a:bodyPr anchor="ctr">
            <a:normAutofit fontScale="70000" lnSpcReduction="20000"/>
          </a:bodyPr>
          <a:lstStyle/>
          <a:p>
            <a:r>
              <a:rPr lang="en-US" dirty="0"/>
              <a:t>A simple moving average (SMA) is a method to smooth out short-term fluctuations in data and highlight longer-term trends or cycles. It is commonly used in </a:t>
            </a:r>
            <a:r>
              <a:rPr lang="en-US" b="1" u="sng" dirty="0"/>
              <a:t>time series analysis</a:t>
            </a:r>
            <a:r>
              <a:rPr lang="en-US" b="1" dirty="0"/>
              <a:t> </a:t>
            </a:r>
            <a:r>
              <a:rPr lang="en-US" dirty="0"/>
              <a:t>— like stock prices, sales data, website traffic, etc.</a:t>
            </a:r>
          </a:p>
          <a:p>
            <a:r>
              <a:rPr lang="en-US" dirty="0"/>
              <a:t>You pick a window size (e.g., 3, 5, or 7 time periods), and for each point in time, you calculate the average of the last n values</a:t>
            </a:r>
          </a:p>
          <a:p>
            <a:pPr lvl="1"/>
            <a:r>
              <a:rPr lang="en-US" dirty="0"/>
              <a:t>Simple: Each value in the window is </a:t>
            </a:r>
            <a:r>
              <a:rPr lang="en-US" b="1" dirty="0"/>
              <a:t>equally weighted</a:t>
            </a:r>
          </a:p>
          <a:p>
            <a:pPr lvl="1"/>
            <a:r>
              <a:rPr lang="en-US" dirty="0"/>
              <a:t>Lagging: It reacts slowly to changes because it smooths the data</a:t>
            </a:r>
          </a:p>
          <a:p>
            <a:pPr lvl="1"/>
            <a:r>
              <a:rPr lang="en-US" b="1" dirty="0">
                <a:solidFill>
                  <a:schemeClr val="accent3"/>
                </a:solidFill>
              </a:rPr>
              <a:t>Used for: Trend detection, noise reduction*, forecasting inputs</a:t>
            </a:r>
            <a:endParaRPr lang="en-MY" b="1" dirty="0">
              <a:solidFill>
                <a:schemeClr val="accent3"/>
              </a:solidFill>
            </a:endParaRPr>
          </a:p>
          <a:p>
            <a:endParaRPr lang="en-MY" sz="1900" dirty="0"/>
          </a:p>
        </p:txBody>
      </p:sp>
      <p:pic>
        <p:nvPicPr>
          <p:cNvPr id="5" name="Picture 4" descr="Colorful charts and graphs">
            <a:extLst>
              <a:ext uri="{FF2B5EF4-FFF2-40B4-BE49-F238E27FC236}">
                <a16:creationId xmlns:a16="http://schemas.microsoft.com/office/drawing/2014/main" id="{4745823B-33F3-F378-AD07-876F6B853E8C}"/>
              </a:ext>
            </a:extLst>
          </p:cNvPr>
          <p:cNvPicPr>
            <a:picLocks noChangeAspect="1"/>
          </p:cNvPicPr>
          <p:nvPr/>
        </p:nvPicPr>
        <p:blipFill>
          <a:blip r:embed="rId2"/>
          <a:srcRect l="26066" r="22097"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
        <p:nvSpPr>
          <p:cNvPr id="4" name="TextBox 3">
            <a:extLst>
              <a:ext uri="{FF2B5EF4-FFF2-40B4-BE49-F238E27FC236}">
                <a16:creationId xmlns:a16="http://schemas.microsoft.com/office/drawing/2014/main" id="{614DA68D-7B6E-A664-1868-02700203499B}"/>
              </a:ext>
            </a:extLst>
          </p:cNvPr>
          <p:cNvSpPr txBox="1"/>
          <p:nvPr/>
        </p:nvSpPr>
        <p:spPr>
          <a:xfrm>
            <a:off x="838200" y="6176963"/>
            <a:ext cx="6019597" cy="276999"/>
          </a:xfrm>
          <a:prstGeom prst="rect">
            <a:avLst/>
          </a:prstGeom>
          <a:noFill/>
        </p:spPr>
        <p:txBody>
          <a:bodyPr wrap="square">
            <a:spAutoFit/>
          </a:bodyPr>
          <a:lstStyle/>
          <a:p>
            <a:r>
              <a:rPr lang="en-US" sz="1200" i="1" dirty="0"/>
              <a:t>*Noise reduction, or smoothing will not be covered in this course</a:t>
            </a:r>
            <a:endParaRPr lang="en-MY" sz="1200" i="1" dirty="0"/>
          </a:p>
        </p:txBody>
      </p:sp>
      <p:sp>
        <p:nvSpPr>
          <p:cNvPr id="6" name="Slide Number Placeholder 5">
            <a:extLst>
              <a:ext uri="{FF2B5EF4-FFF2-40B4-BE49-F238E27FC236}">
                <a16:creationId xmlns:a16="http://schemas.microsoft.com/office/drawing/2014/main" id="{F4E0351A-74AF-2926-0F52-43D8BB30EEE1}"/>
              </a:ext>
            </a:extLst>
          </p:cNvPr>
          <p:cNvSpPr>
            <a:spLocks noGrp="1"/>
          </p:cNvSpPr>
          <p:nvPr>
            <p:ph type="sldNum" sz="quarter" idx="12"/>
          </p:nvPr>
        </p:nvSpPr>
        <p:spPr/>
        <p:txBody>
          <a:bodyPr/>
          <a:lstStyle/>
          <a:p>
            <a:fld id="{499D393E-937C-43AF-8286-1304B3D101C1}" type="slidenum">
              <a:rPr lang="en-MY" smtClean="0"/>
              <a:t>33</a:t>
            </a:fld>
            <a:endParaRPr lang="en-MY"/>
          </a:p>
        </p:txBody>
      </p:sp>
    </p:spTree>
    <p:extLst>
      <p:ext uri="{BB962C8B-B14F-4D97-AF65-F5344CB8AC3E}">
        <p14:creationId xmlns:p14="http://schemas.microsoft.com/office/powerpoint/2010/main" val="19113934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145868D-4A97-792B-2B09-DE322AE54DAE}"/>
              </a:ext>
            </a:extLst>
          </p:cNvPr>
          <p:cNvSpPr>
            <a:spLocks noGrp="1"/>
          </p:cNvSpPr>
          <p:nvPr>
            <p:ph type="sldNum" sz="quarter" idx="12"/>
          </p:nvPr>
        </p:nvSpPr>
        <p:spPr/>
        <p:txBody>
          <a:bodyPr/>
          <a:lstStyle/>
          <a:p>
            <a:fld id="{499D393E-937C-43AF-8286-1304B3D101C1}" type="slidenum">
              <a:rPr lang="en-MY" smtClean="0"/>
              <a:t>34</a:t>
            </a:fld>
            <a:endParaRPr lang="en-MY"/>
          </a:p>
        </p:txBody>
      </p:sp>
      <p:pic>
        <p:nvPicPr>
          <p:cNvPr id="6" name="Picture 5">
            <a:extLst>
              <a:ext uri="{FF2B5EF4-FFF2-40B4-BE49-F238E27FC236}">
                <a16:creationId xmlns:a16="http://schemas.microsoft.com/office/drawing/2014/main" id="{AC13F71C-207F-CA5B-C6C9-D4BEE1249DA6}"/>
              </a:ext>
            </a:extLst>
          </p:cNvPr>
          <p:cNvPicPr>
            <a:picLocks noChangeAspect="1"/>
          </p:cNvPicPr>
          <p:nvPr/>
        </p:nvPicPr>
        <p:blipFill>
          <a:blip r:embed="rId2"/>
          <a:stretch>
            <a:fillRect/>
          </a:stretch>
        </p:blipFill>
        <p:spPr>
          <a:xfrm>
            <a:off x="554675" y="365124"/>
            <a:ext cx="8170902" cy="5991225"/>
          </a:xfrm>
          <a:prstGeom prst="rect">
            <a:avLst/>
          </a:prstGeom>
        </p:spPr>
      </p:pic>
      <p:sp>
        <p:nvSpPr>
          <p:cNvPr id="7" name="Speech Bubble: Rectangle 6">
            <a:extLst>
              <a:ext uri="{FF2B5EF4-FFF2-40B4-BE49-F238E27FC236}">
                <a16:creationId xmlns:a16="http://schemas.microsoft.com/office/drawing/2014/main" id="{121DB6FA-5A99-97EB-79AF-1053EE000FAF}"/>
              </a:ext>
            </a:extLst>
          </p:cNvPr>
          <p:cNvSpPr/>
          <p:nvPr/>
        </p:nvSpPr>
        <p:spPr>
          <a:xfrm>
            <a:off x="7682653" y="2289387"/>
            <a:ext cx="1759374" cy="1239519"/>
          </a:xfrm>
          <a:prstGeom prst="wedgeRectCallout">
            <a:avLst>
              <a:gd name="adj1" fmla="val -76480"/>
              <a:gd name="adj2" fmla="val 88046"/>
            </a:avLst>
          </a:prstGeom>
          <a:ln w="31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The thin green line shows SMA(50)</a:t>
            </a:r>
            <a:endParaRPr lang="en-MY" dirty="0"/>
          </a:p>
        </p:txBody>
      </p:sp>
      <p:sp>
        <p:nvSpPr>
          <p:cNvPr id="8" name="Content Placeholder 2">
            <a:extLst>
              <a:ext uri="{FF2B5EF4-FFF2-40B4-BE49-F238E27FC236}">
                <a16:creationId xmlns:a16="http://schemas.microsoft.com/office/drawing/2014/main" id="{02F0B0FD-77F0-4AB9-B274-A8D9390DE33A}"/>
              </a:ext>
            </a:extLst>
          </p:cNvPr>
          <p:cNvSpPr>
            <a:spLocks noGrp="1"/>
          </p:cNvSpPr>
          <p:nvPr>
            <p:ph idx="1"/>
          </p:nvPr>
        </p:nvSpPr>
        <p:spPr>
          <a:xfrm>
            <a:off x="554675" y="6356350"/>
            <a:ext cx="7593862" cy="223310"/>
          </a:xfrm>
        </p:spPr>
        <p:txBody>
          <a:bodyPr>
            <a:normAutofit lnSpcReduction="10000"/>
          </a:bodyPr>
          <a:lstStyle/>
          <a:p>
            <a:pPr marL="0" indent="0">
              <a:buNone/>
            </a:pPr>
            <a:r>
              <a:rPr lang="en-US" sz="1000" dirty="0"/>
              <a:t>Source: Trading View for BTC/USDT</a:t>
            </a:r>
            <a:endParaRPr lang="en-MY" sz="1000" dirty="0"/>
          </a:p>
        </p:txBody>
      </p:sp>
      <p:sp>
        <p:nvSpPr>
          <p:cNvPr id="9" name="Title 1">
            <a:extLst>
              <a:ext uri="{FF2B5EF4-FFF2-40B4-BE49-F238E27FC236}">
                <a16:creationId xmlns:a16="http://schemas.microsoft.com/office/drawing/2014/main" id="{CA112697-F8F2-F7E1-5410-68CE196C71BD}"/>
              </a:ext>
            </a:extLst>
          </p:cNvPr>
          <p:cNvSpPr>
            <a:spLocks noGrp="1"/>
          </p:cNvSpPr>
          <p:nvPr>
            <p:ph type="title"/>
          </p:nvPr>
        </p:nvSpPr>
        <p:spPr>
          <a:xfrm>
            <a:off x="8798560" y="365125"/>
            <a:ext cx="2555240" cy="1325563"/>
          </a:xfrm>
        </p:spPr>
        <p:txBody>
          <a:bodyPr>
            <a:normAutofit/>
          </a:bodyPr>
          <a:lstStyle/>
          <a:p>
            <a:pPr algn="r"/>
            <a:r>
              <a:rPr lang="en-US" dirty="0"/>
              <a:t>SMA in action</a:t>
            </a:r>
            <a:endParaRPr lang="en-MY" dirty="0"/>
          </a:p>
        </p:txBody>
      </p:sp>
    </p:spTree>
    <p:extLst>
      <p:ext uri="{BB962C8B-B14F-4D97-AF65-F5344CB8AC3E}">
        <p14:creationId xmlns:p14="http://schemas.microsoft.com/office/powerpoint/2010/main" val="6444638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9E4D9C-9238-1C74-0D21-484704E3C5C6}"/>
            </a:ext>
          </a:extLst>
        </p:cNvPr>
        <p:cNvGrpSpPr/>
        <p:nvPr/>
      </p:nvGrpSpPr>
      <p:grpSpPr>
        <a:xfrm>
          <a:off x="0" y="0"/>
          <a:ext cx="0" cy="0"/>
          <a:chOff x="0" y="0"/>
          <a:chExt cx="0" cy="0"/>
        </a:xfrm>
      </p:grpSpPr>
      <p:sp useBgFill="1">
        <p:nvSpPr>
          <p:cNvPr id="16" name="Slide Background">
            <a:extLst>
              <a:ext uri="{FF2B5EF4-FFF2-40B4-BE49-F238E27FC236}">
                <a16:creationId xmlns:a16="http://schemas.microsoft.com/office/drawing/2014/main" id="{8FE61C76-8197-41C2-5DAF-502D959259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2566BC-34BD-BD1D-BC50-9DF33F4E0103}"/>
              </a:ext>
            </a:extLst>
          </p:cNvPr>
          <p:cNvSpPr>
            <a:spLocks noGrp="1"/>
          </p:cNvSpPr>
          <p:nvPr>
            <p:ph type="title"/>
          </p:nvPr>
        </p:nvSpPr>
        <p:spPr>
          <a:xfrm>
            <a:off x="761800" y="762001"/>
            <a:ext cx="5334197" cy="1708242"/>
          </a:xfrm>
        </p:spPr>
        <p:txBody>
          <a:bodyPr anchor="ctr">
            <a:normAutofit/>
          </a:bodyPr>
          <a:lstStyle/>
          <a:p>
            <a:r>
              <a:rPr lang="en-US" sz="4000"/>
              <a:t>Weighted Moving Averages (WMA)</a:t>
            </a:r>
            <a:endParaRPr lang="en-MY" sz="4000"/>
          </a:p>
        </p:txBody>
      </p:sp>
      <p:sp>
        <p:nvSpPr>
          <p:cNvPr id="3" name="Content Placeholder 2">
            <a:extLst>
              <a:ext uri="{FF2B5EF4-FFF2-40B4-BE49-F238E27FC236}">
                <a16:creationId xmlns:a16="http://schemas.microsoft.com/office/drawing/2014/main" id="{E9B860FE-A061-6727-1479-B97D1E64D1F9}"/>
              </a:ext>
            </a:extLst>
          </p:cNvPr>
          <p:cNvSpPr>
            <a:spLocks noGrp="1"/>
          </p:cNvSpPr>
          <p:nvPr>
            <p:ph idx="1"/>
          </p:nvPr>
        </p:nvSpPr>
        <p:spPr>
          <a:xfrm>
            <a:off x="761800" y="2470244"/>
            <a:ext cx="5334197" cy="3769835"/>
          </a:xfrm>
        </p:spPr>
        <p:txBody>
          <a:bodyPr anchor="ctr">
            <a:normAutofit fontScale="92500" lnSpcReduction="10000"/>
          </a:bodyPr>
          <a:lstStyle/>
          <a:p>
            <a:r>
              <a:rPr lang="en-US" sz="1900" dirty="0"/>
              <a:t>A weighted moving average (WMA) is a variation of the simple moving average where more recent data points are given more importance (weight) than older ones</a:t>
            </a:r>
          </a:p>
          <a:p>
            <a:r>
              <a:rPr lang="en-US" sz="1900" dirty="0"/>
              <a:t>Another alternative would be exponential moving average (EMA) that uses alpha-coefficient</a:t>
            </a:r>
          </a:p>
          <a:p>
            <a:r>
              <a:rPr lang="en-US" sz="1900" b="1" dirty="0"/>
              <a:t>It’s used when newer values are more relevant for trend detection or forecasting</a:t>
            </a:r>
          </a:p>
          <a:p>
            <a:r>
              <a:rPr lang="en-US" sz="1900" dirty="0"/>
              <a:t>Applications include:</a:t>
            </a:r>
          </a:p>
          <a:p>
            <a:pPr lvl="1"/>
            <a:r>
              <a:rPr lang="en-US" sz="1900" dirty="0"/>
              <a:t>Forecasting sales where recent weeks matter more</a:t>
            </a:r>
          </a:p>
          <a:p>
            <a:pPr lvl="1"/>
            <a:r>
              <a:rPr lang="en-US" sz="1900" dirty="0"/>
              <a:t>Stock price analysis with short-term sensitivity</a:t>
            </a:r>
          </a:p>
          <a:p>
            <a:pPr lvl="1"/>
            <a:r>
              <a:rPr lang="en-US" sz="1900" dirty="0"/>
              <a:t>Inventory demand prediction</a:t>
            </a:r>
            <a:endParaRPr lang="en-MY" sz="1900" dirty="0"/>
          </a:p>
        </p:txBody>
      </p:sp>
      <p:pic>
        <p:nvPicPr>
          <p:cNvPr id="5" name="Picture 4" descr="Colorful charts and graphs">
            <a:extLst>
              <a:ext uri="{FF2B5EF4-FFF2-40B4-BE49-F238E27FC236}">
                <a16:creationId xmlns:a16="http://schemas.microsoft.com/office/drawing/2014/main" id="{0096985F-6B4E-B760-4441-26E9AF7FB857}"/>
              </a:ext>
            </a:extLst>
          </p:cNvPr>
          <p:cNvPicPr>
            <a:picLocks noChangeAspect="1"/>
          </p:cNvPicPr>
          <p:nvPr/>
        </p:nvPicPr>
        <p:blipFill>
          <a:blip r:embed="rId2"/>
          <a:srcRect l="26066" r="22097"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
        <p:nvSpPr>
          <p:cNvPr id="4" name="TextBox 3">
            <a:extLst>
              <a:ext uri="{FF2B5EF4-FFF2-40B4-BE49-F238E27FC236}">
                <a16:creationId xmlns:a16="http://schemas.microsoft.com/office/drawing/2014/main" id="{F5CD3F49-1577-B578-8FA0-F6F8938E36C5}"/>
              </a:ext>
            </a:extLst>
          </p:cNvPr>
          <p:cNvSpPr txBox="1"/>
          <p:nvPr/>
        </p:nvSpPr>
        <p:spPr>
          <a:xfrm>
            <a:off x="838200" y="6233651"/>
            <a:ext cx="6019597" cy="461665"/>
          </a:xfrm>
          <a:prstGeom prst="rect">
            <a:avLst/>
          </a:prstGeom>
          <a:noFill/>
        </p:spPr>
        <p:txBody>
          <a:bodyPr wrap="square">
            <a:spAutoFit/>
          </a:bodyPr>
          <a:lstStyle/>
          <a:p>
            <a:r>
              <a:rPr lang="en-US" sz="1200" i="1" dirty="0"/>
              <a:t>*EMA and alpha-coefficient will not be covered in this module as it is often lacking a sound business justification compared to SMA and WMA</a:t>
            </a:r>
            <a:endParaRPr lang="en-MY" sz="1200" i="1" dirty="0"/>
          </a:p>
        </p:txBody>
      </p:sp>
      <p:sp>
        <p:nvSpPr>
          <p:cNvPr id="6" name="Slide Number Placeholder 5">
            <a:extLst>
              <a:ext uri="{FF2B5EF4-FFF2-40B4-BE49-F238E27FC236}">
                <a16:creationId xmlns:a16="http://schemas.microsoft.com/office/drawing/2014/main" id="{287BE029-E4CE-D5B4-100B-030C2D76BC53}"/>
              </a:ext>
            </a:extLst>
          </p:cNvPr>
          <p:cNvSpPr>
            <a:spLocks noGrp="1"/>
          </p:cNvSpPr>
          <p:nvPr>
            <p:ph type="sldNum" sz="quarter" idx="12"/>
          </p:nvPr>
        </p:nvSpPr>
        <p:spPr/>
        <p:txBody>
          <a:bodyPr/>
          <a:lstStyle/>
          <a:p>
            <a:fld id="{499D393E-937C-43AF-8286-1304B3D101C1}" type="slidenum">
              <a:rPr lang="en-MY" smtClean="0"/>
              <a:t>35</a:t>
            </a:fld>
            <a:endParaRPr lang="en-MY"/>
          </a:p>
        </p:txBody>
      </p:sp>
    </p:spTree>
    <p:extLst>
      <p:ext uri="{BB962C8B-B14F-4D97-AF65-F5344CB8AC3E}">
        <p14:creationId xmlns:p14="http://schemas.microsoft.com/office/powerpoint/2010/main" val="22849824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C36B4A13-8E82-C252-A8AE-A91A475850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C0B41-1981-16AE-75CF-F2C8AB254095}"/>
              </a:ext>
            </a:extLst>
          </p:cNvPr>
          <p:cNvSpPr>
            <a:spLocks noGrp="1"/>
          </p:cNvSpPr>
          <p:nvPr>
            <p:ph type="title"/>
          </p:nvPr>
        </p:nvSpPr>
        <p:spPr/>
        <p:txBody>
          <a:bodyPr/>
          <a:lstStyle/>
          <a:p>
            <a:r>
              <a:rPr lang="en-US" dirty="0"/>
              <a:t>LAB 2: Forecasting retail sales value of beverages</a:t>
            </a:r>
            <a:endParaRPr lang="en-MY" dirty="0"/>
          </a:p>
        </p:txBody>
      </p:sp>
      <p:sp>
        <p:nvSpPr>
          <p:cNvPr id="6" name="Content Placeholder 2">
            <a:extLst>
              <a:ext uri="{FF2B5EF4-FFF2-40B4-BE49-F238E27FC236}">
                <a16:creationId xmlns:a16="http://schemas.microsoft.com/office/drawing/2014/main" id="{4130DE43-835A-9321-7035-28A34937AC3B}"/>
              </a:ext>
            </a:extLst>
          </p:cNvPr>
          <p:cNvSpPr>
            <a:spLocks noGrp="1"/>
          </p:cNvSpPr>
          <p:nvPr>
            <p:ph idx="1"/>
          </p:nvPr>
        </p:nvSpPr>
        <p:spPr>
          <a:xfrm>
            <a:off x="838200" y="1825625"/>
            <a:ext cx="10515600" cy="4351338"/>
          </a:xfrm>
        </p:spPr>
        <p:txBody>
          <a:bodyPr>
            <a:normAutofit fontScale="77500" lnSpcReduction="20000"/>
          </a:bodyPr>
          <a:lstStyle/>
          <a:p>
            <a:pPr marL="0" indent="0">
              <a:buNone/>
            </a:pPr>
            <a:r>
              <a:rPr lang="en-US" b="1" dirty="0"/>
              <a:t>Context</a:t>
            </a:r>
          </a:p>
          <a:p>
            <a:pPr marL="0" indent="0">
              <a:lnSpc>
                <a:spcPct val="120000"/>
              </a:lnSpc>
              <a:buNone/>
            </a:pPr>
            <a:r>
              <a:rPr lang="en-US" dirty="0"/>
              <a:t>This dataset was taken from a retail sales &amp; warehouse sales of Prima chain, a group of outlets in Malaysia from Jan-Jun 2024. As a business analyst under “Beverages”, you are required to produce forecast from July-Dec 2024.</a:t>
            </a:r>
          </a:p>
          <a:p>
            <a:pPr marL="0" indent="0">
              <a:buNone/>
            </a:pPr>
            <a:endParaRPr lang="en-US" dirty="0"/>
          </a:p>
          <a:p>
            <a:pPr marL="0" indent="0">
              <a:buNone/>
            </a:pPr>
            <a:r>
              <a:rPr lang="en-US" dirty="0"/>
              <a:t>The datasets cover all non-alcoholic beverages with various categories.</a:t>
            </a:r>
          </a:p>
          <a:p>
            <a:pPr marL="0" indent="0">
              <a:buNone/>
            </a:pPr>
            <a:endParaRPr lang="en-US" b="1" dirty="0"/>
          </a:p>
          <a:p>
            <a:pPr marL="0" indent="0">
              <a:buNone/>
            </a:pPr>
            <a:r>
              <a:rPr lang="en-US" b="1" dirty="0"/>
              <a:t>Your task</a:t>
            </a:r>
            <a:endParaRPr lang="en-US" dirty="0"/>
          </a:p>
          <a:p>
            <a:r>
              <a:rPr lang="en-US" sz="2600" dirty="0"/>
              <a:t>Assess if the entire dataset is necessary for the forecast</a:t>
            </a:r>
          </a:p>
          <a:p>
            <a:r>
              <a:rPr lang="en-US" sz="2600" dirty="0"/>
              <a:t>Construct a regression line for “Soda” category sales and assess if this model is a good fit</a:t>
            </a:r>
          </a:p>
          <a:p>
            <a:r>
              <a:rPr lang="en-US" sz="2600" dirty="0"/>
              <a:t>Determine the n-periods for forecasting using SMA and WMA</a:t>
            </a:r>
          </a:p>
        </p:txBody>
      </p:sp>
      <p:sp>
        <p:nvSpPr>
          <p:cNvPr id="3" name="Slide Number Placeholder 2">
            <a:extLst>
              <a:ext uri="{FF2B5EF4-FFF2-40B4-BE49-F238E27FC236}">
                <a16:creationId xmlns:a16="http://schemas.microsoft.com/office/drawing/2014/main" id="{BD75CF7E-41BB-441E-617A-B9380E6EAF33}"/>
              </a:ext>
            </a:extLst>
          </p:cNvPr>
          <p:cNvSpPr>
            <a:spLocks noGrp="1"/>
          </p:cNvSpPr>
          <p:nvPr>
            <p:ph type="sldNum" sz="quarter" idx="12"/>
          </p:nvPr>
        </p:nvSpPr>
        <p:spPr/>
        <p:txBody>
          <a:bodyPr/>
          <a:lstStyle/>
          <a:p>
            <a:fld id="{499D393E-937C-43AF-8286-1304B3D101C1}" type="slidenum">
              <a:rPr lang="en-MY" smtClean="0"/>
              <a:t>36</a:t>
            </a:fld>
            <a:endParaRPr lang="en-MY"/>
          </a:p>
        </p:txBody>
      </p:sp>
    </p:spTree>
    <p:extLst>
      <p:ext uri="{BB962C8B-B14F-4D97-AF65-F5344CB8AC3E}">
        <p14:creationId xmlns:p14="http://schemas.microsoft.com/office/powerpoint/2010/main" val="30527429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5BAFC3-901A-F4AA-DFBB-CC1B268A6C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658E7-E7FA-6936-C12B-C07C4B8791F5}"/>
              </a:ext>
            </a:extLst>
          </p:cNvPr>
          <p:cNvSpPr>
            <a:spLocks noGrp="1"/>
          </p:cNvSpPr>
          <p:nvPr>
            <p:ph type="title"/>
          </p:nvPr>
        </p:nvSpPr>
        <p:spPr>
          <a:xfrm>
            <a:off x="761803" y="350196"/>
            <a:ext cx="4646904" cy="1624520"/>
          </a:xfrm>
        </p:spPr>
        <p:txBody>
          <a:bodyPr anchor="ctr">
            <a:normAutofit/>
          </a:bodyPr>
          <a:lstStyle/>
          <a:p>
            <a:r>
              <a:rPr lang="en-US" sz="4000" dirty="0"/>
              <a:t>MILESTONE 2 AGENDA</a:t>
            </a:r>
            <a:endParaRPr lang="en-MY" sz="4000" dirty="0"/>
          </a:p>
        </p:txBody>
      </p:sp>
      <p:sp>
        <p:nvSpPr>
          <p:cNvPr id="3" name="Content Placeholder 2">
            <a:extLst>
              <a:ext uri="{FF2B5EF4-FFF2-40B4-BE49-F238E27FC236}">
                <a16:creationId xmlns:a16="http://schemas.microsoft.com/office/drawing/2014/main" id="{443027F8-9BEF-72CB-6C5D-D681805A9EA3}"/>
              </a:ext>
            </a:extLst>
          </p:cNvPr>
          <p:cNvSpPr>
            <a:spLocks noGrp="1"/>
          </p:cNvSpPr>
          <p:nvPr>
            <p:ph idx="1"/>
          </p:nvPr>
        </p:nvSpPr>
        <p:spPr>
          <a:xfrm>
            <a:off x="761802" y="2743200"/>
            <a:ext cx="4646905" cy="3613149"/>
          </a:xfrm>
        </p:spPr>
        <p:txBody>
          <a:bodyPr anchor="t">
            <a:normAutofit/>
          </a:bodyPr>
          <a:lstStyle/>
          <a:p>
            <a:pPr marL="342900" lvl="0" indent="-342900">
              <a:lnSpc>
                <a:spcPct val="107000"/>
              </a:lnSpc>
              <a:spcBef>
                <a:spcPts val="600"/>
              </a:spcBef>
              <a:spcAft>
                <a:spcPts val="600"/>
              </a:spcAft>
              <a:buFont typeface="Symbol" panose="05050102010706020507" pitchFamily="18" charset="2"/>
              <a:buChar char=""/>
            </a:pPr>
            <a:r>
              <a:rPr lang="en-GB" sz="1800" kern="100" dirty="0">
                <a:latin typeface="Aptos" panose="020B0004020202020204" pitchFamily="34" charset="0"/>
                <a:ea typeface="Aptos" panose="020B0004020202020204" pitchFamily="34" charset="0"/>
                <a:cs typeface="Times New Roman" panose="02020603050405020304" pitchFamily="18" charset="0"/>
              </a:rPr>
              <a:t>Milestone</a:t>
            </a:r>
            <a:r>
              <a:rPr lang="en-MY" sz="1800" kern="100" dirty="0">
                <a:effectLst/>
                <a:latin typeface="Aptos" panose="020B0004020202020204" pitchFamily="34" charset="0"/>
                <a:ea typeface="Aptos" panose="020B0004020202020204" pitchFamily="34" charset="0"/>
                <a:cs typeface="Times New Roman" panose="02020603050405020304" pitchFamily="18" charset="0"/>
              </a:rPr>
              <a:t> 1 recap</a:t>
            </a:r>
          </a:p>
          <a:p>
            <a:pPr marL="342900" lvl="0" indent="-342900">
              <a:lnSpc>
                <a:spcPct val="107000"/>
              </a:lnSpc>
              <a:spcBef>
                <a:spcPts val="600"/>
              </a:spcBef>
              <a:spcAft>
                <a:spcPts val="600"/>
              </a:spcAft>
              <a:buFont typeface="Symbol" panose="05050102010706020507" pitchFamily="18" charset="2"/>
              <a:buChar char=""/>
            </a:pPr>
            <a:r>
              <a:rPr lang="en-MY" sz="1800" kern="100" dirty="0">
                <a:effectLst/>
                <a:latin typeface="Aptos" panose="020B0004020202020204" pitchFamily="34" charset="0"/>
                <a:ea typeface="Aptos" panose="020B0004020202020204" pitchFamily="34" charset="0"/>
                <a:cs typeface="Times New Roman" panose="02020603050405020304" pitchFamily="18" charset="0"/>
              </a:rPr>
              <a:t>Model-driven data exploration in Power BI using SDG datasets</a:t>
            </a:r>
          </a:p>
          <a:p>
            <a:pPr marL="342900" lvl="0" indent="-342900">
              <a:lnSpc>
                <a:spcPct val="107000"/>
              </a:lnSpc>
              <a:spcBef>
                <a:spcPts val="600"/>
              </a:spcBef>
              <a:spcAft>
                <a:spcPts val="600"/>
              </a:spcAft>
              <a:buFont typeface="Symbol" panose="05050102010706020507" pitchFamily="18" charset="2"/>
              <a:buChar char=""/>
            </a:pPr>
            <a:r>
              <a:rPr lang="en-MY" sz="1800" kern="100" dirty="0">
                <a:effectLst/>
                <a:latin typeface="Aptos" panose="020B0004020202020204" pitchFamily="34" charset="0"/>
                <a:ea typeface="Aptos" panose="020B0004020202020204" pitchFamily="34" charset="0"/>
                <a:cs typeface="Times New Roman" panose="02020603050405020304" pitchFamily="18" charset="0"/>
              </a:rPr>
              <a:t>Exploratory Data Analysis (EDA) using Power BI using SDG datasets</a:t>
            </a:r>
          </a:p>
          <a:p>
            <a:pPr marL="342900" lvl="0" indent="-342900">
              <a:lnSpc>
                <a:spcPct val="107000"/>
              </a:lnSpc>
              <a:spcBef>
                <a:spcPts val="600"/>
              </a:spcBef>
              <a:spcAft>
                <a:spcPts val="600"/>
              </a:spcAft>
              <a:buFont typeface="Symbol" panose="05050102010706020507" pitchFamily="18" charset="2"/>
              <a:buChar char=""/>
            </a:pPr>
            <a:r>
              <a:rPr lang="en-MY" sz="1800" kern="100" dirty="0">
                <a:latin typeface="Aptos" panose="020B0004020202020204" pitchFamily="34" charset="0"/>
                <a:ea typeface="Aptos" panose="020B0004020202020204" pitchFamily="34" charset="0"/>
                <a:cs typeface="Times New Roman" panose="02020603050405020304" pitchFamily="18" charset="0"/>
              </a:rPr>
              <a:t>Applying business logics for RFM analysis</a:t>
            </a:r>
          </a:p>
          <a:p>
            <a:pPr marL="342900" lvl="0" indent="-342900">
              <a:lnSpc>
                <a:spcPct val="107000"/>
              </a:lnSpc>
              <a:spcBef>
                <a:spcPts val="600"/>
              </a:spcBef>
              <a:spcAft>
                <a:spcPts val="600"/>
              </a:spcAft>
              <a:buFont typeface="Symbol" panose="05050102010706020507" pitchFamily="18" charset="2"/>
              <a:buChar char=""/>
            </a:pPr>
            <a:endParaRPr lang="en-MY"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Bef>
                <a:spcPts val="600"/>
              </a:spcBef>
              <a:spcAft>
                <a:spcPts val="600"/>
              </a:spcAft>
              <a:buFont typeface="Symbol" panose="05050102010706020507" pitchFamily="18" charset="2"/>
              <a:buChar char=""/>
            </a:pPr>
            <a:endParaRPr lang="en-MY" sz="1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descr="Magnifying glass showing decling performance">
            <a:extLst>
              <a:ext uri="{FF2B5EF4-FFF2-40B4-BE49-F238E27FC236}">
                <a16:creationId xmlns:a16="http://schemas.microsoft.com/office/drawing/2014/main" id="{CBD1857A-FCA6-89A3-D8EC-FFC2419E8C9B}"/>
              </a:ext>
            </a:extLst>
          </p:cNvPr>
          <p:cNvPicPr>
            <a:picLocks noChangeAspect="1"/>
          </p:cNvPicPr>
          <p:nvPr/>
        </p:nvPicPr>
        <p:blipFill>
          <a:blip r:embed="rId2"/>
          <a:srcRect l="13740" r="26860" b="-2"/>
          <a:stretch>
            <a:fillRect/>
          </a:stretch>
        </p:blipFill>
        <p:spPr>
          <a:xfrm>
            <a:off x="6096000" y="1"/>
            <a:ext cx="6102825" cy="6858000"/>
          </a:xfrm>
          <a:prstGeom prst="rect">
            <a:avLst/>
          </a:prstGeom>
        </p:spPr>
      </p:pic>
      <p:sp>
        <p:nvSpPr>
          <p:cNvPr id="4" name="Slide Number Placeholder 3">
            <a:extLst>
              <a:ext uri="{FF2B5EF4-FFF2-40B4-BE49-F238E27FC236}">
                <a16:creationId xmlns:a16="http://schemas.microsoft.com/office/drawing/2014/main" id="{A16A1599-E22A-CA90-E212-901D68D94563}"/>
              </a:ext>
            </a:extLst>
          </p:cNvPr>
          <p:cNvSpPr>
            <a:spLocks noGrp="1"/>
          </p:cNvSpPr>
          <p:nvPr>
            <p:ph type="sldNum" sz="quarter" idx="12"/>
          </p:nvPr>
        </p:nvSpPr>
        <p:spPr/>
        <p:txBody>
          <a:bodyPr/>
          <a:lstStyle/>
          <a:p>
            <a:fld id="{499D393E-937C-43AF-8286-1304B3D101C1}" type="slidenum">
              <a:rPr lang="en-MY" smtClean="0"/>
              <a:t>37</a:t>
            </a:fld>
            <a:endParaRPr lang="en-MY"/>
          </a:p>
        </p:txBody>
      </p:sp>
    </p:spTree>
    <p:extLst>
      <p:ext uri="{BB962C8B-B14F-4D97-AF65-F5344CB8AC3E}">
        <p14:creationId xmlns:p14="http://schemas.microsoft.com/office/powerpoint/2010/main" val="38724722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AE01B-8825-3510-54FC-2B94D6E4FCDC}"/>
              </a:ext>
            </a:extLst>
          </p:cNvPr>
          <p:cNvSpPr>
            <a:spLocks noGrp="1"/>
          </p:cNvSpPr>
          <p:nvPr>
            <p:ph type="title"/>
          </p:nvPr>
        </p:nvSpPr>
        <p:spPr/>
        <p:txBody>
          <a:bodyPr/>
          <a:lstStyle/>
          <a:p>
            <a:r>
              <a:rPr lang="en-US" dirty="0"/>
              <a:t>Setting expectations from this module onwards…</a:t>
            </a:r>
            <a:endParaRPr lang="en-MY" dirty="0"/>
          </a:p>
        </p:txBody>
      </p:sp>
      <p:sp>
        <p:nvSpPr>
          <p:cNvPr id="4" name="Slide Number Placeholder 3">
            <a:extLst>
              <a:ext uri="{FF2B5EF4-FFF2-40B4-BE49-F238E27FC236}">
                <a16:creationId xmlns:a16="http://schemas.microsoft.com/office/drawing/2014/main" id="{30456A0B-F67D-F8F4-CDCA-36EE24E0C718}"/>
              </a:ext>
            </a:extLst>
          </p:cNvPr>
          <p:cNvSpPr>
            <a:spLocks noGrp="1"/>
          </p:cNvSpPr>
          <p:nvPr>
            <p:ph type="sldNum" sz="quarter" idx="12"/>
          </p:nvPr>
        </p:nvSpPr>
        <p:spPr/>
        <p:txBody>
          <a:bodyPr/>
          <a:lstStyle/>
          <a:p>
            <a:fld id="{499D393E-937C-43AF-8286-1304B3D101C1}" type="slidenum">
              <a:rPr lang="en-MY" smtClean="0"/>
              <a:t>38</a:t>
            </a:fld>
            <a:endParaRPr lang="en-MY"/>
          </a:p>
        </p:txBody>
      </p:sp>
      <p:grpSp>
        <p:nvGrpSpPr>
          <p:cNvPr id="5" name="Group 4">
            <a:extLst>
              <a:ext uri="{FF2B5EF4-FFF2-40B4-BE49-F238E27FC236}">
                <a16:creationId xmlns:a16="http://schemas.microsoft.com/office/drawing/2014/main" id="{48E7B3CC-D37E-FD84-BAC0-F114FA712EF8}"/>
              </a:ext>
            </a:extLst>
          </p:cNvPr>
          <p:cNvGrpSpPr/>
          <p:nvPr/>
        </p:nvGrpSpPr>
        <p:grpSpPr>
          <a:xfrm>
            <a:off x="1029097" y="1907630"/>
            <a:ext cx="1455476" cy="1092424"/>
            <a:chOff x="9511302" y="5338567"/>
            <a:chExt cx="1842498" cy="1382908"/>
          </a:xfrm>
        </p:grpSpPr>
        <p:pic>
          <p:nvPicPr>
            <p:cNvPr id="6" name="Picture 5">
              <a:extLst>
                <a:ext uri="{FF2B5EF4-FFF2-40B4-BE49-F238E27FC236}">
                  <a16:creationId xmlns:a16="http://schemas.microsoft.com/office/drawing/2014/main" id="{DFF242C6-3F68-C974-7F4E-A77AE6CCA33D}"/>
                </a:ext>
              </a:extLst>
            </p:cNvPr>
            <p:cNvPicPr>
              <a:picLocks noChangeAspect="1"/>
            </p:cNvPicPr>
            <p:nvPr/>
          </p:nvPicPr>
          <p:blipFill>
            <a:blip r:embed="rId2"/>
            <a:srcRect t="12585" b="12359"/>
            <a:stretch>
              <a:fillRect/>
            </a:stretch>
          </p:blipFill>
          <p:spPr>
            <a:xfrm>
              <a:off x="9511302" y="5338567"/>
              <a:ext cx="1842498" cy="1382908"/>
            </a:xfrm>
            <a:prstGeom prst="rect">
              <a:avLst/>
            </a:prstGeom>
          </p:spPr>
        </p:pic>
        <p:sp>
          <p:nvSpPr>
            <p:cNvPr id="7" name="Rectangle 6">
              <a:extLst>
                <a:ext uri="{FF2B5EF4-FFF2-40B4-BE49-F238E27FC236}">
                  <a16:creationId xmlns:a16="http://schemas.microsoft.com/office/drawing/2014/main" id="{FAADBF8E-B59A-BCF4-EC4C-86F3938F9FFB}"/>
                </a:ext>
              </a:extLst>
            </p:cNvPr>
            <p:cNvSpPr/>
            <p:nvPr/>
          </p:nvSpPr>
          <p:spPr>
            <a:xfrm>
              <a:off x="9556750" y="6311900"/>
              <a:ext cx="1739900" cy="365125"/>
            </a:xfrm>
            <a:prstGeom prst="rect">
              <a:avLst/>
            </a:prstGeom>
            <a:solidFill>
              <a:srgbClr val="2837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KONTRAKTOR: Alex Ooi</a:t>
              </a:r>
            </a:p>
            <a:p>
              <a:pPr algn="ctr"/>
              <a:r>
                <a:rPr lang="en-MY" sz="900" dirty="0"/>
                <a:t>alex@gemrain.net</a:t>
              </a:r>
            </a:p>
          </p:txBody>
        </p:sp>
      </p:grpSp>
      <p:pic>
        <p:nvPicPr>
          <p:cNvPr id="9" name="Graphic 8" descr="Traffic cone with solid fill">
            <a:extLst>
              <a:ext uri="{FF2B5EF4-FFF2-40B4-BE49-F238E27FC236}">
                <a16:creationId xmlns:a16="http://schemas.microsoft.com/office/drawing/2014/main" id="{E2247DE6-5E1B-2644-AF45-9447938EF6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5222" y="3340956"/>
            <a:ext cx="1033982" cy="1033982"/>
          </a:xfrm>
          <a:prstGeom prst="rect">
            <a:avLst/>
          </a:prstGeom>
        </p:spPr>
      </p:pic>
      <p:pic>
        <p:nvPicPr>
          <p:cNvPr id="10" name="Graphic 9" descr="Warning with solid fill">
            <a:extLst>
              <a:ext uri="{FF2B5EF4-FFF2-40B4-BE49-F238E27FC236}">
                <a16:creationId xmlns:a16="http://schemas.microsoft.com/office/drawing/2014/main" id="{D67AD22B-5C48-8543-F254-71768A98D4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95013" y="4715840"/>
            <a:ext cx="914400" cy="914400"/>
          </a:xfrm>
          <a:prstGeom prst="rect">
            <a:avLst/>
          </a:prstGeom>
        </p:spPr>
      </p:pic>
      <p:sp>
        <p:nvSpPr>
          <p:cNvPr id="12" name="Content Placeholder 5">
            <a:extLst>
              <a:ext uri="{FF2B5EF4-FFF2-40B4-BE49-F238E27FC236}">
                <a16:creationId xmlns:a16="http://schemas.microsoft.com/office/drawing/2014/main" id="{933B77A0-875E-0D19-E59A-9C5031A2DABE}"/>
              </a:ext>
            </a:extLst>
          </p:cNvPr>
          <p:cNvSpPr>
            <a:spLocks noGrp="1"/>
          </p:cNvSpPr>
          <p:nvPr>
            <p:ph sz="half" idx="1"/>
          </p:nvPr>
        </p:nvSpPr>
        <p:spPr>
          <a:xfrm>
            <a:off x="2903305" y="1906132"/>
            <a:ext cx="8259598" cy="1092424"/>
          </a:xfrm>
          <a:ln>
            <a:solidFill>
              <a:schemeClr val="tx1">
                <a:lumMod val="50000"/>
                <a:lumOff val="50000"/>
              </a:schemeClr>
            </a:solidFill>
          </a:ln>
        </p:spPr>
        <p:txBody>
          <a:bodyPr>
            <a:normAutofit fontScale="92500"/>
          </a:bodyPr>
          <a:lstStyle/>
          <a:p>
            <a:pPr marL="0" indent="0">
              <a:buNone/>
            </a:pPr>
            <a:r>
              <a:rPr lang="en-US" sz="1800" b="1" u="sng" dirty="0"/>
              <a:t>Advance warning</a:t>
            </a:r>
          </a:p>
          <a:p>
            <a:pPr marL="0" indent="0">
              <a:buNone/>
            </a:pPr>
            <a:r>
              <a:rPr lang="en-US" sz="1800" i="0" kern="1200" dirty="0">
                <a:effectLst/>
                <a:latin typeface="Consolas" panose="020B0609020204030204" pitchFamily="49" charset="0"/>
                <a:ea typeface="+mn-ea"/>
                <a:cs typeface="+mn-cs"/>
              </a:rPr>
              <a:t>You are about to enter intermediate DAX &amp; data modeling principles zone – ensure full focus from this point onwards when you see this</a:t>
            </a:r>
            <a:endParaRPr lang="en-US" sz="1200" i="0" kern="1200" dirty="0">
              <a:effectLst/>
              <a:latin typeface="Consolas" panose="020B0609020204030204" pitchFamily="49" charset="0"/>
              <a:ea typeface="+mn-ea"/>
              <a:cs typeface="+mn-cs"/>
            </a:endParaRPr>
          </a:p>
        </p:txBody>
      </p:sp>
      <p:sp>
        <p:nvSpPr>
          <p:cNvPr id="13" name="Content Placeholder 5">
            <a:extLst>
              <a:ext uri="{FF2B5EF4-FFF2-40B4-BE49-F238E27FC236}">
                <a16:creationId xmlns:a16="http://schemas.microsoft.com/office/drawing/2014/main" id="{85611097-CC67-F234-F6CC-C6CF71D1CFD3}"/>
              </a:ext>
            </a:extLst>
          </p:cNvPr>
          <p:cNvSpPr txBox="1">
            <a:spLocks/>
          </p:cNvSpPr>
          <p:nvPr/>
        </p:nvSpPr>
        <p:spPr>
          <a:xfrm>
            <a:off x="2903305" y="3209709"/>
            <a:ext cx="8259598" cy="1092424"/>
          </a:xfrm>
          <a:prstGeom prst="rect">
            <a:avLst/>
          </a:prstGeom>
          <a:ln>
            <a:solidFill>
              <a:schemeClr val="tx1">
                <a:lumMod val="50000"/>
                <a:lumOff val="50000"/>
              </a:schemeClr>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u="sng" dirty="0"/>
              <a:t>Slow down</a:t>
            </a:r>
          </a:p>
          <a:p>
            <a:pPr marL="0" indent="0">
              <a:buFont typeface="Arial" panose="020B0604020202020204" pitchFamily="34" charset="0"/>
              <a:buNone/>
            </a:pPr>
            <a:r>
              <a:rPr lang="en-US" sz="1800" dirty="0">
                <a:latin typeface="Consolas" panose="020B0609020204030204" pitchFamily="49" charset="0"/>
              </a:rPr>
              <a:t>This is a new concept in DAX which requires your full participation. Stop the trainer when in doubt before moving on!</a:t>
            </a:r>
            <a:endParaRPr lang="en-US" sz="1200" dirty="0">
              <a:latin typeface="Consolas" panose="020B0609020204030204" pitchFamily="49" charset="0"/>
            </a:endParaRPr>
          </a:p>
        </p:txBody>
      </p:sp>
      <p:sp>
        <p:nvSpPr>
          <p:cNvPr id="14" name="Content Placeholder 5">
            <a:extLst>
              <a:ext uri="{FF2B5EF4-FFF2-40B4-BE49-F238E27FC236}">
                <a16:creationId xmlns:a16="http://schemas.microsoft.com/office/drawing/2014/main" id="{3FC5A6A7-544C-ACE1-B764-1222E8694A55}"/>
              </a:ext>
            </a:extLst>
          </p:cNvPr>
          <p:cNvSpPr txBox="1">
            <a:spLocks/>
          </p:cNvSpPr>
          <p:nvPr/>
        </p:nvSpPr>
        <p:spPr>
          <a:xfrm>
            <a:off x="2903305" y="4626828"/>
            <a:ext cx="8259598" cy="1092424"/>
          </a:xfrm>
          <a:prstGeom prst="rect">
            <a:avLst/>
          </a:prstGeom>
          <a:ln>
            <a:solidFill>
              <a:schemeClr val="tx1">
                <a:lumMod val="50000"/>
                <a:lumOff val="50000"/>
              </a:schemeClr>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u="sng" dirty="0"/>
              <a:t>Checkpoint</a:t>
            </a:r>
          </a:p>
          <a:p>
            <a:pPr marL="0" indent="0">
              <a:buFont typeface="Arial" panose="020B0604020202020204" pitchFamily="34" charset="0"/>
              <a:buNone/>
            </a:pPr>
            <a:r>
              <a:rPr lang="en-US" sz="1800" dirty="0">
                <a:latin typeface="Consolas" panose="020B0609020204030204" pitchFamily="49" charset="0"/>
              </a:rPr>
              <a:t>Housekeeping rules will be revisited. Ensure certain features are already enabled; if not enabled, please enable them, close the Power BI Desktop app and reopen for the changes to be reflected </a:t>
            </a:r>
            <a:endParaRPr lang="en-US" sz="1200" dirty="0">
              <a:latin typeface="Consolas" panose="020B0609020204030204" pitchFamily="49" charset="0"/>
            </a:endParaRPr>
          </a:p>
        </p:txBody>
      </p:sp>
    </p:spTree>
    <p:extLst>
      <p:ext uri="{BB962C8B-B14F-4D97-AF65-F5344CB8AC3E}">
        <p14:creationId xmlns:p14="http://schemas.microsoft.com/office/powerpoint/2010/main" val="23785300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a:extLst>
            <a:ext uri="{FF2B5EF4-FFF2-40B4-BE49-F238E27FC236}">
              <a16:creationId xmlns:a16="http://schemas.microsoft.com/office/drawing/2014/main" id="{B0F4D359-FAF6-8A6E-BD18-1D6CE00114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D8B08-2FAC-A3FD-F80B-BE226F76C391}"/>
              </a:ext>
            </a:extLst>
          </p:cNvPr>
          <p:cNvSpPr>
            <a:spLocks noGrp="1"/>
          </p:cNvSpPr>
          <p:nvPr>
            <p:ph type="title"/>
          </p:nvPr>
        </p:nvSpPr>
        <p:spPr>
          <a:xfrm>
            <a:off x="1674688" y="365125"/>
            <a:ext cx="7824331" cy="1325563"/>
          </a:xfrm>
        </p:spPr>
        <p:txBody>
          <a:bodyPr/>
          <a:lstStyle/>
          <a:p>
            <a:r>
              <a:rPr lang="en-US" dirty="0"/>
              <a:t>DAX Patterns – Averages</a:t>
            </a:r>
            <a:endParaRPr lang="en-MY" dirty="0"/>
          </a:p>
        </p:txBody>
      </p:sp>
      <p:sp>
        <p:nvSpPr>
          <p:cNvPr id="6" name="Content Placeholder 5">
            <a:extLst>
              <a:ext uri="{FF2B5EF4-FFF2-40B4-BE49-F238E27FC236}">
                <a16:creationId xmlns:a16="http://schemas.microsoft.com/office/drawing/2014/main" id="{51821EED-2BAD-99D8-4316-DD8B45956F52}"/>
              </a:ext>
            </a:extLst>
          </p:cNvPr>
          <p:cNvSpPr>
            <a:spLocks noGrp="1"/>
          </p:cNvSpPr>
          <p:nvPr>
            <p:ph sz="half" idx="1"/>
          </p:nvPr>
        </p:nvSpPr>
        <p:spPr>
          <a:xfrm>
            <a:off x="838200" y="1825625"/>
            <a:ext cx="3065206" cy="4351338"/>
          </a:xfrm>
          <a:ln>
            <a:solidFill>
              <a:schemeClr val="tx1">
                <a:lumMod val="50000"/>
                <a:lumOff val="50000"/>
              </a:schemeClr>
            </a:solidFill>
          </a:ln>
        </p:spPr>
        <p:txBody>
          <a:bodyPr/>
          <a:lstStyle/>
          <a:p>
            <a:pPr marL="0" indent="0">
              <a:buNone/>
            </a:pPr>
            <a:r>
              <a:rPr lang="en-US" sz="2400" b="1" u="sng" dirty="0"/>
              <a:t>ARITHMETIC MEAN</a:t>
            </a:r>
          </a:p>
          <a:p>
            <a:pPr marL="0" algn="l" rtl="0" eaLnBrk="1" latinLnBrk="0" hangingPunct="1">
              <a:buNone/>
            </a:pPr>
            <a:r>
              <a:rPr lang="en-US" sz="1800" b="0" i="0" kern="1200" dirty="0">
                <a:solidFill>
                  <a:srgbClr val="000000"/>
                </a:solidFill>
                <a:effectLst/>
                <a:latin typeface="Consolas" panose="020B0609020204030204" pitchFamily="49" charset="0"/>
                <a:ea typeface="+mn-ea"/>
                <a:cs typeface="+mn-cs"/>
              </a:rPr>
              <a:t>Arithmetic Mean =</a:t>
            </a:r>
            <a:endParaRPr lang="en-MY" sz="1600" dirty="0">
              <a:effectLst/>
            </a:endParaRPr>
          </a:p>
          <a:p>
            <a:pPr marL="0">
              <a:buNone/>
            </a:pPr>
            <a:r>
              <a:rPr lang="en-US" sz="1600" b="0" i="0" kern="1200" dirty="0">
                <a:solidFill>
                  <a:srgbClr val="0070C0"/>
                </a:solidFill>
                <a:effectLst/>
                <a:latin typeface="Consolas" panose="020B0609020204030204" pitchFamily="49" charset="0"/>
                <a:ea typeface="+mn-ea"/>
                <a:cs typeface="+mn-cs"/>
              </a:rPr>
              <a:t>AVERAGE</a:t>
            </a:r>
            <a:r>
              <a:rPr lang="en-US" sz="1600" b="0" i="0" kern="1200" dirty="0">
                <a:effectLst/>
                <a:latin typeface="Consolas" panose="020B0609020204030204" pitchFamily="49" charset="0"/>
                <a:ea typeface="+mn-ea"/>
                <a:cs typeface="+mn-cs"/>
              </a:rPr>
              <a:t>(</a:t>
            </a:r>
            <a:r>
              <a:rPr lang="en-US" sz="1600" dirty="0">
                <a:latin typeface="Consolas" panose="020B0609020204030204" pitchFamily="49" charset="0"/>
              </a:rPr>
              <a:t>'table’</a:t>
            </a:r>
            <a:r>
              <a:rPr lang="en-US" sz="1600" b="0" i="0" kern="1200" dirty="0">
                <a:effectLst/>
                <a:latin typeface="Consolas" panose="020B0609020204030204" pitchFamily="49" charset="0"/>
                <a:ea typeface="+mn-ea"/>
                <a:cs typeface="+mn-cs"/>
              </a:rPr>
              <a:t>[Column])</a:t>
            </a:r>
          </a:p>
        </p:txBody>
      </p:sp>
      <p:sp>
        <p:nvSpPr>
          <p:cNvPr id="7" name="Content Placeholder 6">
            <a:extLst>
              <a:ext uri="{FF2B5EF4-FFF2-40B4-BE49-F238E27FC236}">
                <a16:creationId xmlns:a16="http://schemas.microsoft.com/office/drawing/2014/main" id="{D52FB30B-60FE-5507-47AB-249B946BD8A5}"/>
              </a:ext>
            </a:extLst>
          </p:cNvPr>
          <p:cNvSpPr>
            <a:spLocks noGrp="1"/>
          </p:cNvSpPr>
          <p:nvPr>
            <p:ph sz="half" idx="2"/>
          </p:nvPr>
        </p:nvSpPr>
        <p:spPr>
          <a:xfrm>
            <a:off x="8288592" y="1825625"/>
            <a:ext cx="3065207" cy="4351338"/>
          </a:xfrm>
          <a:ln>
            <a:solidFill>
              <a:schemeClr val="tx1">
                <a:lumMod val="50000"/>
                <a:lumOff val="50000"/>
              </a:schemeClr>
            </a:solidFill>
          </a:ln>
        </p:spPr>
        <p:txBody>
          <a:bodyPr>
            <a:normAutofit/>
          </a:bodyPr>
          <a:lstStyle/>
          <a:p>
            <a:pPr marL="0" indent="0">
              <a:buNone/>
            </a:pPr>
            <a:r>
              <a:rPr lang="en-US" sz="2400" b="1" u="sng" dirty="0"/>
              <a:t>WEIGHTED MEAN</a:t>
            </a:r>
          </a:p>
          <a:p>
            <a:pPr marL="0" algn="l" rtl="0" eaLnBrk="1" latinLnBrk="0" hangingPunct="1">
              <a:buNone/>
            </a:pPr>
            <a:r>
              <a:rPr lang="en-US" sz="1400" kern="1200" dirty="0">
                <a:solidFill>
                  <a:srgbClr val="000000"/>
                </a:solidFill>
                <a:effectLst/>
                <a:latin typeface="Consolas" panose="020B0609020204030204" pitchFamily="49" charset="0"/>
                <a:ea typeface="+mn-ea"/>
                <a:cs typeface="+mn-cs"/>
              </a:rPr>
              <a:t>Weighted Mean =</a:t>
            </a:r>
            <a:endParaRPr lang="en-MY" sz="1200" dirty="0">
              <a:effectLst/>
            </a:endParaRPr>
          </a:p>
          <a:p>
            <a:pPr marL="0">
              <a:buNone/>
            </a:pPr>
            <a:r>
              <a:rPr lang="en-US" sz="1400" kern="1200" dirty="0">
                <a:solidFill>
                  <a:srgbClr val="0070C0"/>
                </a:solidFill>
                <a:effectLst/>
                <a:latin typeface="Consolas" panose="020B0609020204030204" pitchFamily="49" charset="0"/>
                <a:ea typeface="+mn-ea"/>
                <a:cs typeface="+mn-cs"/>
              </a:rPr>
              <a:t>VAR</a:t>
            </a:r>
            <a:r>
              <a:rPr lang="en-US" sz="1400" kern="1200" dirty="0">
                <a:solidFill>
                  <a:srgbClr val="000000"/>
                </a:solidFill>
                <a:effectLst/>
                <a:latin typeface="Consolas" panose="020B0609020204030204" pitchFamily="49" charset="0"/>
                <a:ea typeface="+mn-ea"/>
                <a:cs typeface="+mn-cs"/>
              </a:rPr>
              <a:t> </a:t>
            </a:r>
            <a:r>
              <a:rPr lang="en-US" sz="1400" kern="1200" dirty="0" err="1">
                <a:solidFill>
                  <a:srgbClr val="000000"/>
                </a:solidFill>
                <a:effectLst/>
                <a:latin typeface="Consolas" panose="020B0609020204030204" pitchFamily="49" charset="0"/>
                <a:ea typeface="+mn-ea"/>
                <a:cs typeface="+mn-cs"/>
              </a:rPr>
              <a:t>WeightedValues</a:t>
            </a:r>
            <a:r>
              <a:rPr lang="en-US" sz="1400" kern="1200" dirty="0">
                <a:solidFill>
                  <a:srgbClr val="000000"/>
                </a:solidFill>
                <a:effectLst/>
                <a:latin typeface="Consolas" panose="020B0609020204030204" pitchFamily="49" charset="0"/>
                <a:ea typeface="+mn-ea"/>
                <a:cs typeface="+mn-cs"/>
              </a:rPr>
              <a:t> = </a:t>
            </a:r>
            <a:r>
              <a:rPr lang="en-US" sz="1400" kern="1200" dirty="0">
                <a:solidFill>
                  <a:srgbClr val="0070C0"/>
                </a:solidFill>
                <a:effectLst/>
                <a:latin typeface="Consolas" panose="020B0609020204030204" pitchFamily="49" charset="0"/>
                <a:ea typeface="+mn-ea"/>
                <a:cs typeface="+mn-cs"/>
              </a:rPr>
              <a:t>SUMX</a:t>
            </a:r>
            <a:r>
              <a:rPr lang="en-US" sz="1400" kern="1200" dirty="0">
                <a:solidFill>
                  <a:srgbClr val="000000"/>
                </a:solidFill>
                <a:effectLst/>
                <a:latin typeface="Consolas" panose="020B0609020204030204" pitchFamily="49" charset="0"/>
                <a:ea typeface="+mn-ea"/>
                <a:cs typeface="+mn-cs"/>
              </a:rPr>
              <a:t>(</a:t>
            </a:r>
            <a:r>
              <a:rPr lang="en-US" sz="1400" dirty="0">
                <a:latin typeface="Consolas" panose="020B0609020204030204" pitchFamily="49" charset="0"/>
              </a:rPr>
              <a:t>'table'</a:t>
            </a:r>
            <a:r>
              <a:rPr lang="en-US" sz="1400" kern="1200" dirty="0">
                <a:solidFill>
                  <a:srgbClr val="000000"/>
                </a:solidFill>
                <a:effectLst/>
                <a:latin typeface="Consolas" panose="020B0609020204030204" pitchFamily="49" charset="0"/>
                <a:ea typeface="+mn-ea"/>
                <a:cs typeface="+mn-cs"/>
              </a:rPr>
              <a:t>, </a:t>
            </a:r>
            <a:r>
              <a:rPr lang="en-US" sz="1400" dirty="0">
                <a:latin typeface="Consolas" panose="020B0609020204030204" pitchFamily="49" charset="0"/>
              </a:rPr>
              <a:t>'table'</a:t>
            </a:r>
            <a:r>
              <a:rPr lang="en-US" sz="1400" kern="1200" dirty="0">
                <a:solidFill>
                  <a:srgbClr val="000000"/>
                </a:solidFill>
                <a:effectLst/>
                <a:latin typeface="Consolas" panose="020B0609020204030204" pitchFamily="49" charset="0"/>
                <a:ea typeface="+mn-ea"/>
                <a:cs typeface="+mn-cs"/>
              </a:rPr>
              <a:t>[Value] * </a:t>
            </a:r>
            <a:r>
              <a:rPr lang="en-US" sz="1400" dirty="0">
                <a:latin typeface="Consolas" panose="020B0609020204030204" pitchFamily="49" charset="0"/>
              </a:rPr>
              <a:t>'table' </a:t>
            </a:r>
            <a:r>
              <a:rPr lang="en-US" sz="1400" kern="1200" dirty="0">
                <a:solidFill>
                  <a:srgbClr val="000000"/>
                </a:solidFill>
                <a:effectLst/>
                <a:latin typeface="Consolas" panose="020B0609020204030204" pitchFamily="49" charset="0"/>
                <a:ea typeface="+mn-ea"/>
                <a:cs typeface="+mn-cs"/>
              </a:rPr>
              <a:t>[</a:t>
            </a:r>
            <a:r>
              <a:rPr lang="en-US" sz="1400" kern="1200" dirty="0" err="1">
                <a:solidFill>
                  <a:srgbClr val="000000"/>
                </a:solidFill>
                <a:effectLst/>
                <a:latin typeface="Consolas" panose="020B0609020204030204" pitchFamily="49" charset="0"/>
                <a:ea typeface="+mn-ea"/>
                <a:cs typeface="+mn-cs"/>
              </a:rPr>
              <a:t>WeightValue</a:t>
            </a:r>
            <a:r>
              <a:rPr lang="en-US" sz="1400" kern="1200" dirty="0">
                <a:solidFill>
                  <a:srgbClr val="000000"/>
                </a:solidFill>
                <a:effectLst/>
                <a:latin typeface="Consolas" panose="020B0609020204030204" pitchFamily="49" charset="0"/>
                <a:ea typeface="+mn-ea"/>
                <a:cs typeface="+mn-cs"/>
              </a:rPr>
              <a:t>])</a:t>
            </a:r>
          </a:p>
          <a:p>
            <a:pPr marL="0">
              <a:buNone/>
            </a:pPr>
            <a:endParaRPr lang="en-MY" sz="1200" dirty="0">
              <a:effectLst/>
            </a:endParaRPr>
          </a:p>
          <a:p>
            <a:pPr marL="0" algn="l" rtl="0" eaLnBrk="1" latinLnBrk="0" hangingPunct="1">
              <a:buNone/>
            </a:pPr>
            <a:r>
              <a:rPr lang="en-MY" sz="1400" kern="1200" dirty="0">
                <a:solidFill>
                  <a:srgbClr val="0070C0"/>
                </a:solidFill>
                <a:effectLst/>
                <a:latin typeface="Consolas" panose="020B0609020204030204" pitchFamily="49" charset="0"/>
                <a:ea typeface="+mn-ea"/>
                <a:cs typeface="+mn-cs"/>
              </a:rPr>
              <a:t>VAR</a:t>
            </a:r>
            <a:r>
              <a:rPr lang="en-MY" sz="1400" kern="1200" dirty="0">
                <a:solidFill>
                  <a:srgbClr val="000000"/>
                </a:solidFill>
                <a:effectLst/>
                <a:latin typeface="Consolas" panose="020B0609020204030204" pitchFamily="49" charset="0"/>
                <a:ea typeface="+mn-ea"/>
                <a:cs typeface="+mn-cs"/>
              </a:rPr>
              <a:t> </a:t>
            </a:r>
            <a:r>
              <a:rPr lang="en-US" sz="1400" kern="1200" dirty="0" err="1">
                <a:solidFill>
                  <a:srgbClr val="000000"/>
                </a:solidFill>
                <a:effectLst/>
                <a:latin typeface="Consolas" panose="020B0609020204030204" pitchFamily="49" charset="0"/>
                <a:ea typeface="+mn-ea"/>
                <a:cs typeface="+mn-cs"/>
              </a:rPr>
              <a:t>TotalWeights</a:t>
            </a:r>
            <a:r>
              <a:rPr lang="en-US" sz="1400" kern="1200" dirty="0">
                <a:solidFill>
                  <a:srgbClr val="000000"/>
                </a:solidFill>
                <a:effectLst/>
                <a:latin typeface="Consolas" panose="020B0609020204030204" pitchFamily="49" charset="0"/>
                <a:ea typeface="+mn-ea"/>
                <a:cs typeface="+mn-cs"/>
              </a:rPr>
              <a:t> = </a:t>
            </a:r>
            <a:r>
              <a:rPr lang="en-US" sz="1400" kern="1200" dirty="0">
                <a:solidFill>
                  <a:srgbClr val="0070C0"/>
                </a:solidFill>
                <a:effectLst/>
                <a:latin typeface="Consolas" panose="020B0609020204030204" pitchFamily="49" charset="0"/>
                <a:ea typeface="+mn-ea"/>
                <a:cs typeface="+mn-cs"/>
              </a:rPr>
              <a:t>SUM</a:t>
            </a:r>
            <a:r>
              <a:rPr lang="en-US" sz="1400" kern="1200" dirty="0">
                <a:solidFill>
                  <a:srgbClr val="000000"/>
                </a:solidFill>
                <a:effectLst/>
                <a:latin typeface="Consolas" panose="020B0609020204030204" pitchFamily="49" charset="0"/>
                <a:ea typeface="+mn-ea"/>
                <a:cs typeface="+mn-cs"/>
              </a:rPr>
              <a:t>(‘table'[</a:t>
            </a:r>
            <a:r>
              <a:rPr lang="en-US" sz="1400" kern="1200" dirty="0" err="1">
                <a:solidFill>
                  <a:srgbClr val="000000"/>
                </a:solidFill>
                <a:effectLst/>
                <a:latin typeface="Consolas" panose="020B0609020204030204" pitchFamily="49" charset="0"/>
                <a:ea typeface="+mn-ea"/>
                <a:cs typeface="+mn-cs"/>
              </a:rPr>
              <a:t>WeightValue</a:t>
            </a:r>
            <a:r>
              <a:rPr lang="en-US" sz="1400" kern="1200" dirty="0">
                <a:solidFill>
                  <a:srgbClr val="000000"/>
                </a:solidFill>
                <a:effectLst/>
                <a:latin typeface="Consolas" panose="020B0609020204030204" pitchFamily="49" charset="0"/>
                <a:ea typeface="+mn-ea"/>
                <a:cs typeface="+mn-cs"/>
              </a:rPr>
              <a:t>] )</a:t>
            </a:r>
          </a:p>
          <a:p>
            <a:pPr marL="0" algn="l" rtl="0" eaLnBrk="1" latinLnBrk="0" hangingPunct="1">
              <a:buNone/>
            </a:pPr>
            <a:endParaRPr lang="en-MY" sz="1200" dirty="0">
              <a:effectLst/>
            </a:endParaRPr>
          </a:p>
          <a:p>
            <a:pPr marL="0" algn="l" rtl="0" eaLnBrk="1" latinLnBrk="0" hangingPunct="1">
              <a:buNone/>
            </a:pPr>
            <a:r>
              <a:rPr lang="en-US" sz="1400" kern="1200" dirty="0">
                <a:solidFill>
                  <a:srgbClr val="0070C0"/>
                </a:solidFill>
                <a:effectLst/>
                <a:latin typeface="Consolas" panose="020B0609020204030204" pitchFamily="49" charset="0"/>
                <a:ea typeface="+mn-ea"/>
                <a:cs typeface="+mn-cs"/>
              </a:rPr>
              <a:t>RETURN</a:t>
            </a:r>
          </a:p>
          <a:p>
            <a:pPr marL="0" algn="l" rtl="0" eaLnBrk="1" latinLnBrk="0" hangingPunct="1">
              <a:buNone/>
            </a:pPr>
            <a:endParaRPr lang="en-MY" sz="1200" dirty="0">
              <a:solidFill>
                <a:srgbClr val="0070C0"/>
              </a:solidFill>
              <a:effectLst/>
            </a:endParaRPr>
          </a:p>
          <a:p>
            <a:pPr marL="0" indent="0" algn="l" rtl="0" eaLnBrk="1" latinLnBrk="0" hangingPunct="1">
              <a:buNone/>
            </a:pPr>
            <a:r>
              <a:rPr lang="en-US" sz="1400" kern="1200" dirty="0">
                <a:solidFill>
                  <a:srgbClr val="0070C0"/>
                </a:solidFill>
                <a:effectLst/>
                <a:latin typeface="Consolas" panose="020B0609020204030204" pitchFamily="49" charset="0"/>
                <a:ea typeface="+mn-ea"/>
                <a:cs typeface="+mn-cs"/>
              </a:rPr>
              <a:t>DIVIDE</a:t>
            </a:r>
            <a:r>
              <a:rPr lang="en-US" sz="1400" kern="1200" dirty="0">
                <a:solidFill>
                  <a:srgbClr val="000000"/>
                </a:solidFill>
                <a:effectLst/>
                <a:latin typeface="Consolas" panose="020B0609020204030204" pitchFamily="49" charset="0"/>
                <a:ea typeface="+mn-ea"/>
                <a:cs typeface="+mn-cs"/>
              </a:rPr>
              <a:t>(</a:t>
            </a:r>
            <a:r>
              <a:rPr lang="en-US" sz="1400" kern="1200" dirty="0" err="1">
                <a:solidFill>
                  <a:srgbClr val="000000"/>
                </a:solidFill>
                <a:effectLst/>
                <a:latin typeface="Consolas" panose="020B0609020204030204" pitchFamily="49" charset="0"/>
                <a:ea typeface="+mn-ea"/>
                <a:cs typeface="+mn-cs"/>
              </a:rPr>
              <a:t>WeightedValues</a:t>
            </a:r>
            <a:r>
              <a:rPr lang="en-US" sz="1400" kern="1200" dirty="0">
                <a:solidFill>
                  <a:srgbClr val="000000"/>
                </a:solidFill>
                <a:effectLst/>
                <a:latin typeface="Consolas" panose="020B0609020204030204" pitchFamily="49" charset="0"/>
                <a:ea typeface="+mn-ea"/>
                <a:cs typeface="+mn-cs"/>
              </a:rPr>
              <a:t>, </a:t>
            </a:r>
            <a:r>
              <a:rPr lang="en-US" sz="1400" kern="1200" dirty="0" err="1">
                <a:solidFill>
                  <a:srgbClr val="000000"/>
                </a:solidFill>
                <a:effectLst/>
                <a:latin typeface="Consolas" panose="020B0609020204030204" pitchFamily="49" charset="0"/>
                <a:ea typeface="+mn-ea"/>
                <a:cs typeface="+mn-cs"/>
              </a:rPr>
              <a:t>TotalWeights</a:t>
            </a:r>
            <a:r>
              <a:rPr lang="en-US" sz="1400" kern="1200" dirty="0">
                <a:solidFill>
                  <a:srgbClr val="000000"/>
                </a:solidFill>
                <a:effectLst/>
                <a:latin typeface="Consolas" panose="020B0609020204030204" pitchFamily="49" charset="0"/>
                <a:ea typeface="+mn-ea"/>
                <a:cs typeface="+mn-cs"/>
              </a:rPr>
              <a:t>)</a:t>
            </a:r>
            <a:endParaRPr lang="en-MY" sz="1200" dirty="0">
              <a:effectLst/>
            </a:endParaRPr>
          </a:p>
          <a:p>
            <a:pPr marL="0" indent="0">
              <a:buNone/>
            </a:pPr>
            <a:endParaRPr lang="en-MY" sz="2400" b="1" u="sng" dirty="0"/>
          </a:p>
        </p:txBody>
      </p:sp>
      <p:sp>
        <p:nvSpPr>
          <p:cNvPr id="8" name="Content Placeholder 5">
            <a:extLst>
              <a:ext uri="{FF2B5EF4-FFF2-40B4-BE49-F238E27FC236}">
                <a16:creationId xmlns:a16="http://schemas.microsoft.com/office/drawing/2014/main" id="{3F933550-AC98-17CB-9F55-B4CB0E2717B4}"/>
              </a:ext>
            </a:extLst>
          </p:cNvPr>
          <p:cNvSpPr txBox="1">
            <a:spLocks/>
          </p:cNvSpPr>
          <p:nvPr/>
        </p:nvSpPr>
        <p:spPr>
          <a:xfrm>
            <a:off x="4563396" y="1825625"/>
            <a:ext cx="3065206" cy="4351338"/>
          </a:xfrm>
          <a:prstGeom prst="rect">
            <a:avLst/>
          </a:prstGeom>
          <a:ln>
            <a:solidFill>
              <a:schemeClr val="tx1">
                <a:lumMod val="50000"/>
                <a:lumOff val="50000"/>
              </a:schemeClr>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u="sng" dirty="0"/>
              <a:t>HARMONIC MEAN</a:t>
            </a:r>
          </a:p>
          <a:p>
            <a:pPr marL="0" algn="l" rtl="0" eaLnBrk="1" latinLnBrk="0" hangingPunct="1">
              <a:buNone/>
            </a:pPr>
            <a:r>
              <a:rPr lang="en-US" sz="1800" b="0" i="0" kern="1200" dirty="0" err="1">
                <a:solidFill>
                  <a:srgbClr val="000000"/>
                </a:solidFill>
                <a:effectLst/>
                <a:latin typeface="Consolas" panose="020B0609020204030204" pitchFamily="49" charset="0"/>
                <a:ea typeface="+mn-ea"/>
                <a:cs typeface="+mn-cs"/>
              </a:rPr>
              <a:t>Harmean</a:t>
            </a:r>
            <a:r>
              <a:rPr lang="en-US" sz="1800" b="0" i="0" kern="1200" dirty="0">
                <a:solidFill>
                  <a:srgbClr val="000000"/>
                </a:solidFill>
                <a:effectLst/>
                <a:latin typeface="Consolas" panose="020B0609020204030204" pitchFamily="49" charset="0"/>
                <a:ea typeface="+mn-ea"/>
                <a:cs typeface="+mn-cs"/>
              </a:rPr>
              <a:t> =</a:t>
            </a:r>
            <a:endParaRPr lang="en-MY" sz="1600" dirty="0">
              <a:effectLst/>
            </a:endParaRPr>
          </a:p>
          <a:p>
            <a:pPr marL="0">
              <a:buNone/>
            </a:pPr>
            <a:r>
              <a:rPr lang="en-US" sz="1800" b="0" i="0" kern="1200" dirty="0">
                <a:solidFill>
                  <a:srgbClr val="0070C0"/>
                </a:solidFill>
                <a:effectLst/>
                <a:latin typeface="Consolas" panose="020B0609020204030204" pitchFamily="49" charset="0"/>
                <a:ea typeface="+mn-ea"/>
                <a:cs typeface="+mn-cs"/>
              </a:rPr>
              <a:t>VAR</a:t>
            </a:r>
            <a:r>
              <a:rPr lang="en-US" sz="1800" b="0" i="0" kern="1200" dirty="0">
                <a:solidFill>
                  <a:srgbClr val="000000"/>
                </a:solidFill>
                <a:effectLst/>
                <a:latin typeface="Consolas" panose="020B0609020204030204" pitchFamily="49" charset="0"/>
                <a:ea typeface="+mn-ea"/>
                <a:cs typeface="+mn-cs"/>
              </a:rPr>
              <a:t> n = </a:t>
            </a:r>
            <a:r>
              <a:rPr lang="en-US" sz="1800" b="0" i="0" kern="1200" dirty="0" err="1">
                <a:solidFill>
                  <a:srgbClr val="000000"/>
                </a:solidFill>
                <a:effectLst/>
                <a:latin typeface="Consolas" panose="020B0609020204030204" pitchFamily="49" charset="0"/>
                <a:ea typeface="+mn-ea"/>
                <a:cs typeface="+mn-cs"/>
              </a:rPr>
              <a:t>CountRows</a:t>
            </a:r>
            <a:r>
              <a:rPr lang="en-US" sz="1800" b="0" i="0" kern="1200" dirty="0">
                <a:solidFill>
                  <a:srgbClr val="000000"/>
                </a:solidFill>
                <a:effectLst/>
                <a:latin typeface="Consolas" panose="020B0609020204030204" pitchFamily="49" charset="0"/>
                <a:ea typeface="+mn-ea"/>
                <a:cs typeface="+mn-cs"/>
              </a:rPr>
              <a:t>(</a:t>
            </a:r>
            <a:r>
              <a:rPr lang="en-US" sz="1800" dirty="0">
                <a:latin typeface="Consolas" panose="020B0609020204030204" pitchFamily="49" charset="0"/>
              </a:rPr>
              <a:t>'table’</a:t>
            </a:r>
            <a:r>
              <a:rPr lang="en-US" sz="1800" b="0" i="0" kern="1200" dirty="0">
                <a:solidFill>
                  <a:srgbClr val="000000"/>
                </a:solidFill>
                <a:effectLst/>
                <a:latin typeface="Consolas" panose="020B0609020204030204" pitchFamily="49" charset="0"/>
                <a:ea typeface="+mn-ea"/>
                <a:cs typeface="+mn-cs"/>
              </a:rPr>
              <a:t>)</a:t>
            </a:r>
          </a:p>
          <a:p>
            <a:pPr marL="0">
              <a:buNone/>
            </a:pPr>
            <a:endParaRPr lang="en-MY" sz="1600" dirty="0">
              <a:effectLst/>
            </a:endParaRPr>
          </a:p>
          <a:p>
            <a:pPr marL="0" algn="l" rtl="0" eaLnBrk="1" latinLnBrk="0" hangingPunct="1">
              <a:buNone/>
            </a:pPr>
            <a:r>
              <a:rPr lang="en-US" sz="1800" b="0" i="0" kern="1200" dirty="0">
                <a:solidFill>
                  <a:srgbClr val="0070C0"/>
                </a:solidFill>
                <a:effectLst/>
                <a:latin typeface="Consolas" panose="020B0609020204030204" pitchFamily="49" charset="0"/>
                <a:ea typeface="+mn-ea"/>
                <a:cs typeface="+mn-cs"/>
              </a:rPr>
              <a:t>VAR</a:t>
            </a:r>
            <a:r>
              <a:rPr lang="en-US" sz="1800" b="0" i="0" kern="1200" dirty="0">
                <a:solidFill>
                  <a:srgbClr val="000000"/>
                </a:solidFill>
                <a:effectLst/>
                <a:latin typeface="Consolas" panose="020B0609020204030204" pitchFamily="49" charset="0"/>
                <a:ea typeface="+mn-ea"/>
                <a:cs typeface="+mn-cs"/>
              </a:rPr>
              <a:t> d = </a:t>
            </a:r>
            <a:r>
              <a:rPr lang="en-US" sz="1800" b="0" i="0" kern="1200" dirty="0">
                <a:solidFill>
                  <a:srgbClr val="0070C0"/>
                </a:solidFill>
                <a:effectLst/>
                <a:latin typeface="Consolas" panose="020B0609020204030204" pitchFamily="49" charset="0"/>
                <a:ea typeface="+mn-ea"/>
                <a:cs typeface="+mn-cs"/>
              </a:rPr>
              <a:t>SUMX</a:t>
            </a:r>
            <a:r>
              <a:rPr lang="en-US" sz="1800" b="0" i="0" kern="1200" dirty="0">
                <a:solidFill>
                  <a:srgbClr val="000000"/>
                </a:solidFill>
                <a:effectLst/>
                <a:latin typeface="Consolas" panose="020B0609020204030204" pitchFamily="49" charset="0"/>
                <a:ea typeface="+mn-ea"/>
                <a:cs typeface="+mn-cs"/>
              </a:rPr>
              <a:t>('table', 1/[Uses])</a:t>
            </a:r>
          </a:p>
          <a:p>
            <a:pPr marL="0" algn="l" rtl="0" eaLnBrk="1" latinLnBrk="0" hangingPunct="1">
              <a:buNone/>
            </a:pPr>
            <a:endParaRPr lang="en-MY" sz="1600" dirty="0">
              <a:effectLst/>
            </a:endParaRPr>
          </a:p>
          <a:p>
            <a:pPr marL="0" algn="l" rtl="0" eaLnBrk="1" latinLnBrk="0" hangingPunct="1">
              <a:buNone/>
            </a:pPr>
            <a:r>
              <a:rPr lang="en-US" sz="1800" b="0" i="0" kern="1200" dirty="0">
                <a:solidFill>
                  <a:srgbClr val="0070C0"/>
                </a:solidFill>
                <a:effectLst/>
                <a:latin typeface="Consolas" panose="020B0609020204030204" pitchFamily="49" charset="0"/>
                <a:ea typeface="+mn-ea"/>
                <a:cs typeface="+mn-cs"/>
              </a:rPr>
              <a:t>RETURN</a:t>
            </a:r>
          </a:p>
          <a:p>
            <a:pPr marL="0" algn="l" rtl="0" eaLnBrk="1" latinLnBrk="0" hangingPunct="1">
              <a:buNone/>
            </a:pPr>
            <a:endParaRPr lang="en-MY" sz="1600" dirty="0">
              <a:solidFill>
                <a:srgbClr val="0070C0"/>
              </a:solidFill>
            </a:endParaRPr>
          </a:p>
          <a:p>
            <a:pPr marL="0" algn="l" rtl="0" eaLnBrk="1" latinLnBrk="0" hangingPunct="1">
              <a:buNone/>
            </a:pPr>
            <a:r>
              <a:rPr lang="en-US" sz="1800" b="0" i="0" kern="1200" dirty="0">
                <a:solidFill>
                  <a:srgbClr val="0070C0"/>
                </a:solidFill>
                <a:effectLst/>
                <a:latin typeface="Consolas" panose="020B0609020204030204" pitchFamily="49" charset="0"/>
                <a:ea typeface="+mn-ea"/>
                <a:cs typeface="+mn-cs"/>
              </a:rPr>
              <a:t>DIVIDE</a:t>
            </a:r>
            <a:r>
              <a:rPr lang="en-US" sz="1800" b="0" i="0" kern="1200" dirty="0">
                <a:solidFill>
                  <a:srgbClr val="000000"/>
                </a:solidFill>
                <a:effectLst/>
                <a:latin typeface="Consolas" panose="020B0609020204030204" pitchFamily="49" charset="0"/>
                <a:ea typeface="+mn-ea"/>
                <a:cs typeface="+mn-cs"/>
              </a:rPr>
              <a:t>(n, d)</a:t>
            </a:r>
            <a:endParaRPr lang="en-MY" sz="1600" dirty="0">
              <a:effectLst/>
            </a:endParaRPr>
          </a:p>
          <a:p>
            <a:pPr marL="0" indent="0">
              <a:buNone/>
            </a:pPr>
            <a:endParaRPr lang="en-MY" sz="2400" dirty="0"/>
          </a:p>
        </p:txBody>
      </p:sp>
      <p:sp>
        <p:nvSpPr>
          <p:cNvPr id="3" name="Slide Number Placeholder 2">
            <a:extLst>
              <a:ext uri="{FF2B5EF4-FFF2-40B4-BE49-F238E27FC236}">
                <a16:creationId xmlns:a16="http://schemas.microsoft.com/office/drawing/2014/main" id="{E4B2E2C8-64FE-867A-369C-49AC2378FC2F}"/>
              </a:ext>
            </a:extLst>
          </p:cNvPr>
          <p:cNvSpPr>
            <a:spLocks noGrp="1"/>
          </p:cNvSpPr>
          <p:nvPr>
            <p:ph type="sldNum" sz="quarter" idx="12"/>
          </p:nvPr>
        </p:nvSpPr>
        <p:spPr/>
        <p:txBody>
          <a:bodyPr/>
          <a:lstStyle/>
          <a:p>
            <a:fld id="{499D393E-937C-43AF-8286-1304B3D101C1}" type="slidenum">
              <a:rPr lang="en-MY" smtClean="0"/>
              <a:t>39</a:t>
            </a:fld>
            <a:endParaRPr lang="en-MY"/>
          </a:p>
        </p:txBody>
      </p:sp>
      <p:grpSp>
        <p:nvGrpSpPr>
          <p:cNvPr id="4" name="Group 3">
            <a:extLst>
              <a:ext uri="{FF2B5EF4-FFF2-40B4-BE49-F238E27FC236}">
                <a16:creationId xmlns:a16="http://schemas.microsoft.com/office/drawing/2014/main" id="{663E8730-FD79-F10B-716B-4A846C2D3B0D}"/>
              </a:ext>
            </a:extLst>
          </p:cNvPr>
          <p:cNvGrpSpPr/>
          <p:nvPr/>
        </p:nvGrpSpPr>
        <p:grpSpPr>
          <a:xfrm>
            <a:off x="9511302" y="307780"/>
            <a:ext cx="1842498" cy="1382908"/>
            <a:chOff x="9511302" y="5338567"/>
            <a:chExt cx="1842498" cy="1382908"/>
          </a:xfrm>
        </p:grpSpPr>
        <p:pic>
          <p:nvPicPr>
            <p:cNvPr id="5" name="Picture 4">
              <a:extLst>
                <a:ext uri="{FF2B5EF4-FFF2-40B4-BE49-F238E27FC236}">
                  <a16:creationId xmlns:a16="http://schemas.microsoft.com/office/drawing/2014/main" id="{A48B26F6-FE1C-869B-9A8F-7BA416C7C461}"/>
                </a:ext>
              </a:extLst>
            </p:cNvPr>
            <p:cNvPicPr>
              <a:picLocks noChangeAspect="1"/>
            </p:cNvPicPr>
            <p:nvPr/>
          </p:nvPicPr>
          <p:blipFill>
            <a:blip r:embed="rId2"/>
            <a:srcRect t="12585" b="12359"/>
            <a:stretch>
              <a:fillRect/>
            </a:stretch>
          </p:blipFill>
          <p:spPr>
            <a:xfrm>
              <a:off x="9511302" y="5338567"/>
              <a:ext cx="1842498" cy="1382908"/>
            </a:xfrm>
            <a:prstGeom prst="rect">
              <a:avLst/>
            </a:prstGeom>
          </p:spPr>
        </p:pic>
        <p:sp>
          <p:nvSpPr>
            <p:cNvPr id="9" name="Rectangle 8">
              <a:extLst>
                <a:ext uri="{FF2B5EF4-FFF2-40B4-BE49-F238E27FC236}">
                  <a16:creationId xmlns:a16="http://schemas.microsoft.com/office/drawing/2014/main" id="{F0555A6F-5E84-956D-8BEA-850380199BE8}"/>
                </a:ext>
              </a:extLst>
            </p:cNvPr>
            <p:cNvSpPr/>
            <p:nvPr/>
          </p:nvSpPr>
          <p:spPr>
            <a:xfrm>
              <a:off x="9556750" y="6311900"/>
              <a:ext cx="1739900" cy="365125"/>
            </a:xfrm>
            <a:prstGeom prst="rect">
              <a:avLst/>
            </a:prstGeom>
            <a:solidFill>
              <a:srgbClr val="2837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KONTRAKTOR: Alex Ooi</a:t>
              </a:r>
            </a:p>
            <a:p>
              <a:pPr algn="ctr"/>
              <a:r>
                <a:rPr lang="en-MY" sz="900" dirty="0"/>
                <a:t>alex@gemrain.net</a:t>
              </a:r>
            </a:p>
          </p:txBody>
        </p:sp>
        <p:sp>
          <p:nvSpPr>
            <p:cNvPr id="10" name="TextBox 9">
              <a:extLst>
                <a:ext uri="{FF2B5EF4-FFF2-40B4-BE49-F238E27FC236}">
                  <a16:creationId xmlns:a16="http://schemas.microsoft.com/office/drawing/2014/main" id="{234A3E64-2437-AA60-83E4-AAB28158E205}"/>
                </a:ext>
              </a:extLst>
            </p:cNvPr>
            <p:cNvSpPr txBox="1"/>
            <p:nvPr/>
          </p:nvSpPr>
          <p:spPr>
            <a:xfrm>
              <a:off x="9956219" y="6046233"/>
              <a:ext cx="940381" cy="184666"/>
            </a:xfrm>
            <a:prstGeom prst="rect">
              <a:avLst/>
            </a:prstGeom>
            <a:noFill/>
          </p:spPr>
          <p:txBody>
            <a:bodyPr wrap="square" rtlCol="0">
              <a:spAutoFit/>
            </a:bodyPr>
            <a:lstStyle/>
            <a:p>
              <a:pPr algn="ctr"/>
              <a:r>
                <a:rPr lang="en-US" sz="600" dirty="0"/>
                <a:t>5 </a:t>
              </a:r>
              <a:r>
                <a:rPr lang="en-US" sz="600" dirty="0" err="1"/>
                <a:t>muka</a:t>
              </a:r>
              <a:r>
                <a:rPr lang="en-US" sz="600" dirty="0"/>
                <a:t> </a:t>
              </a:r>
              <a:r>
                <a:rPr lang="en-US" sz="600" dirty="0" err="1"/>
                <a:t>surat</a:t>
              </a:r>
              <a:endParaRPr lang="en-MY" sz="600" dirty="0"/>
            </a:p>
          </p:txBody>
        </p:sp>
      </p:grpSp>
      <p:pic>
        <p:nvPicPr>
          <p:cNvPr id="12" name="Graphic 11" descr="Traffic cone with solid fill">
            <a:extLst>
              <a:ext uri="{FF2B5EF4-FFF2-40B4-BE49-F238E27FC236}">
                <a16:creationId xmlns:a16="http://schemas.microsoft.com/office/drawing/2014/main" id="{915478ED-582C-64DF-FBFA-EDCDE6DCF4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0288" y="570706"/>
            <a:ext cx="914400" cy="914400"/>
          </a:xfrm>
          <a:prstGeom prst="rect">
            <a:avLst/>
          </a:prstGeom>
        </p:spPr>
      </p:pic>
      <p:sp>
        <p:nvSpPr>
          <p:cNvPr id="13" name="TextBox 12">
            <a:extLst>
              <a:ext uri="{FF2B5EF4-FFF2-40B4-BE49-F238E27FC236}">
                <a16:creationId xmlns:a16="http://schemas.microsoft.com/office/drawing/2014/main" id="{5ACDC796-D373-ACC0-63D5-349E8E53DD5E}"/>
              </a:ext>
            </a:extLst>
          </p:cNvPr>
          <p:cNvSpPr txBox="1"/>
          <p:nvPr/>
        </p:nvSpPr>
        <p:spPr>
          <a:xfrm>
            <a:off x="838200" y="6173400"/>
            <a:ext cx="10515599" cy="276999"/>
          </a:xfrm>
          <a:prstGeom prst="rect">
            <a:avLst/>
          </a:prstGeom>
          <a:noFill/>
        </p:spPr>
        <p:txBody>
          <a:bodyPr wrap="square" rtlCol="0">
            <a:spAutoFit/>
          </a:bodyPr>
          <a:lstStyle/>
          <a:p>
            <a:r>
              <a:rPr lang="en-US" sz="1200" i="1" dirty="0"/>
              <a:t>Further reading on VAR: </a:t>
            </a:r>
            <a:r>
              <a:rPr lang="en-US" sz="1200" i="1" dirty="0">
                <a:hlinkClick r:id="rId4"/>
              </a:rPr>
              <a:t>https://radacad.com/dax-variables-better-readability-consistency-and-performance-in-power-bi-calculations/</a:t>
            </a:r>
            <a:endParaRPr lang="en-MY" sz="1200" i="1" dirty="0"/>
          </a:p>
        </p:txBody>
      </p:sp>
    </p:spTree>
    <p:extLst>
      <p:ext uri="{BB962C8B-B14F-4D97-AF65-F5344CB8AC3E}">
        <p14:creationId xmlns:p14="http://schemas.microsoft.com/office/powerpoint/2010/main" val="21708106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F2369-6CFD-5DC9-F8DC-AC45E9A9F43A}"/>
              </a:ext>
            </a:extLst>
          </p:cNvPr>
          <p:cNvSpPr>
            <a:spLocks noGrp="1"/>
          </p:cNvSpPr>
          <p:nvPr>
            <p:ph type="title"/>
          </p:nvPr>
        </p:nvSpPr>
        <p:spPr>
          <a:xfrm>
            <a:off x="1674688" y="365125"/>
            <a:ext cx="9679112" cy="1325563"/>
          </a:xfrm>
        </p:spPr>
        <p:txBody>
          <a:bodyPr>
            <a:normAutofit/>
          </a:bodyPr>
          <a:lstStyle/>
          <a:p>
            <a:r>
              <a:rPr lang="en-US" sz="4000" dirty="0"/>
              <a:t>DAX Patterns – Simple Moving Average (Bounded)</a:t>
            </a:r>
            <a:endParaRPr lang="en-MY" sz="4000" dirty="0"/>
          </a:p>
        </p:txBody>
      </p:sp>
      <p:sp>
        <p:nvSpPr>
          <p:cNvPr id="4" name="TextBox 3">
            <a:extLst>
              <a:ext uri="{FF2B5EF4-FFF2-40B4-BE49-F238E27FC236}">
                <a16:creationId xmlns:a16="http://schemas.microsoft.com/office/drawing/2014/main" id="{717829E0-9156-8A72-BA5A-02834E19A308}"/>
              </a:ext>
            </a:extLst>
          </p:cNvPr>
          <p:cNvSpPr txBox="1"/>
          <p:nvPr/>
        </p:nvSpPr>
        <p:spPr>
          <a:xfrm>
            <a:off x="838200" y="6173400"/>
            <a:ext cx="6764676" cy="276999"/>
          </a:xfrm>
          <a:prstGeom prst="rect">
            <a:avLst/>
          </a:prstGeom>
          <a:noFill/>
        </p:spPr>
        <p:txBody>
          <a:bodyPr wrap="square" rtlCol="0">
            <a:spAutoFit/>
          </a:bodyPr>
          <a:lstStyle/>
          <a:p>
            <a:r>
              <a:rPr lang="en-US" sz="1200" i="1" dirty="0"/>
              <a:t>Source: </a:t>
            </a:r>
            <a:r>
              <a:rPr lang="en-US" sz="1200" i="1" dirty="0">
                <a:hlinkClick r:id="rId3"/>
              </a:rPr>
              <a:t>https://medium.com/analytics-vidhya/moving-average-using-dax-power-bi-413a31099091</a:t>
            </a:r>
            <a:endParaRPr lang="en-MY" sz="1200" i="1" dirty="0"/>
          </a:p>
        </p:txBody>
      </p:sp>
      <p:sp>
        <p:nvSpPr>
          <p:cNvPr id="3" name="Slide Number Placeholder 2">
            <a:extLst>
              <a:ext uri="{FF2B5EF4-FFF2-40B4-BE49-F238E27FC236}">
                <a16:creationId xmlns:a16="http://schemas.microsoft.com/office/drawing/2014/main" id="{414BFBC4-E1FB-5B4C-B189-FFEBAC911457}"/>
              </a:ext>
            </a:extLst>
          </p:cNvPr>
          <p:cNvSpPr>
            <a:spLocks noGrp="1"/>
          </p:cNvSpPr>
          <p:nvPr>
            <p:ph type="sldNum" sz="quarter" idx="12"/>
          </p:nvPr>
        </p:nvSpPr>
        <p:spPr/>
        <p:txBody>
          <a:bodyPr/>
          <a:lstStyle/>
          <a:p>
            <a:fld id="{499D393E-937C-43AF-8286-1304B3D101C1}" type="slidenum">
              <a:rPr lang="en-MY" smtClean="0"/>
              <a:t>40</a:t>
            </a:fld>
            <a:endParaRPr lang="en-MY"/>
          </a:p>
        </p:txBody>
      </p:sp>
      <p:pic>
        <p:nvPicPr>
          <p:cNvPr id="6" name="Graphic 5" descr="Traffic cone with solid fill">
            <a:extLst>
              <a:ext uri="{FF2B5EF4-FFF2-40B4-BE49-F238E27FC236}">
                <a16:creationId xmlns:a16="http://schemas.microsoft.com/office/drawing/2014/main" id="{B78BEFEA-E24D-881E-8E31-2F25CE27C3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0288" y="570706"/>
            <a:ext cx="914400" cy="914400"/>
          </a:xfrm>
          <a:prstGeom prst="rect">
            <a:avLst/>
          </a:prstGeom>
        </p:spPr>
      </p:pic>
      <p:pic>
        <p:nvPicPr>
          <p:cNvPr id="8" name="Picture 7">
            <a:extLst>
              <a:ext uri="{FF2B5EF4-FFF2-40B4-BE49-F238E27FC236}">
                <a16:creationId xmlns:a16="http://schemas.microsoft.com/office/drawing/2014/main" id="{3BB17201-9FA8-18A5-0D79-8AB3A23259B9}"/>
              </a:ext>
            </a:extLst>
          </p:cNvPr>
          <p:cNvPicPr>
            <a:picLocks noChangeAspect="1"/>
          </p:cNvPicPr>
          <p:nvPr/>
        </p:nvPicPr>
        <p:blipFill>
          <a:blip r:embed="rId5"/>
          <a:srcRect l="960" t="2580"/>
          <a:stretch>
            <a:fillRect/>
          </a:stretch>
        </p:blipFill>
        <p:spPr>
          <a:xfrm>
            <a:off x="838200" y="1870075"/>
            <a:ext cx="8038521" cy="3962806"/>
          </a:xfrm>
          <a:prstGeom prst="rect">
            <a:avLst/>
          </a:prstGeom>
        </p:spPr>
      </p:pic>
      <p:sp>
        <p:nvSpPr>
          <p:cNvPr id="9" name="TextBox 8">
            <a:extLst>
              <a:ext uri="{FF2B5EF4-FFF2-40B4-BE49-F238E27FC236}">
                <a16:creationId xmlns:a16="http://schemas.microsoft.com/office/drawing/2014/main" id="{D68C623B-1E48-B98C-03A4-F5F8978A70CB}"/>
              </a:ext>
            </a:extLst>
          </p:cNvPr>
          <p:cNvSpPr txBox="1"/>
          <p:nvPr/>
        </p:nvSpPr>
        <p:spPr>
          <a:xfrm>
            <a:off x="838200" y="1546918"/>
            <a:ext cx="4497337" cy="276999"/>
          </a:xfrm>
          <a:prstGeom prst="rect">
            <a:avLst/>
          </a:prstGeom>
          <a:noFill/>
        </p:spPr>
        <p:txBody>
          <a:bodyPr wrap="square" rtlCol="0">
            <a:spAutoFit/>
          </a:bodyPr>
          <a:lstStyle/>
          <a:p>
            <a:r>
              <a:rPr lang="en-US" sz="1200" b="1" i="1" dirty="0"/>
              <a:t>Note: Pattern is found in the Note section of this slide</a:t>
            </a:r>
            <a:endParaRPr lang="en-MY" sz="1200" b="1" i="1" dirty="0"/>
          </a:p>
        </p:txBody>
      </p:sp>
      <p:sp>
        <p:nvSpPr>
          <p:cNvPr id="10" name="Speech Bubble: Rectangle 9">
            <a:extLst>
              <a:ext uri="{FF2B5EF4-FFF2-40B4-BE49-F238E27FC236}">
                <a16:creationId xmlns:a16="http://schemas.microsoft.com/office/drawing/2014/main" id="{4F53E4AC-E7FB-7710-1C75-8669067DBB1C}"/>
              </a:ext>
            </a:extLst>
          </p:cNvPr>
          <p:cNvSpPr/>
          <p:nvPr/>
        </p:nvSpPr>
        <p:spPr>
          <a:xfrm>
            <a:off x="8458200" y="2490371"/>
            <a:ext cx="3047999" cy="1700981"/>
          </a:xfrm>
          <a:prstGeom prst="wedgeRectCallout">
            <a:avLst>
              <a:gd name="adj1" fmla="val -76164"/>
              <a:gd name="adj2" fmla="val -553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We will leverage on Parameter table once we completed the pattern to allow for dynamic selection by users, for now let’s hardcode them</a:t>
            </a:r>
            <a:endParaRPr lang="en-MY" dirty="0"/>
          </a:p>
        </p:txBody>
      </p:sp>
      <p:sp>
        <p:nvSpPr>
          <p:cNvPr id="11" name="Rectangle 10">
            <a:extLst>
              <a:ext uri="{FF2B5EF4-FFF2-40B4-BE49-F238E27FC236}">
                <a16:creationId xmlns:a16="http://schemas.microsoft.com/office/drawing/2014/main" id="{49FFD3C1-55EB-F645-C6E8-C891B07CC134}"/>
              </a:ext>
            </a:extLst>
          </p:cNvPr>
          <p:cNvSpPr/>
          <p:nvPr/>
        </p:nvSpPr>
        <p:spPr>
          <a:xfrm>
            <a:off x="985686" y="2186209"/>
            <a:ext cx="3314172" cy="208650"/>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MY"/>
          </a:p>
        </p:txBody>
      </p:sp>
    </p:spTree>
    <p:extLst>
      <p:ext uri="{BB962C8B-B14F-4D97-AF65-F5344CB8AC3E}">
        <p14:creationId xmlns:p14="http://schemas.microsoft.com/office/powerpoint/2010/main" val="6647397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a:extLst>
            <a:ext uri="{FF2B5EF4-FFF2-40B4-BE49-F238E27FC236}">
              <a16:creationId xmlns:a16="http://schemas.microsoft.com/office/drawing/2014/main" id="{301A5411-84AF-F3F2-26CD-A1DA8FDE9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DC7F8-29D5-2A75-4A0B-95A3A870FC1F}"/>
              </a:ext>
            </a:extLst>
          </p:cNvPr>
          <p:cNvSpPr>
            <a:spLocks noGrp="1"/>
          </p:cNvSpPr>
          <p:nvPr>
            <p:ph type="title"/>
          </p:nvPr>
        </p:nvSpPr>
        <p:spPr>
          <a:xfrm>
            <a:off x="1674688" y="365125"/>
            <a:ext cx="9679111" cy="1325563"/>
          </a:xfrm>
        </p:spPr>
        <p:txBody>
          <a:bodyPr/>
          <a:lstStyle/>
          <a:p>
            <a:r>
              <a:rPr lang="en-US" dirty="0"/>
              <a:t>DAX Patterns – Mode</a:t>
            </a:r>
            <a:endParaRPr lang="en-MY" dirty="0"/>
          </a:p>
        </p:txBody>
      </p:sp>
      <p:sp>
        <p:nvSpPr>
          <p:cNvPr id="5" name="Content Placeholder 4">
            <a:extLst>
              <a:ext uri="{FF2B5EF4-FFF2-40B4-BE49-F238E27FC236}">
                <a16:creationId xmlns:a16="http://schemas.microsoft.com/office/drawing/2014/main" id="{763EF1A3-419C-5274-8726-E1D87E3C0C6F}"/>
              </a:ext>
            </a:extLst>
          </p:cNvPr>
          <p:cNvSpPr>
            <a:spLocks noGrp="1"/>
          </p:cNvSpPr>
          <p:nvPr>
            <p:ph idx="1"/>
          </p:nvPr>
        </p:nvSpPr>
        <p:spPr/>
        <p:txBody>
          <a:bodyPr>
            <a:normAutofit fontScale="70000" lnSpcReduction="20000"/>
          </a:bodyPr>
          <a:lstStyle/>
          <a:p>
            <a:pPr marL="0" lvl="0" indent="0">
              <a:lnSpc>
                <a:spcPct val="107000"/>
              </a:lnSpc>
              <a:spcBef>
                <a:spcPts val="600"/>
              </a:spcBef>
              <a:spcAft>
                <a:spcPts val="600"/>
              </a:spcAft>
              <a:buNone/>
            </a:pPr>
            <a:r>
              <a:rPr lang="en-US" sz="2000" dirty="0">
                <a:latin typeface="Consolas" panose="020B0609020204030204" pitchFamily="49" charset="0"/>
              </a:rPr>
              <a:t>Mode =</a:t>
            </a:r>
          </a:p>
          <a:p>
            <a:pPr marL="0" lvl="0" indent="0">
              <a:lnSpc>
                <a:spcPct val="107000"/>
              </a:lnSpc>
              <a:spcBef>
                <a:spcPts val="600"/>
              </a:spcBef>
              <a:spcAft>
                <a:spcPts val="600"/>
              </a:spcAft>
              <a:buNone/>
            </a:pPr>
            <a:r>
              <a:rPr lang="en-US" sz="2000" dirty="0">
                <a:solidFill>
                  <a:srgbClr val="0070C0"/>
                </a:solidFill>
                <a:latin typeface="Consolas" panose="020B0609020204030204" pitchFamily="49" charset="0"/>
              </a:rPr>
              <a:t>MINX</a:t>
            </a:r>
            <a:r>
              <a:rPr lang="en-US" sz="2000" dirty="0">
                <a:latin typeface="Consolas" panose="020B0609020204030204" pitchFamily="49" charset="0"/>
              </a:rPr>
              <a:t> (</a:t>
            </a:r>
          </a:p>
          <a:p>
            <a:pPr marL="0" lvl="0" indent="0">
              <a:lnSpc>
                <a:spcPct val="107000"/>
              </a:lnSpc>
              <a:spcBef>
                <a:spcPts val="600"/>
              </a:spcBef>
              <a:spcAft>
                <a:spcPts val="600"/>
              </a:spcAft>
              <a:buNone/>
            </a:pPr>
            <a:r>
              <a:rPr lang="en-US" sz="2000" dirty="0">
                <a:latin typeface="Consolas" panose="020B0609020204030204" pitchFamily="49" charset="0"/>
              </a:rPr>
              <a:t>    </a:t>
            </a:r>
            <a:r>
              <a:rPr lang="en-US" sz="2000" dirty="0">
                <a:solidFill>
                  <a:srgbClr val="0070C0"/>
                </a:solidFill>
                <a:latin typeface="Consolas" panose="020B0609020204030204" pitchFamily="49" charset="0"/>
              </a:rPr>
              <a:t>TOPN </a:t>
            </a:r>
            <a:r>
              <a:rPr lang="en-US" sz="2000" dirty="0">
                <a:latin typeface="Consolas" panose="020B0609020204030204" pitchFamily="49" charset="0"/>
              </a:rPr>
              <a:t>(</a:t>
            </a:r>
          </a:p>
          <a:p>
            <a:pPr marL="0" lvl="0" indent="0">
              <a:lnSpc>
                <a:spcPct val="107000"/>
              </a:lnSpc>
              <a:spcBef>
                <a:spcPts val="600"/>
              </a:spcBef>
              <a:spcAft>
                <a:spcPts val="600"/>
              </a:spcAft>
              <a:buNone/>
            </a:pPr>
            <a:r>
              <a:rPr lang="en-US" sz="2000" dirty="0">
                <a:latin typeface="Consolas" panose="020B0609020204030204" pitchFamily="49" charset="0"/>
              </a:rPr>
              <a:t>        </a:t>
            </a:r>
            <a:r>
              <a:rPr lang="en-US" sz="2000" dirty="0">
                <a:solidFill>
                  <a:srgbClr val="C00000"/>
                </a:solidFill>
                <a:latin typeface="Consolas" panose="020B0609020204030204" pitchFamily="49" charset="0"/>
              </a:rPr>
              <a:t>1</a:t>
            </a:r>
            <a:r>
              <a:rPr lang="en-US" sz="2000" dirty="0">
                <a:latin typeface="Consolas" panose="020B0609020204030204" pitchFamily="49" charset="0"/>
              </a:rPr>
              <a:t>,	</a:t>
            </a:r>
            <a:r>
              <a:rPr lang="en-US" sz="2000" dirty="0">
                <a:solidFill>
                  <a:srgbClr val="00B050"/>
                </a:solidFill>
                <a:latin typeface="Consolas" panose="020B0609020204030204" pitchFamily="49" charset="0"/>
              </a:rPr>
              <a:t>// Get top 1 value based on frequency</a:t>
            </a:r>
          </a:p>
          <a:p>
            <a:pPr marL="0" lvl="0" indent="0">
              <a:lnSpc>
                <a:spcPct val="107000"/>
              </a:lnSpc>
              <a:spcBef>
                <a:spcPts val="600"/>
              </a:spcBef>
              <a:spcAft>
                <a:spcPts val="600"/>
              </a:spcAft>
              <a:buNone/>
            </a:pPr>
            <a:r>
              <a:rPr lang="en-US" sz="2000" dirty="0">
                <a:latin typeface="Consolas" panose="020B0609020204030204" pitchFamily="49" charset="0"/>
              </a:rPr>
              <a:t>        </a:t>
            </a:r>
            <a:r>
              <a:rPr lang="en-US" sz="2000" dirty="0">
                <a:solidFill>
                  <a:srgbClr val="0070C0"/>
                </a:solidFill>
                <a:latin typeface="Consolas" panose="020B0609020204030204" pitchFamily="49" charset="0"/>
              </a:rPr>
              <a:t>ADDCOLUMNS </a:t>
            </a:r>
            <a:r>
              <a:rPr lang="en-US" sz="2000" dirty="0">
                <a:latin typeface="Consolas" panose="020B0609020204030204" pitchFamily="49" charset="0"/>
              </a:rPr>
              <a:t>(</a:t>
            </a:r>
          </a:p>
          <a:p>
            <a:pPr marL="0" lvl="0" indent="0">
              <a:lnSpc>
                <a:spcPct val="107000"/>
              </a:lnSpc>
              <a:spcBef>
                <a:spcPts val="600"/>
              </a:spcBef>
              <a:spcAft>
                <a:spcPts val="600"/>
              </a:spcAft>
              <a:buNone/>
            </a:pPr>
            <a:r>
              <a:rPr lang="en-US" sz="2000" dirty="0">
                <a:latin typeface="Consolas" panose="020B0609020204030204" pitchFamily="49" charset="0"/>
              </a:rPr>
              <a:t>           </a:t>
            </a:r>
            <a:r>
              <a:rPr lang="en-US" sz="2000" dirty="0">
                <a:solidFill>
                  <a:srgbClr val="0070C0"/>
                </a:solidFill>
                <a:latin typeface="Consolas" panose="020B0609020204030204" pitchFamily="49" charset="0"/>
              </a:rPr>
              <a:t> VALUES </a:t>
            </a:r>
            <a:r>
              <a:rPr lang="en-US" sz="2000" dirty="0">
                <a:latin typeface="Consolas" panose="020B0609020204030204" pitchFamily="49" charset="0"/>
              </a:rPr>
              <a:t>( Data[Value] ),</a:t>
            </a:r>
          </a:p>
          <a:p>
            <a:pPr marL="0" lvl="0" indent="0">
              <a:lnSpc>
                <a:spcPct val="107000"/>
              </a:lnSpc>
              <a:spcBef>
                <a:spcPts val="600"/>
              </a:spcBef>
              <a:spcAft>
                <a:spcPts val="600"/>
              </a:spcAft>
              <a:buNone/>
            </a:pPr>
            <a:r>
              <a:rPr lang="en-US" sz="2000" dirty="0">
                <a:latin typeface="Consolas" panose="020B0609020204030204" pitchFamily="49" charset="0"/>
              </a:rPr>
              <a:t>            "Frequency", </a:t>
            </a:r>
            <a:r>
              <a:rPr lang="en-US" sz="2000" dirty="0">
                <a:solidFill>
                  <a:srgbClr val="0070C0"/>
                </a:solidFill>
                <a:latin typeface="Consolas" panose="020B0609020204030204" pitchFamily="49" charset="0"/>
              </a:rPr>
              <a:t>CALCULATE </a:t>
            </a:r>
            <a:r>
              <a:rPr lang="en-US" sz="2000" dirty="0">
                <a:latin typeface="Consolas" panose="020B0609020204030204" pitchFamily="49" charset="0"/>
              </a:rPr>
              <a:t>( </a:t>
            </a:r>
            <a:r>
              <a:rPr lang="en-US" sz="2000" dirty="0">
                <a:solidFill>
                  <a:srgbClr val="0070C0"/>
                </a:solidFill>
                <a:latin typeface="Consolas" panose="020B0609020204030204" pitchFamily="49" charset="0"/>
              </a:rPr>
              <a:t>COUNT </a:t>
            </a:r>
            <a:r>
              <a:rPr lang="en-US" sz="2000" dirty="0">
                <a:latin typeface="Consolas" panose="020B0609020204030204" pitchFamily="49" charset="0"/>
              </a:rPr>
              <a:t>( Data[Value] ) )</a:t>
            </a:r>
          </a:p>
          <a:p>
            <a:pPr marL="0" lvl="0" indent="0">
              <a:lnSpc>
                <a:spcPct val="107000"/>
              </a:lnSpc>
              <a:spcBef>
                <a:spcPts val="600"/>
              </a:spcBef>
              <a:spcAft>
                <a:spcPts val="600"/>
              </a:spcAft>
              <a:buNone/>
            </a:pPr>
            <a:r>
              <a:rPr lang="en-US" sz="2000" dirty="0">
                <a:latin typeface="Consolas" panose="020B0609020204030204" pitchFamily="49" charset="0"/>
              </a:rPr>
              <a:t>        ),</a:t>
            </a:r>
          </a:p>
          <a:p>
            <a:pPr marL="0" lvl="0" indent="0">
              <a:lnSpc>
                <a:spcPct val="107000"/>
              </a:lnSpc>
              <a:spcBef>
                <a:spcPts val="600"/>
              </a:spcBef>
              <a:spcAft>
                <a:spcPts val="600"/>
              </a:spcAft>
              <a:buNone/>
            </a:pPr>
            <a:r>
              <a:rPr lang="en-US" sz="2000" dirty="0">
                <a:latin typeface="Consolas" panose="020B0609020204030204" pitchFamily="49" charset="0"/>
              </a:rPr>
              <a:t>        [Frequency],</a:t>
            </a:r>
          </a:p>
          <a:p>
            <a:pPr marL="0" lvl="0" indent="0">
              <a:lnSpc>
                <a:spcPct val="107000"/>
              </a:lnSpc>
              <a:spcBef>
                <a:spcPts val="600"/>
              </a:spcBef>
              <a:spcAft>
                <a:spcPts val="600"/>
              </a:spcAft>
              <a:buNone/>
            </a:pPr>
            <a:r>
              <a:rPr lang="en-US" sz="2000" dirty="0">
                <a:latin typeface="Consolas" panose="020B0609020204030204" pitchFamily="49" charset="0"/>
              </a:rPr>
              <a:t>        </a:t>
            </a:r>
            <a:r>
              <a:rPr lang="en-US" sz="2000" dirty="0">
                <a:solidFill>
                  <a:srgbClr val="C00000"/>
                </a:solidFill>
                <a:latin typeface="Consolas" panose="020B0609020204030204" pitchFamily="49" charset="0"/>
              </a:rPr>
              <a:t>0</a:t>
            </a:r>
          </a:p>
          <a:p>
            <a:pPr marL="0" lvl="0" indent="0">
              <a:lnSpc>
                <a:spcPct val="107000"/>
              </a:lnSpc>
              <a:spcBef>
                <a:spcPts val="600"/>
              </a:spcBef>
              <a:spcAft>
                <a:spcPts val="600"/>
              </a:spcAft>
              <a:buNone/>
            </a:pPr>
            <a:r>
              <a:rPr lang="en-US" sz="2000" dirty="0">
                <a:latin typeface="Consolas" panose="020B0609020204030204" pitchFamily="49" charset="0"/>
              </a:rPr>
              <a:t>    ),</a:t>
            </a:r>
          </a:p>
          <a:p>
            <a:pPr marL="0" lvl="0" indent="0">
              <a:lnSpc>
                <a:spcPct val="107000"/>
              </a:lnSpc>
              <a:spcBef>
                <a:spcPts val="600"/>
              </a:spcBef>
              <a:spcAft>
                <a:spcPts val="600"/>
              </a:spcAft>
              <a:buNone/>
            </a:pPr>
            <a:r>
              <a:rPr lang="en-US" sz="2000" dirty="0">
                <a:latin typeface="Consolas" panose="020B0609020204030204" pitchFamily="49" charset="0"/>
              </a:rPr>
              <a:t>    Data[Value]</a:t>
            </a:r>
          </a:p>
          <a:p>
            <a:pPr marL="0" lvl="0" indent="0">
              <a:lnSpc>
                <a:spcPct val="107000"/>
              </a:lnSpc>
              <a:spcBef>
                <a:spcPts val="600"/>
              </a:spcBef>
              <a:spcAft>
                <a:spcPts val="600"/>
              </a:spcAft>
              <a:buNone/>
            </a:pPr>
            <a:r>
              <a:rPr lang="en-US" sz="2000" dirty="0">
                <a:latin typeface="Consolas" panose="020B0609020204030204" pitchFamily="49" charset="0"/>
              </a:rPr>
              <a:t>)</a:t>
            </a:r>
            <a:endParaRPr lang="en-MY" sz="2000" dirty="0">
              <a:latin typeface="Consolas" panose="020B0609020204030204" pitchFamily="49" charset="0"/>
            </a:endParaRPr>
          </a:p>
        </p:txBody>
      </p:sp>
      <p:sp>
        <p:nvSpPr>
          <p:cNvPr id="4" name="TextBox 3">
            <a:extLst>
              <a:ext uri="{FF2B5EF4-FFF2-40B4-BE49-F238E27FC236}">
                <a16:creationId xmlns:a16="http://schemas.microsoft.com/office/drawing/2014/main" id="{AB8AA417-64A3-159F-3ECB-CB3DC04D6315}"/>
              </a:ext>
            </a:extLst>
          </p:cNvPr>
          <p:cNvSpPr txBox="1"/>
          <p:nvPr/>
        </p:nvSpPr>
        <p:spPr>
          <a:xfrm>
            <a:off x="838200" y="6320880"/>
            <a:ext cx="4497337" cy="276999"/>
          </a:xfrm>
          <a:prstGeom prst="rect">
            <a:avLst/>
          </a:prstGeom>
          <a:noFill/>
        </p:spPr>
        <p:txBody>
          <a:bodyPr wrap="square" rtlCol="0">
            <a:spAutoFit/>
          </a:bodyPr>
          <a:lstStyle/>
          <a:p>
            <a:r>
              <a:rPr lang="en-US" sz="1200" i="1" dirty="0"/>
              <a:t>Source: </a:t>
            </a:r>
            <a:r>
              <a:rPr lang="en-US" sz="1200" i="1" dirty="0">
                <a:hlinkClick r:id="rId2"/>
              </a:rPr>
              <a:t>https://www.daxpatterns.com/statistical-patterns/</a:t>
            </a:r>
            <a:r>
              <a:rPr lang="en-US" sz="1200" i="1" dirty="0"/>
              <a:t> </a:t>
            </a:r>
            <a:endParaRPr lang="en-MY" sz="1200" i="1" dirty="0"/>
          </a:p>
        </p:txBody>
      </p:sp>
      <p:sp>
        <p:nvSpPr>
          <p:cNvPr id="3" name="Rectangle 2">
            <a:extLst>
              <a:ext uri="{FF2B5EF4-FFF2-40B4-BE49-F238E27FC236}">
                <a16:creationId xmlns:a16="http://schemas.microsoft.com/office/drawing/2014/main" id="{FA1441D9-33D6-E7D9-8617-0132368E0D0F}"/>
              </a:ext>
            </a:extLst>
          </p:cNvPr>
          <p:cNvSpPr/>
          <p:nvPr/>
        </p:nvSpPr>
        <p:spPr>
          <a:xfrm>
            <a:off x="1602659" y="3156155"/>
            <a:ext cx="5496231" cy="994123"/>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MY"/>
          </a:p>
        </p:txBody>
      </p:sp>
      <p:sp>
        <p:nvSpPr>
          <p:cNvPr id="7" name="Speech Bubble: Rectangle 6">
            <a:extLst>
              <a:ext uri="{FF2B5EF4-FFF2-40B4-BE49-F238E27FC236}">
                <a16:creationId xmlns:a16="http://schemas.microsoft.com/office/drawing/2014/main" id="{EF481320-6A01-97E8-8C34-F57A67829447}"/>
              </a:ext>
            </a:extLst>
          </p:cNvPr>
          <p:cNvSpPr/>
          <p:nvPr/>
        </p:nvSpPr>
        <p:spPr>
          <a:xfrm>
            <a:off x="7541341" y="2359742"/>
            <a:ext cx="3047999" cy="1700981"/>
          </a:xfrm>
          <a:prstGeom prst="wedgeRectCallout">
            <a:avLst>
              <a:gd name="adj1" fmla="val -61164"/>
              <a:gd name="adj2" fmla="val 2593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Creating a table with 2 columns in a measure, to establish the “Frequency” of each distinct data point in a table; does not work with multi-modal data sets</a:t>
            </a:r>
            <a:endParaRPr lang="en-MY" dirty="0"/>
          </a:p>
        </p:txBody>
      </p:sp>
      <p:sp>
        <p:nvSpPr>
          <p:cNvPr id="6" name="Slide Number Placeholder 5">
            <a:extLst>
              <a:ext uri="{FF2B5EF4-FFF2-40B4-BE49-F238E27FC236}">
                <a16:creationId xmlns:a16="http://schemas.microsoft.com/office/drawing/2014/main" id="{E426339C-7D4D-A34E-5C4C-FE98E39FC345}"/>
              </a:ext>
            </a:extLst>
          </p:cNvPr>
          <p:cNvSpPr>
            <a:spLocks noGrp="1"/>
          </p:cNvSpPr>
          <p:nvPr>
            <p:ph type="sldNum" sz="quarter" idx="12"/>
          </p:nvPr>
        </p:nvSpPr>
        <p:spPr/>
        <p:txBody>
          <a:bodyPr/>
          <a:lstStyle/>
          <a:p>
            <a:fld id="{499D393E-937C-43AF-8286-1304B3D101C1}" type="slidenum">
              <a:rPr lang="en-MY" smtClean="0"/>
              <a:t>41</a:t>
            </a:fld>
            <a:endParaRPr lang="en-MY"/>
          </a:p>
        </p:txBody>
      </p:sp>
      <p:pic>
        <p:nvPicPr>
          <p:cNvPr id="8" name="Graphic 7" descr="Traffic cone with solid fill">
            <a:extLst>
              <a:ext uri="{FF2B5EF4-FFF2-40B4-BE49-F238E27FC236}">
                <a16:creationId xmlns:a16="http://schemas.microsoft.com/office/drawing/2014/main" id="{9C94A996-F52B-AA7A-22D3-23DAAA19DB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0288" y="570706"/>
            <a:ext cx="914400" cy="914400"/>
          </a:xfrm>
          <a:prstGeom prst="rect">
            <a:avLst/>
          </a:prstGeom>
        </p:spPr>
      </p:pic>
    </p:spTree>
    <p:extLst>
      <p:ext uri="{BB962C8B-B14F-4D97-AF65-F5344CB8AC3E}">
        <p14:creationId xmlns:p14="http://schemas.microsoft.com/office/powerpoint/2010/main" val="36562244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AA597AE5-14D8-AFB5-BFFC-0A76DCA94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5DE29C-6F86-F154-3EE8-7DB644026DB9}"/>
              </a:ext>
            </a:extLst>
          </p:cNvPr>
          <p:cNvSpPr>
            <a:spLocks noGrp="1"/>
          </p:cNvSpPr>
          <p:nvPr>
            <p:ph type="title"/>
          </p:nvPr>
        </p:nvSpPr>
        <p:spPr>
          <a:xfrm>
            <a:off x="1849847" y="365125"/>
            <a:ext cx="7509910" cy="1325563"/>
          </a:xfrm>
        </p:spPr>
        <p:txBody>
          <a:bodyPr/>
          <a:lstStyle/>
          <a:p>
            <a:r>
              <a:rPr lang="en-US" dirty="0"/>
              <a:t>LAB 3A: Building a semantic model using SDG datasets</a:t>
            </a:r>
            <a:endParaRPr lang="en-MY" dirty="0"/>
          </a:p>
        </p:txBody>
      </p:sp>
      <p:sp>
        <p:nvSpPr>
          <p:cNvPr id="5" name="Content Placeholder 4">
            <a:extLst>
              <a:ext uri="{FF2B5EF4-FFF2-40B4-BE49-F238E27FC236}">
                <a16:creationId xmlns:a16="http://schemas.microsoft.com/office/drawing/2014/main" id="{9FB2BE29-5B6C-9E00-BBE6-2AB3D3C7F43C}"/>
              </a:ext>
            </a:extLst>
          </p:cNvPr>
          <p:cNvSpPr>
            <a:spLocks noGrp="1"/>
          </p:cNvSpPr>
          <p:nvPr>
            <p:ph idx="1"/>
          </p:nvPr>
        </p:nvSpPr>
        <p:spPr/>
        <p:txBody>
          <a:bodyPr>
            <a:normAutofit/>
          </a:bodyPr>
          <a:lstStyle/>
          <a:p>
            <a:pPr marL="342900" lvl="0" indent="-342900">
              <a:lnSpc>
                <a:spcPct val="107000"/>
              </a:lnSpc>
              <a:spcBef>
                <a:spcPts val="600"/>
              </a:spcBef>
              <a:spcAft>
                <a:spcPts val="600"/>
              </a:spcAft>
              <a:buFont typeface="Symbol" panose="05050102010706020507" pitchFamily="18" charset="2"/>
              <a:buChar char=""/>
            </a:pPr>
            <a:r>
              <a:rPr lang="en-MY" sz="2000" kern="100" dirty="0">
                <a:effectLst/>
                <a:latin typeface="Aptos" panose="020B0004020202020204" pitchFamily="34" charset="0"/>
                <a:ea typeface="Aptos" panose="020B0004020202020204" pitchFamily="34" charset="0"/>
                <a:cs typeface="Times New Roman" panose="02020603050405020304" pitchFamily="18" charset="0"/>
              </a:rPr>
              <a:t>Revision on star schema data model, understand the importance of dimensions &amp; facts</a:t>
            </a:r>
          </a:p>
          <a:p>
            <a:pPr marL="342900" lvl="0" indent="-342900">
              <a:lnSpc>
                <a:spcPct val="107000"/>
              </a:lnSpc>
              <a:spcBef>
                <a:spcPts val="600"/>
              </a:spcBef>
              <a:spcAft>
                <a:spcPts val="600"/>
              </a:spcAft>
              <a:buFont typeface="Symbol" panose="05050102010706020507" pitchFamily="18" charset="2"/>
              <a:buChar char=""/>
            </a:pPr>
            <a:r>
              <a:rPr lang="en-MY" sz="2000" kern="100" dirty="0">
                <a:effectLst/>
                <a:latin typeface="Aptos" panose="020B0004020202020204" pitchFamily="34" charset="0"/>
                <a:ea typeface="Aptos" panose="020B0004020202020204" pitchFamily="34" charset="0"/>
                <a:cs typeface="Times New Roman" panose="02020603050405020304" pitchFamily="18" charset="0"/>
              </a:rPr>
              <a:t>Create visuals using DAX measures for </a:t>
            </a:r>
            <a:r>
              <a:rPr lang="en-MY" sz="2000" b="1" kern="100" dirty="0">
                <a:effectLst/>
                <a:latin typeface="Aptos" panose="020B0004020202020204" pitchFamily="34" charset="0"/>
                <a:ea typeface="Aptos" panose="020B0004020202020204" pitchFamily="34" charset="0"/>
                <a:cs typeface="Times New Roman" panose="02020603050405020304" pitchFamily="18" charset="0"/>
              </a:rPr>
              <a:t>mean, median, mode</a:t>
            </a:r>
            <a:r>
              <a:rPr lang="en-MY" sz="2000" kern="100" dirty="0">
                <a:effectLst/>
                <a:latin typeface="Aptos" panose="020B0004020202020204" pitchFamily="34" charset="0"/>
                <a:ea typeface="Aptos" panose="020B0004020202020204" pitchFamily="34" charset="0"/>
                <a:cs typeface="Times New Roman" panose="02020603050405020304" pitchFamily="18" charset="0"/>
              </a:rPr>
              <a:t> weights for both production and purchases (refer #39, 41)</a:t>
            </a:r>
          </a:p>
          <a:p>
            <a:pPr marL="342900" lvl="0" indent="-342900">
              <a:lnSpc>
                <a:spcPct val="107000"/>
              </a:lnSpc>
              <a:spcBef>
                <a:spcPts val="600"/>
              </a:spcBef>
              <a:spcAft>
                <a:spcPts val="600"/>
              </a:spcAft>
              <a:buFont typeface="Symbol" panose="05050102010706020507" pitchFamily="18" charset="2"/>
              <a:buChar char=""/>
            </a:pPr>
            <a:r>
              <a:rPr lang="en-MY" sz="2000" kern="100" dirty="0">
                <a:latin typeface="Aptos" panose="020B0004020202020204" pitchFamily="34" charset="0"/>
                <a:ea typeface="Aptos" panose="020B0004020202020204" pitchFamily="34" charset="0"/>
                <a:cs typeface="Times New Roman" panose="02020603050405020304" pitchFamily="18" charset="0"/>
              </a:rPr>
              <a:t>As we are entering into the world of DAX measures, several best practices would be observed in this session onwards</a:t>
            </a:r>
          </a:p>
          <a:p>
            <a:pPr marL="800100" lvl="1" indent="-342900">
              <a:lnSpc>
                <a:spcPct val="107000"/>
              </a:lnSpc>
              <a:spcBef>
                <a:spcPts val="600"/>
              </a:spcBef>
              <a:spcAft>
                <a:spcPts val="600"/>
              </a:spcAft>
              <a:buFont typeface="Symbol" panose="05050102010706020507" pitchFamily="18" charset="2"/>
              <a:buChar char=""/>
            </a:pPr>
            <a:r>
              <a:rPr lang="en-MY" sz="1800" kern="100" dirty="0">
                <a:latin typeface="Aptos" panose="020B0004020202020204" pitchFamily="34" charset="0"/>
                <a:ea typeface="Aptos" panose="020B0004020202020204" pitchFamily="34" charset="0"/>
                <a:cs typeface="Times New Roman" panose="02020603050405020304" pitchFamily="18" charset="0"/>
              </a:rPr>
              <a:t>The use of a </a:t>
            </a:r>
            <a:r>
              <a:rPr lang="en-MY" sz="1800" b="1" kern="100" dirty="0">
                <a:latin typeface="Aptos" panose="020B0004020202020204" pitchFamily="34" charset="0"/>
                <a:ea typeface="Aptos" panose="020B0004020202020204" pitchFamily="34" charset="0"/>
                <a:cs typeface="Times New Roman" panose="02020603050405020304" pitchFamily="18" charset="0"/>
              </a:rPr>
              <a:t>blank table</a:t>
            </a:r>
            <a:r>
              <a:rPr lang="en-MY" sz="1800" kern="100" dirty="0">
                <a:latin typeface="Aptos" panose="020B0004020202020204" pitchFamily="34" charset="0"/>
                <a:ea typeface="Aptos" panose="020B0004020202020204" pitchFamily="34" charset="0"/>
                <a:cs typeface="Times New Roman" panose="02020603050405020304" pitchFamily="18" charset="0"/>
              </a:rPr>
              <a:t> (</a:t>
            </a:r>
            <a:r>
              <a:rPr lang="en-MY" sz="1800" kern="100" dirty="0" err="1">
                <a:latin typeface="Aptos" panose="020B0004020202020204" pitchFamily="34" charset="0"/>
                <a:ea typeface="Aptos" panose="020B0004020202020204" pitchFamily="34" charset="0"/>
                <a:cs typeface="Times New Roman" panose="02020603050405020304" pitchFamily="18" charset="0"/>
              </a:rPr>
              <a:t>MyMeasures</a:t>
            </a:r>
            <a:r>
              <a:rPr lang="en-MY" sz="1800" kern="100" dirty="0">
                <a:latin typeface="Aptos" panose="020B0004020202020204" pitchFamily="34" charset="0"/>
                <a:ea typeface="Aptos" panose="020B0004020202020204" pitchFamily="34" charset="0"/>
                <a:cs typeface="Times New Roman" panose="02020603050405020304" pitchFamily="18" charset="0"/>
              </a:rPr>
              <a:t>) to store all DAX measures using PQE “Enter Data” feature</a:t>
            </a:r>
          </a:p>
          <a:p>
            <a:pPr marL="800100" lvl="1" indent="-342900">
              <a:lnSpc>
                <a:spcPct val="107000"/>
              </a:lnSpc>
              <a:spcBef>
                <a:spcPts val="600"/>
              </a:spcBef>
              <a:spcAft>
                <a:spcPts val="600"/>
              </a:spcAft>
              <a:buFont typeface="Symbol" panose="05050102010706020507" pitchFamily="18" charset="2"/>
              <a:buChar char=""/>
            </a:pPr>
            <a:r>
              <a:rPr lang="en-MY" sz="1800" kern="100" dirty="0">
                <a:latin typeface="Aptos" panose="020B0004020202020204" pitchFamily="34" charset="0"/>
                <a:ea typeface="Aptos" panose="020B0004020202020204" pitchFamily="34" charset="0"/>
                <a:cs typeface="Times New Roman" panose="02020603050405020304" pitchFamily="18" charset="0"/>
              </a:rPr>
              <a:t>The use of </a:t>
            </a:r>
            <a:r>
              <a:rPr lang="en-MY" sz="1800" b="1" kern="100" dirty="0">
                <a:latin typeface="Aptos" panose="020B0004020202020204" pitchFamily="34" charset="0"/>
                <a:ea typeface="Aptos" panose="020B0004020202020204" pitchFamily="34" charset="0"/>
                <a:cs typeface="Times New Roman" panose="02020603050405020304" pitchFamily="18" charset="0"/>
              </a:rPr>
              <a:t>measure folders</a:t>
            </a:r>
            <a:r>
              <a:rPr lang="en-MY" sz="1800" kern="100" dirty="0">
                <a:latin typeface="Aptos" panose="020B0004020202020204" pitchFamily="34" charset="0"/>
                <a:ea typeface="Aptos" panose="020B0004020202020204" pitchFamily="34" charset="0"/>
                <a:cs typeface="Times New Roman" panose="02020603050405020304" pitchFamily="18" charset="0"/>
              </a:rPr>
              <a:t> to store DAX measures in their respective buckets (through data model view)</a:t>
            </a:r>
          </a:p>
          <a:p>
            <a:pPr marL="800100" lvl="1" indent="-342900">
              <a:lnSpc>
                <a:spcPct val="107000"/>
              </a:lnSpc>
              <a:spcBef>
                <a:spcPts val="600"/>
              </a:spcBef>
              <a:spcAft>
                <a:spcPts val="600"/>
              </a:spcAft>
              <a:buFont typeface="Symbol" panose="05050102010706020507" pitchFamily="18" charset="2"/>
              <a:buChar char=""/>
            </a:pPr>
            <a:r>
              <a:rPr lang="en-MY" sz="1800" b="1" kern="100" dirty="0">
                <a:latin typeface="Aptos" panose="020B0004020202020204" pitchFamily="34" charset="0"/>
                <a:ea typeface="Aptos" panose="020B0004020202020204" pitchFamily="34" charset="0"/>
                <a:cs typeface="Times New Roman" panose="02020603050405020304" pitchFamily="18" charset="0"/>
              </a:rPr>
              <a:t>Standardised naming conventions</a:t>
            </a:r>
            <a:r>
              <a:rPr lang="en-MY" sz="1800" kern="100" dirty="0">
                <a:latin typeface="Aptos" panose="020B0004020202020204" pitchFamily="34" charset="0"/>
                <a:ea typeface="Aptos" panose="020B0004020202020204" pitchFamily="34" charset="0"/>
                <a:cs typeface="Times New Roman" panose="02020603050405020304" pitchFamily="18" charset="0"/>
              </a:rPr>
              <a:t> for measures created to avoid confusion</a:t>
            </a:r>
          </a:p>
        </p:txBody>
      </p:sp>
      <p:sp>
        <p:nvSpPr>
          <p:cNvPr id="4" name="Slide Number Placeholder 3">
            <a:extLst>
              <a:ext uri="{FF2B5EF4-FFF2-40B4-BE49-F238E27FC236}">
                <a16:creationId xmlns:a16="http://schemas.microsoft.com/office/drawing/2014/main" id="{36826F2D-4937-4EF4-EA06-CBFBA7EA1501}"/>
              </a:ext>
            </a:extLst>
          </p:cNvPr>
          <p:cNvSpPr>
            <a:spLocks noGrp="1"/>
          </p:cNvSpPr>
          <p:nvPr>
            <p:ph type="sldNum" sz="quarter" idx="12"/>
          </p:nvPr>
        </p:nvSpPr>
        <p:spPr/>
        <p:txBody>
          <a:bodyPr/>
          <a:lstStyle/>
          <a:p>
            <a:fld id="{499D393E-937C-43AF-8286-1304B3D101C1}" type="slidenum">
              <a:rPr lang="en-MY" smtClean="0"/>
              <a:t>42</a:t>
            </a:fld>
            <a:endParaRPr lang="en-MY"/>
          </a:p>
        </p:txBody>
      </p:sp>
      <p:grpSp>
        <p:nvGrpSpPr>
          <p:cNvPr id="9" name="Group 8">
            <a:extLst>
              <a:ext uri="{FF2B5EF4-FFF2-40B4-BE49-F238E27FC236}">
                <a16:creationId xmlns:a16="http://schemas.microsoft.com/office/drawing/2014/main" id="{4904B43A-3B0F-6008-DF5A-9481B71AC346}"/>
              </a:ext>
            </a:extLst>
          </p:cNvPr>
          <p:cNvGrpSpPr/>
          <p:nvPr/>
        </p:nvGrpSpPr>
        <p:grpSpPr>
          <a:xfrm>
            <a:off x="9511302" y="307780"/>
            <a:ext cx="1842498" cy="1382908"/>
            <a:chOff x="9511302" y="5338567"/>
            <a:chExt cx="1842498" cy="1382908"/>
          </a:xfrm>
        </p:grpSpPr>
        <p:pic>
          <p:nvPicPr>
            <p:cNvPr id="6" name="Picture 5">
              <a:extLst>
                <a:ext uri="{FF2B5EF4-FFF2-40B4-BE49-F238E27FC236}">
                  <a16:creationId xmlns:a16="http://schemas.microsoft.com/office/drawing/2014/main" id="{B4DB7912-B2DD-6233-6BAD-DE8085CFFDA5}"/>
                </a:ext>
              </a:extLst>
            </p:cNvPr>
            <p:cNvPicPr>
              <a:picLocks noChangeAspect="1"/>
            </p:cNvPicPr>
            <p:nvPr/>
          </p:nvPicPr>
          <p:blipFill>
            <a:blip r:embed="rId2"/>
            <a:srcRect t="12585" b="12359"/>
            <a:stretch>
              <a:fillRect/>
            </a:stretch>
          </p:blipFill>
          <p:spPr>
            <a:xfrm>
              <a:off x="9511302" y="5338567"/>
              <a:ext cx="1842498" cy="1382908"/>
            </a:xfrm>
            <a:prstGeom prst="rect">
              <a:avLst/>
            </a:prstGeom>
          </p:spPr>
        </p:pic>
        <p:sp>
          <p:nvSpPr>
            <p:cNvPr id="7" name="Rectangle 6">
              <a:extLst>
                <a:ext uri="{FF2B5EF4-FFF2-40B4-BE49-F238E27FC236}">
                  <a16:creationId xmlns:a16="http://schemas.microsoft.com/office/drawing/2014/main" id="{E087EDEA-B28F-2BD1-1887-3A8747BE2AC7}"/>
                </a:ext>
              </a:extLst>
            </p:cNvPr>
            <p:cNvSpPr/>
            <p:nvPr/>
          </p:nvSpPr>
          <p:spPr>
            <a:xfrm>
              <a:off x="9556750" y="6311900"/>
              <a:ext cx="1739900" cy="365125"/>
            </a:xfrm>
            <a:prstGeom prst="rect">
              <a:avLst/>
            </a:prstGeom>
            <a:solidFill>
              <a:srgbClr val="2837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KONTRAKTOR: Alex Ooi</a:t>
              </a:r>
            </a:p>
            <a:p>
              <a:pPr algn="ctr"/>
              <a:r>
                <a:rPr lang="en-MY" sz="900" dirty="0"/>
                <a:t>alex@gemrain.net</a:t>
              </a:r>
            </a:p>
          </p:txBody>
        </p:sp>
        <p:sp>
          <p:nvSpPr>
            <p:cNvPr id="8" name="TextBox 7">
              <a:extLst>
                <a:ext uri="{FF2B5EF4-FFF2-40B4-BE49-F238E27FC236}">
                  <a16:creationId xmlns:a16="http://schemas.microsoft.com/office/drawing/2014/main" id="{4083F4F9-3D1C-E127-FEB7-FDE442323F39}"/>
                </a:ext>
              </a:extLst>
            </p:cNvPr>
            <p:cNvSpPr txBox="1"/>
            <p:nvPr/>
          </p:nvSpPr>
          <p:spPr>
            <a:xfrm>
              <a:off x="9956219" y="6046233"/>
              <a:ext cx="940381" cy="184666"/>
            </a:xfrm>
            <a:prstGeom prst="rect">
              <a:avLst/>
            </a:prstGeom>
            <a:noFill/>
          </p:spPr>
          <p:txBody>
            <a:bodyPr wrap="square" rtlCol="0">
              <a:spAutoFit/>
            </a:bodyPr>
            <a:lstStyle/>
            <a:p>
              <a:pPr algn="ctr"/>
              <a:r>
                <a:rPr lang="en-US" sz="600" dirty="0"/>
                <a:t>1 </a:t>
              </a:r>
              <a:r>
                <a:rPr lang="en-US" sz="600" dirty="0" err="1"/>
                <a:t>muka</a:t>
              </a:r>
              <a:r>
                <a:rPr lang="en-US" sz="600" dirty="0"/>
                <a:t> </a:t>
              </a:r>
              <a:r>
                <a:rPr lang="en-US" sz="600" dirty="0" err="1"/>
                <a:t>surat</a:t>
              </a:r>
              <a:endParaRPr lang="en-MY" sz="600" dirty="0"/>
            </a:p>
          </p:txBody>
        </p:sp>
      </p:grpSp>
      <p:pic>
        <p:nvPicPr>
          <p:cNvPr id="11" name="Graphic 10" descr="Warning with solid fill">
            <a:extLst>
              <a:ext uri="{FF2B5EF4-FFF2-40B4-BE49-F238E27FC236}">
                <a16:creationId xmlns:a16="http://schemas.microsoft.com/office/drawing/2014/main" id="{6A5FC80A-F4D2-7242-9349-3E0AEA52A6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9999" y="542034"/>
            <a:ext cx="914400" cy="914400"/>
          </a:xfrm>
          <a:prstGeom prst="rect">
            <a:avLst/>
          </a:prstGeom>
        </p:spPr>
      </p:pic>
    </p:spTree>
    <p:extLst>
      <p:ext uri="{BB962C8B-B14F-4D97-AF65-F5344CB8AC3E}">
        <p14:creationId xmlns:p14="http://schemas.microsoft.com/office/powerpoint/2010/main" val="16532370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A192F-BAB8-7BC1-1C96-AD19CEE34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FFE86-CC7A-C0D7-637C-0BDD5060F24E}"/>
              </a:ext>
            </a:extLst>
          </p:cNvPr>
          <p:cNvSpPr>
            <a:spLocks noGrp="1"/>
          </p:cNvSpPr>
          <p:nvPr>
            <p:ph type="title"/>
          </p:nvPr>
        </p:nvSpPr>
        <p:spPr/>
        <p:txBody>
          <a:bodyPr/>
          <a:lstStyle/>
          <a:p>
            <a:r>
              <a:rPr lang="en-US" dirty="0"/>
              <a:t>What is Box &amp; Whiskers?</a:t>
            </a:r>
            <a:endParaRPr lang="en-MY" dirty="0"/>
          </a:p>
        </p:txBody>
      </p:sp>
      <p:pic>
        <p:nvPicPr>
          <p:cNvPr id="8" name="Content Placeholder 7" descr="A diagram of a box with text and numbers&#10;&#10;AI-generated content may be incorrect.">
            <a:extLst>
              <a:ext uri="{FF2B5EF4-FFF2-40B4-BE49-F238E27FC236}">
                <a16:creationId xmlns:a16="http://schemas.microsoft.com/office/drawing/2014/main" id="{E98D8D80-BA89-449C-3123-126A7DA32F4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29340"/>
          <a:stretch>
            <a:fillRect/>
          </a:stretch>
        </p:blipFill>
        <p:spPr>
          <a:xfrm>
            <a:off x="7799299" y="2026284"/>
            <a:ext cx="3859425" cy="2805431"/>
          </a:xfrm>
        </p:spPr>
      </p:pic>
      <p:sp>
        <p:nvSpPr>
          <p:cNvPr id="4" name="Slide Number Placeholder 3">
            <a:extLst>
              <a:ext uri="{FF2B5EF4-FFF2-40B4-BE49-F238E27FC236}">
                <a16:creationId xmlns:a16="http://schemas.microsoft.com/office/drawing/2014/main" id="{A474BB16-3996-D19E-AC5C-F3A9FDCC40B2}"/>
              </a:ext>
            </a:extLst>
          </p:cNvPr>
          <p:cNvSpPr>
            <a:spLocks noGrp="1"/>
          </p:cNvSpPr>
          <p:nvPr>
            <p:ph type="sldNum" sz="quarter" idx="12"/>
          </p:nvPr>
        </p:nvSpPr>
        <p:spPr/>
        <p:txBody>
          <a:bodyPr/>
          <a:lstStyle/>
          <a:p>
            <a:fld id="{499D393E-937C-43AF-8286-1304B3D101C1}" type="slidenum">
              <a:rPr lang="en-MY" smtClean="0"/>
              <a:t>43</a:t>
            </a:fld>
            <a:endParaRPr lang="en-MY" dirty="0"/>
          </a:p>
        </p:txBody>
      </p:sp>
      <p:pic>
        <p:nvPicPr>
          <p:cNvPr id="5" name="Picture 4">
            <a:extLst>
              <a:ext uri="{FF2B5EF4-FFF2-40B4-BE49-F238E27FC236}">
                <a16:creationId xmlns:a16="http://schemas.microsoft.com/office/drawing/2014/main" id="{0CBC31D7-BBC3-3A7A-5592-C2CF97AC963B}"/>
              </a:ext>
            </a:extLst>
          </p:cNvPr>
          <p:cNvPicPr>
            <a:picLocks noChangeAspect="1"/>
          </p:cNvPicPr>
          <p:nvPr/>
        </p:nvPicPr>
        <p:blipFill>
          <a:blip r:embed="rId3"/>
          <a:stretch>
            <a:fillRect/>
          </a:stretch>
        </p:blipFill>
        <p:spPr>
          <a:xfrm>
            <a:off x="7858482" y="388620"/>
            <a:ext cx="1819804" cy="1213202"/>
          </a:xfrm>
          <a:prstGeom prst="rect">
            <a:avLst/>
          </a:prstGeom>
        </p:spPr>
      </p:pic>
      <p:sp>
        <p:nvSpPr>
          <p:cNvPr id="6" name="Speech Bubble: Oval 5">
            <a:extLst>
              <a:ext uri="{FF2B5EF4-FFF2-40B4-BE49-F238E27FC236}">
                <a16:creationId xmlns:a16="http://schemas.microsoft.com/office/drawing/2014/main" id="{62C5637E-A1B7-E336-A451-632B32389B6C}"/>
              </a:ext>
            </a:extLst>
          </p:cNvPr>
          <p:cNvSpPr/>
          <p:nvPr/>
        </p:nvSpPr>
        <p:spPr>
          <a:xfrm>
            <a:off x="9202055" y="365125"/>
            <a:ext cx="952462" cy="695298"/>
          </a:xfrm>
          <a:prstGeom prst="wedgeEllipseCallout">
            <a:avLst>
              <a:gd name="adj1" fmla="val -59326"/>
              <a:gd name="adj2" fmla="val 2439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Not me!</a:t>
            </a:r>
            <a:endParaRPr lang="en-MY" sz="1600" dirty="0"/>
          </a:p>
        </p:txBody>
      </p:sp>
      <p:sp>
        <p:nvSpPr>
          <p:cNvPr id="9" name="Content Placeholder 2">
            <a:extLst>
              <a:ext uri="{FF2B5EF4-FFF2-40B4-BE49-F238E27FC236}">
                <a16:creationId xmlns:a16="http://schemas.microsoft.com/office/drawing/2014/main" id="{76BC8EF5-B5A4-F1E9-3337-DDD4C0683A53}"/>
              </a:ext>
            </a:extLst>
          </p:cNvPr>
          <p:cNvSpPr txBox="1">
            <a:spLocks/>
          </p:cNvSpPr>
          <p:nvPr/>
        </p:nvSpPr>
        <p:spPr>
          <a:xfrm>
            <a:off x="859296" y="1690688"/>
            <a:ext cx="6728860" cy="488330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7000"/>
              </a:lnSpc>
              <a:spcBef>
                <a:spcPts val="600"/>
              </a:spcBef>
              <a:spcAft>
                <a:spcPts val="600"/>
              </a:spcAft>
              <a:buFont typeface="Symbol" panose="05050102010706020507" pitchFamily="18" charset="2"/>
              <a:buChar char=""/>
            </a:pPr>
            <a:r>
              <a:rPr lang="en-US" kern="100" dirty="0">
                <a:latin typeface="Aptos" panose="020B0004020202020204" pitchFamily="34" charset="0"/>
                <a:ea typeface="Aptos" panose="020B0004020202020204" pitchFamily="34" charset="0"/>
                <a:cs typeface="Times New Roman" panose="02020603050405020304" pitchFamily="18" charset="0"/>
              </a:rPr>
              <a:t>A box plot shows </a:t>
            </a:r>
            <a:r>
              <a:rPr lang="en-US" b="1" kern="100" dirty="0">
                <a:latin typeface="Aptos" panose="020B0004020202020204" pitchFamily="34" charset="0"/>
                <a:ea typeface="Aptos" panose="020B0004020202020204" pitchFamily="34" charset="0"/>
                <a:cs typeface="Times New Roman" panose="02020603050405020304" pitchFamily="18" charset="0"/>
              </a:rPr>
              <a:t>how data is spread out</a:t>
            </a:r>
            <a:r>
              <a:rPr lang="en-US" kern="100" dirty="0">
                <a:latin typeface="Aptos" panose="020B0004020202020204" pitchFamily="34" charset="0"/>
                <a:ea typeface="Aptos" panose="020B0004020202020204" pitchFamily="34" charset="0"/>
                <a:cs typeface="Times New Roman" panose="02020603050405020304" pitchFamily="18" charset="0"/>
              </a:rPr>
              <a:t> — it helps you see if values are clustered, spread evenly, or have outliers</a:t>
            </a:r>
          </a:p>
          <a:p>
            <a:pPr marL="342900" indent="-342900">
              <a:lnSpc>
                <a:spcPct val="107000"/>
              </a:lnSpc>
              <a:spcBef>
                <a:spcPts val="600"/>
              </a:spcBef>
              <a:spcAft>
                <a:spcPts val="600"/>
              </a:spcAft>
              <a:buFont typeface="Symbol" panose="05050102010706020507" pitchFamily="18" charset="2"/>
              <a:buChar char=""/>
            </a:pPr>
            <a:r>
              <a:rPr lang="en-US" kern="100" dirty="0">
                <a:latin typeface="Aptos" panose="020B0004020202020204" pitchFamily="34" charset="0"/>
                <a:ea typeface="Aptos" panose="020B0004020202020204" pitchFamily="34" charset="0"/>
                <a:cs typeface="Times New Roman" panose="02020603050405020304" pitchFamily="18" charset="0"/>
              </a:rPr>
              <a:t>It uses </a:t>
            </a:r>
            <a:r>
              <a:rPr lang="en-US" b="1" kern="100" dirty="0">
                <a:latin typeface="Aptos" panose="020B0004020202020204" pitchFamily="34" charset="0"/>
                <a:ea typeface="Aptos" panose="020B0004020202020204" pitchFamily="34" charset="0"/>
                <a:cs typeface="Times New Roman" panose="02020603050405020304" pitchFamily="18" charset="0"/>
              </a:rPr>
              <a:t>five numbers</a:t>
            </a:r>
            <a:r>
              <a:rPr lang="en-US" kern="100" dirty="0">
                <a:latin typeface="Aptos" panose="020B0004020202020204" pitchFamily="34" charset="0"/>
                <a:ea typeface="Aptos" panose="020B0004020202020204" pitchFamily="34" charset="0"/>
                <a:cs typeface="Times New Roman" panose="02020603050405020304" pitchFamily="18" charset="0"/>
              </a:rPr>
              <a:t>: minimum, 25th percentile (q1), median (q2), 75th percentile (q3), and maximum</a:t>
            </a:r>
          </a:p>
          <a:p>
            <a:pPr marL="342900" indent="-342900">
              <a:lnSpc>
                <a:spcPct val="107000"/>
              </a:lnSpc>
              <a:spcBef>
                <a:spcPts val="600"/>
              </a:spcBef>
              <a:spcAft>
                <a:spcPts val="600"/>
              </a:spcAft>
              <a:buFont typeface="Symbol" panose="05050102010706020507" pitchFamily="18" charset="2"/>
              <a:buChar char=""/>
            </a:pPr>
            <a:r>
              <a:rPr lang="en-US" kern="100" dirty="0">
                <a:latin typeface="Aptos" panose="020B0004020202020204" pitchFamily="34" charset="0"/>
                <a:ea typeface="Aptos" panose="020B0004020202020204" pitchFamily="34" charset="0"/>
                <a:cs typeface="Times New Roman" panose="02020603050405020304" pitchFamily="18" charset="0"/>
              </a:rPr>
              <a:t>The </a:t>
            </a:r>
            <a:r>
              <a:rPr lang="en-US" b="1" kern="100" dirty="0">
                <a:latin typeface="Aptos" panose="020B0004020202020204" pitchFamily="34" charset="0"/>
                <a:ea typeface="Aptos" panose="020B0004020202020204" pitchFamily="34" charset="0"/>
                <a:cs typeface="Times New Roman" panose="02020603050405020304" pitchFamily="18" charset="0"/>
              </a:rPr>
              <a:t>box shows the middle 50%</a:t>
            </a:r>
            <a:r>
              <a:rPr lang="en-US" kern="100" dirty="0">
                <a:latin typeface="Aptos" panose="020B0004020202020204" pitchFamily="34" charset="0"/>
                <a:ea typeface="Aptos" panose="020B0004020202020204" pitchFamily="34" charset="0"/>
                <a:cs typeface="Times New Roman" panose="02020603050405020304" pitchFamily="18" charset="0"/>
              </a:rPr>
              <a:t> (aka IQR, interquartile range) of values, and the lines ("whiskers") show the full range, highlighting any values far outside the norm</a:t>
            </a:r>
            <a:endParaRPr lang="en-MY"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75E17BC0-5DBD-8736-8A39-2741BDF96465}"/>
              </a:ext>
            </a:extLst>
          </p:cNvPr>
          <p:cNvSpPr txBox="1"/>
          <p:nvPr/>
        </p:nvSpPr>
        <p:spPr>
          <a:xfrm>
            <a:off x="7858482" y="4855368"/>
            <a:ext cx="3145413" cy="738664"/>
          </a:xfrm>
          <a:prstGeom prst="rect">
            <a:avLst/>
          </a:prstGeom>
          <a:noFill/>
        </p:spPr>
        <p:txBody>
          <a:bodyPr wrap="none" rtlCol="0">
            <a:spAutoFit/>
          </a:bodyPr>
          <a:lstStyle/>
          <a:p>
            <a:r>
              <a:rPr lang="en-US" sz="1400" i="1" dirty="0"/>
              <a:t>Source: </a:t>
            </a:r>
            <a:r>
              <a:rPr lang="en-US" sz="1400" i="1" dirty="0" err="1"/>
              <a:t>DataTab</a:t>
            </a:r>
            <a:endParaRPr lang="en-US" sz="1400" i="1" dirty="0"/>
          </a:p>
          <a:p>
            <a:r>
              <a:rPr lang="en-US" sz="1400" i="1" dirty="0"/>
              <a:t>For more in-depth explanation, refer to</a:t>
            </a:r>
          </a:p>
          <a:p>
            <a:r>
              <a:rPr lang="en-US" sz="1400" i="1" dirty="0">
                <a:hlinkClick r:id="rId4"/>
              </a:rPr>
              <a:t>https://datatab.net/tutorial/box-plot</a:t>
            </a:r>
            <a:endParaRPr lang="en-MY" sz="1400" i="1" dirty="0"/>
          </a:p>
        </p:txBody>
      </p:sp>
    </p:spTree>
    <p:extLst>
      <p:ext uri="{BB962C8B-B14F-4D97-AF65-F5344CB8AC3E}">
        <p14:creationId xmlns:p14="http://schemas.microsoft.com/office/powerpoint/2010/main" val="41291567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CE7E3-0680-F60D-24E3-C0310EADE30C}"/>
              </a:ext>
            </a:extLst>
          </p:cNvPr>
          <p:cNvSpPr>
            <a:spLocks noGrp="1"/>
          </p:cNvSpPr>
          <p:nvPr>
            <p:ph type="title"/>
          </p:nvPr>
        </p:nvSpPr>
        <p:spPr/>
        <p:txBody>
          <a:bodyPr/>
          <a:lstStyle/>
          <a:p>
            <a:r>
              <a:rPr lang="en-US" dirty="0"/>
              <a:t>What is Box &amp; Whiskers for?</a:t>
            </a:r>
            <a:endParaRPr lang="en-MY" dirty="0"/>
          </a:p>
        </p:txBody>
      </p:sp>
      <p:sp>
        <p:nvSpPr>
          <p:cNvPr id="4" name="Slide Number Placeholder 3">
            <a:extLst>
              <a:ext uri="{FF2B5EF4-FFF2-40B4-BE49-F238E27FC236}">
                <a16:creationId xmlns:a16="http://schemas.microsoft.com/office/drawing/2014/main" id="{82084D8F-6F63-9A84-C0F9-C74CC0FAEA29}"/>
              </a:ext>
            </a:extLst>
          </p:cNvPr>
          <p:cNvSpPr>
            <a:spLocks noGrp="1"/>
          </p:cNvSpPr>
          <p:nvPr>
            <p:ph type="sldNum" sz="quarter" idx="12"/>
          </p:nvPr>
        </p:nvSpPr>
        <p:spPr/>
        <p:txBody>
          <a:bodyPr/>
          <a:lstStyle/>
          <a:p>
            <a:fld id="{499D393E-937C-43AF-8286-1304B3D101C1}" type="slidenum">
              <a:rPr lang="en-MY" smtClean="0"/>
              <a:t>44</a:t>
            </a:fld>
            <a:endParaRPr lang="en-MY"/>
          </a:p>
        </p:txBody>
      </p:sp>
      <p:graphicFrame>
        <p:nvGraphicFramePr>
          <p:cNvPr id="22" name="Table 21">
            <a:extLst>
              <a:ext uri="{FF2B5EF4-FFF2-40B4-BE49-F238E27FC236}">
                <a16:creationId xmlns:a16="http://schemas.microsoft.com/office/drawing/2014/main" id="{4A8FBD99-84FC-8693-DFA7-F8526DD2F74D}"/>
              </a:ext>
            </a:extLst>
          </p:cNvPr>
          <p:cNvGraphicFramePr>
            <a:graphicFrameLocks noGrp="1"/>
          </p:cNvGraphicFramePr>
          <p:nvPr>
            <p:extLst>
              <p:ext uri="{D42A27DB-BD31-4B8C-83A1-F6EECF244321}">
                <p14:modId xmlns:p14="http://schemas.microsoft.com/office/powerpoint/2010/main" val="180953185"/>
              </p:ext>
            </p:extLst>
          </p:nvPr>
        </p:nvGraphicFramePr>
        <p:xfrm>
          <a:off x="838201" y="1690688"/>
          <a:ext cx="10515600" cy="4471177"/>
        </p:xfrm>
        <a:graphic>
          <a:graphicData uri="http://schemas.openxmlformats.org/drawingml/2006/table">
            <a:tbl>
              <a:tblPr firstRow="1" bandRow="1">
                <a:tableStyleId>{5C22544A-7EE6-4342-B048-85BDC9FD1C3A}</a:tableStyleId>
              </a:tblPr>
              <a:tblGrid>
                <a:gridCol w="2428981">
                  <a:extLst>
                    <a:ext uri="{9D8B030D-6E8A-4147-A177-3AD203B41FA5}">
                      <a16:colId xmlns:a16="http://schemas.microsoft.com/office/drawing/2014/main" val="4088176703"/>
                    </a:ext>
                  </a:extLst>
                </a:gridCol>
                <a:gridCol w="4581419">
                  <a:extLst>
                    <a:ext uri="{9D8B030D-6E8A-4147-A177-3AD203B41FA5}">
                      <a16:colId xmlns:a16="http://schemas.microsoft.com/office/drawing/2014/main" val="3419394829"/>
                    </a:ext>
                  </a:extLst>
                </a:gridCol>
                <a:gridCol w="3505200">
                  <a:extLst>
                    <a:ext uri="{9D8B030D-6E8A-4147-A177-3AD203B41FA5}">
                      <a16:colId xmlns:a16="http://schemas.microsoft.com/office/drawing/2014/main" val="3924082226"/>
                    </a:ext>
                  </a:extLst>
                </a:gridCol>
              </a:tblGrid>
              <a:tr h="446337">
                <a:tc>
                  <a:txBody>
                    <a:bodyPr/>
                    <a:lstStyle/>
                    <a:p>
                      <a:r>
                        <a:rPr lang="en-US" dirty="0"/>
                        <a:t>Use cases</a:t>
                      </a:r>
                      <a:endParaRPr lang="en-MY" dirty="0"/>
                    </a:p>
                  </a:txBody>
                  <a:tcPr/>
                </a:tc>
                <a:tc>
                  <a:txBody>
                    <a:bodyPr/>
                    <a:lstStyle/>
                    <a:p>
                      <a:r>
                        <a:rPr lang="en-US" dirty="0"/>
                        <a:t>Examples</a:t>
                      </a:r>
                      <a:endParaRPr lang="en-MY" dirty="0"/>
                    </a:p>
                  </a:txBody>
                  <a:tcPr/>
                </a:tc>
                <a:tc>
                  <a:txBody>
                    <a:bodyPr/>
                    <a:lstStyle/>
                    <a:p>
                      <a:r>
                        <a:rPr lang="en-US" dirty="0"/>
                        <a:t>Purpose</a:t>
                      </a:r>
                      <a:endParaRPr lang="en-MY" dirty="0"/>
                    </a:p>
                  </a:txBody>
                  <a:tcPr/>
                </a:tc>
                <a:extLst>
                  <a:ext uri="{0D108BD9-81ED-4DB2-BD59-A6C34878D82A}">
                    <a16:rowId xmlns:a16="http://schemas.microsoft.com/office/drawing/2014/main" val="3742894018"/>
                  </a:ext>
                </a:extLst>
              </a:tr>
              <a:tr h="777610">
                <a:tc>
                  <a:txBody>
                    <a:bodyPr/>
                    <a:lstStyle/>
                    <a:p>
                      <a:r>
                        <a:rPr lang="en-US" dirty="0"/>
                        <a:t>Retail sales</a:t>
                      </a:r>
                      <a:endParaRPr lang="en-MY" dirty="0"/>
                    </a:p>
                  </a:txBody>
                  <a:tcPr/>
                </a:tc>
                <a:tc>
                  <a:txBody>
                    <a:bodyPr/>
                    <a:lstStyle/>
                    <a:p>
                      <a:r>
                        <a:rPr lang="en-US" dirty="0"/>
                        <a:t>See which store locations have very high or very low daily sales compared to others</a:t>
                      </a:r>
                      <a:endParaRPr lang="en-MY" dirty="0"/>
                    </a:p>
                  </a:txBody>
                  <a:tcPr/>
                </a:tc>
                <a:tc>
                  <a:txBody>
                    <a:bodyPr/>
                    <a:lstStyle/>
                    <a:p>
                      <a:r>
                        <a:rPr lang="en-US" dirty="0"/>
                        <a:t>To take necessary preventive measures on store operations</a:t>
                      </a:r>
                      <a:endParaRPr lang="en-MY" dirty="0"/>
                    </a:p>
                  </a:txBody>
                  <a:tcPr/>
                </a:tc>
                <a:extLst>
                  <a:ext uri="{0D108BD9-81ED-4DB2-BD59-A6C34878D82A}">
                    <a16:rowId xmlns:a16="http://schemas.microsoft.com/office/drawing/2014/main" val="2256367825"/>
                  </a:ext>
                </a:extLst>
              </a:tr>
              <a:tr h="777610">
                <a:tc>
                  <a:txBody>
                    <a:bodyPr/>
                    <a:lstStyle/>
                    <a:p>
                      <a:r>
                        <a:rPr lang="en-US" dirty="0"/>
                        <a:t>Customer orders</a:t>
                      </a:r>
                      <a:endParaRPr lang="en-MY" dirty="0"/>
                    </a:p>
                  </a:txBody>
                  <a:tcPr/>
                </a:tc>
                <a:tc>
                  <a:txBody>
                    <a:bodyPr/>
                    <a:lstStyle/>
                    <a:p>
                      <a:r>
                        <a:rPr lang="en-US" dirty="0"/>
                        <a:t>Check the spread of order sizes</a:t>
                      </a:r>
                      <a:endParaRPr lang="en-MY" dirty="0"/>
                    </a:p>
                  </a:txBody>
                  <a:tcPr/>
                </a:tc>
                <a:tc>
                  <a:txBody>
                    <a:bodyPr/>
                    <a:lstStyle/>
                    <a:p>
                      <a:r>
                        <a:rPr lang="en-US" dirty="0"/>
                        <a:t>To find typical purchase amounts and unusually large or small orders</a:t>
                      </a:r>
                      <a:endParaRPr lang="en-MY" dirty="0"/>
                    </a:p>
                  </a:txBody>
                  <a:tcPr/>
                </a:tc>
                <a:extLst>
                  <a:ext uri="{0D108BD9-81ED-4DB2-BD59-A6C34878D82A}">
                    <a16:rowId xmlns:a16="http://schemas.microsoft.com/office/drawing/2014/main" val="2605180492"/>
                  </a:ext>
                </a:extLst>
              </a:tr>
              <a:tr h="777610">
                <a:tc>
                  <a:txBody>
                    <a:bodyPr/>
                    <a:lstStyle/>
                    <a:p>
                      <a:r>
                        <a:rPr lang="en-US" dirty="0"/>
                        <a:t>Delivery times</a:t>
                      </a:r>
                      <a:endParaRPr lang="en-MY" dirty="0"/>
                    </a:p>
                  </a:txBody>
                  <a:tcPr/>
                </a:tc>
                <a:tc>
                  <a:txBody>
                    <a:bodyPr/>
                    <a:lstStyle/>
                    <a:p>
                      <a:r>
                        <a:rPr lang="en-US" dirty="0"/>
                        <a:t>Compare how long deliveries take across different couriers or branches</a:t>
                      </a:r>
                      <a:endParaRPr lang="en-MY" dirty="0"/>
                    </a:p>
                  </a:txBody>
                  <a:tcPr/>
                </a:tc>
                <a:tc>
                  <a:txBody>
                    <a:bodyPr/>
                    <a:lstStyle/>
                    <a:p>
                      <a:r>
                        <a:rPr lang="en-US" dirty="0"/>
                        <a:t>To spot delays or inconsistency</a:t>
                      </a:r>
                      <a:endParaRPr lang="en-MY" dirty="0"/>
                    </a:p>
                  </a:txBody>
                  <a:tcPr/>
                </a:tc>
                <a:extLst>
                  <a:ext uri="{0D108BD9-81ED-4DB2-BD59-A6C34878D82A}">
                    <a16:rowId xmlns:a16="http://schemas.microsoft.com/office/drawing/2014/main" val="640112883"/>
                  </a:ext>
                </a:extLst>
              </a:tr>
              <a:tr h="777610">
                <a:tc>
                  <a:txBody>
                    <a:bodyPr/>
                    <a:lstStyle/>
                    <a:p>
                      <a:r>
                        <a:rPr lang="en-US" dirty="0"/>
                        <a:t>Employee performance</a:t>
                      </a:r>
                      <a:endParaRPr lang="en-MY" dirty="0"/>
                    </a:p>
                  </a:txBody>
                  <a:tcPr/>
                </a:tc>
                <a:tc>
                  <a:txBody>
                    <a:bodyPr/>
                    <a:lstStyle/>
                    <a:p>
                      <a:r>
                        <a:rPr lang="en-US" dirty="0"/>
                        <a:t>Visualize how many tasks employees complete</a:t>
                      </a:r>
                      <a:endParaRPr lang="en-MY" dirty="0"/>
                    </a:p>
                  </a:txBody>
                  <a:tcPr/>
                </a:tc>
                <a:tc>
                  <a:txBody>
                    <a:bodyPr/>
                    <a:lstStyle/>
                    <a:p>
                      <a:r>
                        <a:rPr lang="en-US" dirty="0"/>
                        <a:t>To find the average worker and spot top or struggling performers</a:t>
                      </a:r>
                      <a:endParaRPr lang="en-MY" dirty="0"/>
                    </a:p>
                  </a:txBody>
                  <a:tcPr/>
                </a:tc>
                <a:extLst>
                  <a:ext uri="{0D108BD9-81ED-4DB2-BD59-A6C34878D82A}">
                    <a16:rowId xmlns:a16="http://schemas.microsoft.com/office/drawing/2014/main" val="3412632960"/>
                  </a:ext>
                </a:extLst>
              </a:tr>
              <a:tr h="777610">
                <a:tc>
                  <a:txBody>
                    <a:bodyPr/>
                    <a:lstStyle/>
                    <a:p>
                      <a:r>
                        <a:rPr lang="en-US" dirty="0"/>
                        <a:t>Website response times</a:t>
                      </a:r>
                      <a:endParaRPr lang="en-MY" dirty="0"/>
                    </a:p>
                  </a:txBody>
                  <a:tcPr/>
                </a:tc>
                <a:tc>
                  <a:txBody>
                    <a:bodyPr/>
                    <a:lstStyle/>
                    <a:p>
                      <a:r>
                        <a:rPr lang="en-US" dirty="0"/>
                        <a:t>Track how fast your website loads at different times</a:t>
                      </a:r>
                      <a:endParaRPr lang="en-MY" dirty="0"/>
                    </a:p>
                  </a:txBody>
                  <a:tcPr/>
                </a:tc>
                <a:tc>
                  <a:txBody>
                    <a:bodyPr/>
                    <a:lstStyle/>
                    <a:p>
                      <a:r>
                        <a:rPr lang="en-US" dirty="0"/>
                        <a:t>To identify when the website is the slowest or most stable</a:t>
                      </a:r>
                      <a:endParaRPr lang="en-MY" dirty="0"/>
                    </a:p>
                  </a:txBody>
                  <a:tcPr/>
                </a:tc>
                <a:extLst>
                  <a:ext uri="{0D108BD9-81ED-4DB2-BD59-A6C34878D82A}">
                    <a16:rowId xmlns:a16="http://schemas.microsoft.com/office/drawing/2014/main" val="4073762618"/>
                  </a:ext>
                </a:extLst>
              </a:tr>
            </a:tbl>
          </a:graphicData>
        </a:graphic>
      </p:graphicFrame>
    </p:spTree>
    <p:extLst>
      <p:ext uri="{BB962C8B-B14F-4D97-AF65-F5344CB8AC3E}">
        <p14:creationId xmlns:p14="http://schemas.microsoft.com/office/powerpoint/2010/main" val="36008618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3C203-2B13-D12D-72BC-BCBC7FB6FE77}"/>
              </a:ext>
            </a:extLst>
          </p:cNvPr>
          <p:cNvSpPr>
            <a:spLocks noGrp="1"/>
          </p:cNvSpPr>
          <p:nvPr>
            <p:ph type="title"/>
          </p:nvPr>
        </p:nvSpPr>
        <p:spPr>
          <a:xfrm>
            <a:off x="1674688" y="365125"/>
            <a:ext cx="9679112" cy="1325563"/>
          </a:xfrm>
        </p:spPr>
        <p:txBody>
          <a:bodyPr/>
          <a:lstStyle/>
          <a:p>
            <a:r>
              <a:rPr lang="en-US" dirty="0"/>
              <a:t>DAX Patterns for Box &amp; Whiskers</a:t>
            </a:r>
            <a:endParaRPr lang="en-MY" dirty="0"/>
          </a:p>
        </p:txBody>
      </p:sp>
      <p:sp>
        <p:nvSpPr>
          <p:cNvPr id="4" name="Slide Number Placeholder 3">
            <a:extLst>
              <a:ext uri="{FF2B5EF4-FFF2-40B4-BE49-F238E27FC236}">
                <a16:creationId xmlns:a16="http://schemas.microsoft.com/office/drawing/2014/main" id="{5BC867AD-C0CE-4471-F2D7-AC0CAC07B863}"/>
              </a:ext>
            </a:extLst>
          </p:cNvPr>
          <p:cNvSpPr>
            <a:spLocks noGrp="1"/>
          </p:cNvSpPr>
          <p:nvPr>
            <p:ph type="sldNum" sz="quarter" idx="12"/>
          </p:nvPr>
        </p:nvSpPr>
        <p:spPr/>
        <p:txBody>
          <a:bodyPr/>
          <a:lstStyle/>
          <a:p>
            <a:fld id="{499D393E-937C-43AF-8286-1304B3D101C1}" type="slidenum">
              <a:rPr lang="en-MY" smtClean="0"/>
              <a:t>45</a:t>
            </a:fld>
            <a:endParaRPr lang="en-MY" dirty="0"/>
          </a:p>
        </p:txBody>
      </p:sp>
      <p:sp>
        <p:nvSpPr>
          <p:cNvPr id="5" name="Content Placeholder 5">
            <a:extLst>
              <a:ext uri="{FF2B5EF4-FFF2-40B4-BE49-F238E27FC236}">
                <a16:creationId xmlns:a16="http://schemas.microsoft.com/office/drawing/2014/main" id="{108AE340-316E-BF1C-8F47-852B2D500E8E}"/>
              </a:ext>
            </a:extLst>
          </p:cNvPr>
          <p:cNvSpPr>
            <a:spLocks noGrp="1"/>
          </p:cNvSpPr>
          <p:nvPr>
            <p:ph sz="half" idx="1"/>
          </p:nvPr>
        </p:nvSpPr>
        <p:spPr>
          <a:xfrm>
            <a:off x="838200" y="1825625"/>
            <a:ext cx="2254321" cy="4351338"/>
          </a:xfrm>
          <a:ln>
            <a:solidFill>
              <a:schemeClr val="tx1">
                <a:lumMod val="50000"/>
                <a:lumOff val="50000"/>
              </a:schemeClr>
            </a:solidFill>
          </a:ln>
        </p:spPr>
        <p:txBody>
          <a:bodyPr>
            <a:normAutofit/>
          </a:bodyPr>
          <a:lstStyle/>
          <a:p>
            <a:pPr marL="0" indent="0">
              <a:buNone/>
            </a:pPr>
            <a:r>
              <a:rPr lang="en-US" sz="1800" b="1" u="sng" dirty="0"/>
              <a:t>MINIMUM</a:t>
            </a:r>
          </a:p>
          <a:p>
            <a:pPr marL="0" algn="l" rtl="0" eaLnBrk="1" latinLnBrk="0" hangingPunct="1">
              <a:buNone/>
            </a:pPr>
            <a:r>
              <a:rPr lang="en-US" sz="1400" b="0" i="0" kern="1200" dirty="0">
                <a:solidFill>
                  <a:srgbClr val="000000"/>
                </a:solidFill>
                <a:effectLst/>
                <a:latin typeface="Consolas" panose="020B0609020204030204" pitchFamily="49" charset="0"/>
                <a:ea typeface="+mn-ea"/>
                <a:cs typeface="+mn-cs"/>
              </a:rPr>
              <a:t>Min =</a:t>
            </a:r>
            <a:endParaRPr lang="en-MY" sz="1200" dirty="0">
              <a:effectLst/>
            </a:endParaRPr>
          </a:p>
          <a:p>
            <a:pPr marL="0">
              <a:buNone/>
            </a:pPr>
            <a:r>
              <a:rPr lang="en-US" sz="1400" b="0" i="0" kern="1200" dirty="0">
                <a:solidFill>
                  <a:srgbClr val="0070C0"/>
                </a:solidFill>
                <a:effectLst/>
                <a:latin typeface="Consolas" panose="020B0609020204030204" pitchFamily="49" charset="0"/>
                <a:ea typeface="+mn-ea"/>
                <a:cs typeface="+mn-cs"/>
              </a:rPr>
              <a:t>MIN</a:t>
            </a:r>
            <a:r>
              <a:rPr lang="en-US" sz="1400" b="0" i="0" kern="1200" dirty="0">
                <a:effectLst/>
                <a:latin typeface="Consolas" panose="020B0609020204030204" pitchFamily="49" charset="0"/>
                <a:ea typeface="+mn-ea"/>
                <a:cs typeface="+mn-cs"/>
              </a:rPr>
              <a:t>(</a:t>
            </a:r>
            <a:r>
              <a:rPr lang="en-US" sz="1400" dirty="0">
                <a:latin typeface="Consolas" panose="020B0609020204030204" pitchFamily="49" charset="0"/>
              </a:rPr>
              <a:t>'table'</a:t>
            </a:r>
            <a:r>
              <a:rPr lang="en-US" sz="1400" b="0" i="0" kern="1200" dirty="0">
                <a:effectLst/>
                <a:latin typeface="Consolas" panose="020B0609020204030204" pitchFamily="49" charset="0"/>
                <a:ea typeface="+mn-ea"/>
                <a:cs typeface="+mn-cs"/>
              </a:rPr>
              <a:t>[Column])</a:t>
            </a:r>
          </a:p>
          <a:p>
            <a:pPr marL="0" algn="l" rtl="0" eaLnBrk="1" latinLnBrk="0" hangingPunct="1">
              <a:buNone/>
            </a:pPr>
            <a:endParaRPr lang="en-US" sz="1400" dirty="0">
              <a:latin typeface="Consolas" panose="020B0609020204030204" pitchFamily="49" charset="0"/>
            </a:endParaRPr>
          </a:p>
          <a:p>
            <a:pPr marL="0" indent="0">
              <a:buNone/>
            </a:pPr>
            <a:r>
              <a:rPr lang="en-US" sz="1800" b="1" u="sng" dirty="0"/>
              <a:t>MAXIMUM</a:t>
            </a:r>
          </a:p>
          <a:p>
            <a:pPr marL="0">
              <a:buNone/>
            </a:pPr>
            <a:r>
              <a:rPr lang="en-US" sz="1400" dirty="0">
                <a:solidFill>
                  <a:srgbClr val="000000"/>
                </a:solidFill>
                <a:latin typeface="Consolas" panose="020B0609020204030204" pitchFamily="49" charset="0"/>
              </a:rPr>
              <a:t>Max =</a:t>
            </a:r>
            <a:endParaRPr lang="en-MY" sz="1200" dirty="0">
              <a:latin typeface="Consolas" panose="020B0609020204030204" pitchFamily="49" charset="0"/>
            </a:endParaRPr>
          </a:p>
          <a:p>
            <a:pPr marL="0">
              <a:buNone/>
            </a:pPr>
            <a:r>
              <a:rPr lang="en-US" sz="1400" dirty="0">
                <a:solidFill>
                  <a:srgbClr val="0070C0"/>
                </a:solidFill>
                <a:latin typeface="Consolas" panose="020B0609020204030204" pitchFamily="49" charset="0"/>
              </a:rPr>
              <a:t>MAX</a:t>
            </a:r>
            <a:r>
              <a:rPr lang="en-US" sz="1400" dirty="0">
                <a:latin typeface="Consolas" panose="020B0609020204030204" pitchFamily="49" charset="0"/>
              </a:rPr>
              <a:t>('table'[Column])</a:t>
            </a:r>
          </a:p>
        </p:txBody>
      </p:sp>
      <p:sp>
        <p:nvSpPr>
          <p:cNvPr id="6" name="Content Placeholder 5">
            <a:extLst>
              <a:ext uri="{FF2B5EF4-FFF2-40B4-BE49-F238E27FC236}">
                <a16:creationId xmlns:a16="http://schemas.microsoft.com/office/drawing/2014/main" id="{44BF8BBD-D120-CF32-326A-790182F46FE4}"/>
              </a:ext>
            </a:extLst>
          </p:cNvPr>
          <p:cNvSpPr txBox="1">
            <a:spLocks/>
          </p:cNvSpPr>
          <p:nvPr/>
        </p:nvSpPr>
        <p:spPr>
          <a:xfrm>
            <a:off x="3262901" y="1825625"/>
            <a:ext cx="2254321" cy="4351338"/>
          </a:xfrm>
          <a:prstGeom prst="rect">
            <a:avLst/>
          </a:prstGeom>
          <a:ln>
            <a:solidFill>
              <a:schemeClr val="tx1">
                <a:lumMod val="50000"/>
                <a:lumOff val="50000"/>
              </a:schemeClr>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u="sng" dirty="0"/>
              <a:t>MEDIAN (q2)</a:t>
            </a:r>
          </a:p>
          <a:p>
            <a:pPr marL="0">
              <a:buNone/>
            </a:pPr>
            <a:r>
              <a:rPr lang="en-US" sz="1200" dirty="0">
                <a:solidFill>
                  <a:srgbClr val="000000"/>
                </a:solidFill>
                <a:latin typeface="Consolas" panose="020B0609020204030204" pitchFamily="49" charset="0"/>
              </a:rPr>
              <a:t>Median =</a:t>
            </a:r>
            <a:endParaRPr lang="en-MY" sz="1100" dirty="0"/>
          </a:p>
          <a:p>
            <a:pPr marL="0">
              <a:buNone/>
            </a:pPr>
            <a:r>
              <a:rPr lang="en-US" sz="1200" dirty="0">
                <a:solidFill>
                  <a:srgbClr val="0070C0"/>
                </a:solidFill>
                <a:latin typeface="Consolas" panose="020B0609020204030204" pitchFamily="49" charset="0"/>
              </a:rPr>
              <a:t>MEDIAN</a:t>
            </a:r>
            <a:r>
              <a:rPr lang="en-US" sz="1200" dirty="0">
                <a:latin typeface="Consolas" panose="020B0609020204030204" pitchFamily="49" charset="0"/>
              </a:rPr>
              <a:t>('table'[Column])</a:t>
            </a:r>
          </a:p>
          <a:p>
            <a:pPr marL="0" indent="0">
              <a:buFont typeface="Arial" panose="020B0604020202020204" pitchFamily="34" charset="0"/>
              <a:buNone/>
            </a:pPr>
            <a:endParaRPr lang="en-US" sz="1800" b="1" u="sng" dirty="0"/>
          </a:p>
        </p:txBody>
      </p:sp>
      <p:sp>
        <p:nvSpPr>
          <p:cNvPr id="8" name="Content Placeholder 5">
            <a:extLst>
              <a:ext uri="{FF2B5EF4-FFF2-40B4-BE49-F238E27FC236}">
                <a16:creationId xmlns:a16="http://schemas.microsoft.com/office/drawing/2014/main" id="{DBED922A-A23B-72C1-4FDB-306D17EC9EBD}"/>
              </a:ext>
            </a:extLst>
          </p:cNvPr>
          <p:cNvSpPr txBox="1">
            <a:spLocks/>
          </p:cNvSpPr>
          <p:nvPr/>
        </p:nvSpPr>
        <p:spPr>
          <a:xfrm>
            <a:off x="5687602" y="1825625"/>
            <a:ext cx="2743200" cy="1603375"/>
          </a:xfrm>
          <a:prstGeom prst="rect">
            <a:avLst/>
          </a:prstGeom>
          <a:ln>
            <a:solidFill>
              <a:schemeClr val="tx1">
                <a:lumMod val="50000"/>
                <a:lumOff val="50000"/>
              </a:schemeClr>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900" b="1" u="sng" dirty="0"/>
              <a:t>Quartile 1 (q1)</a:t>
            </a:r>
          </a:p>
          <a:p>
            <a:pPr marL="0">
              <a:lnSpc>
                <a:spcPct val="110000"/>
              </a:lnSpc>
              <a:buNone/>
            </a:pPr>
            <a:r>
              <a:rPr lang="en-US" sz="1100" dirty="0">
                <a:solidFill>
                  <a:srgbClr val="000000"/>
                </a:solidFill>
                <a:latin typeface="Consolas" panose="020B0609020204030204" pitchFamily="49" charset="0"/>
              </a:rPr>
              <a:t>Quartile1 = </a:t>
            </a:r>
            <a:r>
              <a:rPr lang="it-IT" sz="1100" dirty="0">
                <a:solidFill>
                  <a:srgbClr val="0070C0"/>
                </a:solidFill>
                <a:latin typeface="Consolas" panose="020B0609020204030204" pitchFamily="49" charset="0"/>
              </a:rPr>
              <a:t>PERCENTILE.INC</a:t>
            </a:r>
            <a:r>
              <a:rPr lang="en-US" sz="1100" dirty="0">
                <a:solidFill>
                  <a:srgbClr val="000000"/>
                </a:solidFill>
                <a:latin typeface="Consolas" panose="020B0609020204030204" pitchFamily="49" charset="0"/>
              </a:rPr>
              <a:t>(data[Col], 0.25)</a:t>
            </a:r>
          </a:p>
        </p:txBody>
      </p:sp>
      <p:sp>
        <p:nvSpPr>
          <p:cNvPr id="10" name="Content Placeholder 5">
            <a:extLst>
              <a:ext uri="{FF2B5EF4-FFF2-40B4-BE49-F238E27FC236}">
                <a16:creationId xmlns:a16="http://schemas.microsoft.com/office/drawing/2014/main" id="{91672DF0-BA37-FC8C-AB56-09684B9F30D5}"/>
              </a:ext>
            </a:extLst>
          </p:cNvPr>
          <p:cNvSpPr txBox="1">
            <a:spLocks/>
          </p:cNvSpPr>
          <p:nvPr/>
        </p:nvSpPr>
        <p:spPr>
          <a:xfrm>
            <a:off x="8610600" y="1825625"/>
            <a:ext cx="2743200" cy="1603375"/>
          </a:xfrm>
          <a:prstGeom prst="rect">
            <a:avLst/>
          </a:prstGeom>
          <a:ln>
            <a:solidFill>
              <a:schemeClr val="tx1">
                <a:lumMod val="50000"/>
                <a:lumOff val="50000"/>
              </a:schemeClr>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900" b="1" u="sng" dirty="0"/>
              <a:t>Quartile 3 (q3)</a:t>
            </a:r>
          </a:p>
          <a:p>
            <a:pPr marL="0">
              <a:lnSpc>
                <a:spcPct val="110000"/>
              </a:lnSpc>
              <a:buNone/>
            </a:pPr>
            <a:r>
              <a:rPr lang="en-US" sz="1100" dirty="0">
                <a:solidFill>
                  <a:srgbClr val="000000"/>
                </a:solidFill>
                <a:latin typeface="Consolas" panose="020B0609020204030204" pitchFamily="49" charset="0"/>
              </a:rPr>
              <a:t>Quartile3 =</a:t>
            </a:r>
          </a:p>
          <a:p>
            <a:pPr marL="0">
              <a:lnSpc>
                <a:spcPct val="110000"/>
              </a:lnSpc>
              <a:buNone/>
            </a:pPr>
            <a:r>
              <a:rPr lang="it-IT" sz="1100" dirty="0">
                <a:solidFill>
                  <a:srgbClr val="0070C0"/>
                </a:solidFill>
                <a:latin typeface="Consolas" panose="020B0609020204030204" pitchFamily="49" charset="0"/>
              </a:rPr>
              <a:t>PERCENTILE.INC</a:t>
            </a:r>
            <a:r>
              <a:rPr lang="it-IT" sz="1100" dirty="0">
                <a:latin typeface="Consolas" panose="020B0609020204030204" pitchFamily="49" charset="0"/>
              </a:rPr>
              <a:t>(data[Col], 0.75)</a:t>
            </a:r>
          </a:p>
        </p:txBody>
      </p:sp>
      <p:sp>
        <p:nvSpPr>
          <p:cNvPr id="11" name="Rectangle 10">
            <a:extLst>
              <a:ext uri="{FF2B5EF4-FFF2-40B4-BE49-F238E27FC236}">
                <a16:creationId xmlns:a16="http://schemas.microsoft.com/office/drawing/2014/main" id="{763304FF-9B1E-0E3D-2470-9E9FCAA31010}"/>
              </a:ext>
            </a:extLst>
          </p:cNvPr>
          <p:cNvSpPr/>
          <p:nvPr/>
        </p:nvSpPr>
        <p:spPr>
          <a:xfrm>
            <a:off x="7720538" y="2398334"/>
            <a:ext cx="401906" cy="279413"/>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MY"/>
          </a:p>
        </p:txBody>
      </p:sp>
      <p:sp>
        <p:nvSpPr>
          <p:cNvPr id="12" name="Rectangle 11">
            <a:extLst>
              <a:ext uri="{FF2B5EF4-FFF2-40B4-BE49-F238E27FC236}">
                <a16:creationId xmlns:a16="http://schemas.microsoft.com/office/drawing/2014/main" id="{BA2A4787-7622-14E0-745B-1E30C9D462FA}"/>
              </a:ext>
            </a:extLst>
          </p:cNvPr>
          <p:cNvSpPr/>
          <p:nvPr/>
        </p:nvSpPr>
        <p:spPr>
          <a:xfrm>
            <a:off x="10664691" y="2523332"/>
            <a:ext cx="401906" cy="279413"/>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MY"/>
          </a:p>
        </p:txBody>
      </p:sp>
      <p:sp>
        <p:nvSpPr>
          <p:cNvPr id="13" name="TextBox 12">
            <a:extLst>
              <a:ext uri="{FF2B5EF4-FFF2-40B4-BE49-F238E27FC236}">
                <a16:creationId xmlns:a16="http://schemas.microsoft.com/office/drawing/2014/main" id="{2BFEE6AF-B534-E60B-1ABA-CD33C9E6296A}"/>
              </a:ext>
            </a:extLst>
          </p:cNvPr>
          <p:cNvSpPr txBox="1"/>
          <p:nvPr/>
        </p:nvSpPr>
        <p:spPr>
          <a:xfrm>
            <a:off x="5687601" y="3563937"/>
            <a:ext cx="5666199" cy="276999"/>
          </a:xfrm>
          <a:prstGeom prst="rect">
            <a:avLst/>
          </a:prstGeom>
          <a:noFill/>
        </p:spPr>
        <p:txBody>
          <a:bodyPr wrap="square" rtlCol="0">
            <a:spAutoFit/>
          </a:bodyPr>
          <a:lstStyle/>
          <a:p>
            <a:r>
              <a:rPr lang="en-US" sz="1200" b="1" i="1" dirty="0"/>
              <a:t>Quartiles: Note the changes are only the number, either 0.25 or 0.75</a:t>
            </a:r>
            <a:endParaRPr lang="en-MY" sz="1200" b="1" i="1" dirty="0"/>
          </a:p>
        </p:txBody>
      </p:sp>
      <p:pic>
        <p:nvPicPr>
          <p:cNvPr id="14" name="Graphic 13" descr="Traffic cone with solid fill">
            <a:extLst>
              <a:ext uri="{FF2B5EF4-FFF2-40B4-BE49-F238E27FC236}">
                <a16:creationId xmlns:a16="http://schemas.microsoft.com/office/drawing/2014/main" id="{A5FCFF2C-00D2-FC6A-4FE4-2320FB7E985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60288" y="570706"/>
            <a:ext cx="914400" cy="914400"/>
          </a:xfrm>
          <a:prstGeom prst="rect">
            <a:avLst/>
          </a:prstGeom>
        </p:spPr>
      </p:pic>
      <p:cxnSp>
        <p:nvCxnSpPr>
          <p:cNvPr id="15" name="Straight Arrow Connector 14">
            <a:extLst>
              <a:ext uri="{FF2B5EF4-FFF2-40B4-BE49-F238E27FC236}">
                <a16:creationId xmlns:a16="http://schemas.microsoft.com/office/drawing/2014/main" id="{88A61467-F1F1-DD74-6356-1D8BBA632186}"/>
              </a:ext>
            </a:extLst>
          </p:cNvPr>
          <p:cNvCxnSpPr>
            <a:cxnSpLocks/>
            <a:stCxn id="13" idx="0"/>
            <a:endCxn id="11" idx="2"/>
          </p:cNvCxnSpPr>
          <p:nvPr/>
        </p:nvCxnSpPr>
        <p:spPr>
          <a:xfrm flipH="1" flipV="1">
            <a:off x="7921491" y="2677747"/>
            <a:ext cx="599210" cy="886190"/>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09823F10-0F39-1B3D-AECC-73E1F7A43E2F}"/>
              </a:ext>
            </a:extLst>
          </p:cNvPr>
          <p:cNvCxnSpPr>
            <a:cxnSpLocks/>
            <a:stCxn id="13" idx="0"/>
            <a:endCxn id="12" idx="2"/>
          </p:cNvCxnSpPr>
          <p:nvPr/>
        </p:nvCxnSpPr>
        <p:spPr>
          <a:xfrm flipV="1">
            <a:off x="8520701" y="2802745"/>
            <a:ext cx="2344943" cy="761192"/>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8469140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511EB-E53B-84EF-3FA4-122A8F8C9090}"/>
              </a:ext>
            </a:extLst>
          </p:cNvPr>
          <p:cNvSpPr>
            <a:spLocks noGrp="1"/>
          </p:cNvSpPr>
          <p:nvPr>
            <p:ph type="title"/>
          </p:nvPr>
        </p:nvSpPr>
        <p:spPr>
          <a:xfrm>
            <a:off x="1804400" y="365125"/>
            <a:ext cx="9549400" cy="1325563"/>
          </a:xfrm>
        </p:spPr>
        <p:txBody>
          <a:bodyPr>
            <a:noAutofit/>
          </a:bodyPr>
          <a:lstStyle/>
          <a:p>
            <a:r>
              <a:rPr lang="en-MY" sz="3200" dirty="0"/>
              <a:t>LAB 3B: Understanding spread &amp; identifying anomalies in Crude Palm Oil Refinery (Purchases) Dataset</a:t>
            </a:r>
          </a:p>
        </p:txBody>
      </p:sp>
      <p:sp>
        <p:nvSpPr>
          <p:cNvPr id="3" name="Content Placeholder 2">
            <a:extLst>
              <a:ext uri="{FF2B5EF4-FFF2-40B4-BE49-F238E27FC236}">
                <a16:creationId xmlns:a16="http://schemas.microsoft.com/office/drawing/2014/main" id="{308A2314-63A6-FF11-49C7-D00841F3AE71}"/>
              </a:ext>
            </a:extLst>
          </p:cNvPr>
          <p:cNvSpPr>
            <a:spLocks noGrp="1"/>
          </p:cNvSpPr>
          <p:nvPr>
            <p:ph idx="1"/>
          </p:nvPr>
        </p:nvSpPr>
        <p:spPr>
          <a:xfrm>
            <a:off x="838200" y="1825625"/>
            <a:ext cx="6271517" cy="4351338"/>
          </a:xfrm>
        </p:spPr>
        <p:txBody>
          <a:bodyPr>
            <a:noAutofit/>
          </a:bodyPr>
          <a:lstStyle/>
          <a:p>
            <a:pPr marL="0" lvl="0" indent="0">
              <a:lnSpc>
                <a:spcPct val="100000"/>
              </a:lnSpc>
              <a:spcBef>
                <a:spcPts val="600"/>
              </a:spcBef>
              <a:spcAft>
                <a:spcPts val="600"/>
              </a:spcAft>
              <a:buNone/>
            </a:pPr>
            <a:r>
              <a:rPr lang="en-MY" sz="2400" b="1" kern="100" dirty="0">
                <a:effectLst/>
                <a:latin typeface="Aptos" panose="020B0004020202020204" pitchFamily="34" charset="0"/>
                <a:ea typeface="Aptos" panose="020B0004020202020204" pitchFamily="34" charset="0"/>
                <a:cs typeface="Times New Roman" panose="02020603050405020304" pitchFamily="18" charset="0"/>
              </a:rPr>
              <a:t>SETTING UP</a:t>
            </a:r>
          </a:p>
          <a:p>
            <a:pPr>
              <a:lnSpc>
                <a:spcPct val="100000"/>
              </a:lnSpc>
              <a:spcBef>
                <a:spcPts val="600"/>
              </a:spcBef>
              <a:spcAft>
                <a:spcPts val="600"/>
              </a:spcAft>
            </a:pPr>
            <a:r>
              <a:rPr lang="en-MY" sz="1800" kern="100" dirty="0">
                <a:effectLst/>
                <a:latin typeface="Aptos" panose="020B0004020202020204" pitchFamily="34" charset="0"/>
                <a:ea typeface="Aptos" panose="020B0004020202020204" pitchFamily="34" charset="0"/>
                <a:cs typeface="Times New Roman" panose="02020603050405020304" pitchFamily="18" charset="0"/>
              </a:rPr>
              <a:t>We will be exploring</a:t>
            </a:r>
            <a:r>
              <a:rPr lang="en-MY" sz="1800" kern="100" dirty="0">
                <a:latin typeface="Aptos" panose="020B0004020202020204" pitchFamily="34" charset="0"/>
                <a:ea typeface="Aptos" panose="020B0004020202020204" pitchFamily="34" charset="0"/>
                <a:cs typeface="Times New Roman" panose="02020603050405020304" pitchFamily="18" charset="0"/>
              </a:rPr>
              <a:t> the use of native visual (Line &amp; stacked column chart), please turn on </a:t>
            </a:r>
            <a:r>
              <a:rPr lang="en-MY" sz="2000" b="1" kern="100" dirty="0">
                <a:solidFill>
                  <a:schemeClr val="bg2"/>
                </a:solidFill>
                <a:highlight>
                  <a:srgbClr val="008000"/>
                </a:highlight>
                <a:latin typeface="Consolas" panose="020B0609020204030204" pitchFamily="49" charset="0"/>
                <a:ea typeface="Aptos" panose="020B0004020202020204" pitchFamily="34" charset="0"/>
                <a:cs typeface="Times New Roman" panose="02020603050405020304" pitchFamily="18" charset="0"/>
              </a:rPr>
              <a:t>On-object interaction</a:t>
            </a:r>
            <a:r>
              <a:rPr lang="en-MY" sz="1800" kern="100" dirty="0">
                <a:latin typeface="Aptos" panose="020B0004020202020204" pitchFamily="34" charset="0"/>
                <a:ea typeface="Aptos" panose="020B0004020202020204" pitchFamily="34" charset="0"/>
                <a:cs typeface="Times New Roman" panose="02020603050405020304" pitchFamily="18" charset="0"/>
              </a:rPr>
              <a:t> to enable certain features</a:t>
            </a:r>
          </a:p>
          <a:p>
            <a:pPr marL="0" indent="0">
              <a:lnSpc>
                <a:spcPct val="100000"/>
              </a:lnSpc>
              <a:spcBef>
                <a:spcPts val="600"/>
              </a:spcBef>
              <a:spcAft>
                <a:spcPts val="600"/>
              </a:spcAft>
              <a:buNone/>
            </a:pPr>
            <a:r>
              <a:rPr lang="en-MY" sz="2400" b="1" kern="100" dirty="0">
                <a:latin typeface="Aptos" panose="020B0004020202020204" pitchFamily="34" charset="0"/>
                <a:ea typeface="Aptos" panose="020B0004020202020204" pitchFamily="34" charset="0"/>
                <a:cs typeface="Times New Roman" panose="02020603050405020304" pitchFamily="18" charset="0"/>
              </a:rPr>
              <a:t>YOUR TASK</a:t>
            </a:r>
          </a:p>
          <a:p>
            <a:pPr>
              <a:lnSpc>
                <a:spcPct val="100000"/>
              </a:lnSpc>
              <a:spcBef>
                <a:spcPts val="600"/>
              </a:spcBef>
              <a:spcAft>
                <a:spcPts val="600"/>
              </a:spcAft>
            </a:pPr>
            <a:r>
              <a:rPr lang="en-MY" sz="1800" kern="100" dirty="0">
                <a:effectLst/>
                <a:latin typeface="Aptos" panose="020B0004020202020204" pitchFamily="34" charset="0"/>
                <a:ea typeface="Aptos" panose="020B0004020202020204" pitchFamily="34" charset="0"/>
                <a:cs typeface="Times New Roman" panose="02020603050405020304" pitchFamily="18" charset="0"/>
              </a:rPr>
              <a:t>Using slicers, filters, and tooltips to segment and explore patterns</a:t>
            </a:r>
          </a:p>
          <a:p>
            <a:pPr>
              <a:lnSpc>
                <a:spcPct val="100000"/>
              </a:lnSpc>
              <a:spcBef>
                <a:spcPts val="600"/>
              </a:spcBef>
              <a:spcAft>
                <a:spcPts val="600"/>
              </a:spcAft>
            </a:pPr>
            <a:r>
              <a:rPr lang="en-MY" sz="1800" kern="100" dirty="0">
                <a:effectLst/>
                <a:latin typeface="Aptos" panose="020B0004020202020204" pitchFamily="34" charset="0"/>
                <a:ea typeface="Aptos" panose="020B0004020202020204" pitchFamily="34" charset="0"/>
                <a:cs typeface="Times New Roman" panose="02020603050405020304" pitchFamily="18" charset="0"/>
              </a:rPr>
              <a:t>Visual profiling (boxplots, histograms, scatterplots)</a:t>
            </a:r>
          </a:p>
          <a:p>
            <a:pPr>
              <a:lnSpc>
                <a:spcPct val="100000"/>
              </a:lnSpc>
              <a:spcBef>
                <a:spcPts val="600"/>
              </a:spcBef>
              <a:spcAft>
                <a:spcPts val="600"/>
              </a:spcAft>
            </a:pPr>
            <a:r>
              <a:rPr lang="en-MY" sz="1800" kern="100" dirty="0">
                <a:effectLst/>
                <a:latin typeface="Aptos" panose="020B0004020202020204" pitchFamily="34" charset="0"/>
                <a:ea typeface="Aptos" panose="020B0004020202020204" pitchFamily="34" charset="0"/>
                <a:cs typeface="Times New Roman" panose="02020603050405020304" pitchFamily="18" charset="0"/>
              </a:rPr>
              <a:t>Identifying skewness and outliers visually</a:t>
            </a:r>
          </a:p>
          <a:p>
            <a:pPr marL="0" indent="0">
              <a:lnSpc>
                <a:spcPct val="100000"/>
              </a:lnSpc>
              <a:spcBef>
                <a:spcPts val="600"/>
              </a:spcBef>
              <a:spcAft>
                <a:spcPts val="600"/>
              </a:spcAft>
              <a:buNone/>
            </a:pPr>
            <a:r>
              <a:rPr lang="en-MY" sz="1400" kern="100" dirty="0">
                <a:latin typeface="Aptos" panose="020B0004020202020204" pitchFamily="34" charset="0"/>
                <a:ea typeface="Aptos" panose="020B0004020202020204" pitchFamily="34" charset="0"/>
                <a:cs typeface="Times New Roman" panose="02020603050405020304" pitchFamily="18" charset="0"/>
              </a:rPr>
              <a:t>Tips: As this would involve a lot of DAX, it is advisable to create a “DAX folder” to store all your measures. </a:t>
            </a:r>
            <a:r>
              <a:rPr lang="en-MY" sz="1400" kern="100">
                <a:latin typeface="Aptos" panose="020B0004020202020204" pitchFamily="34" charset="0"/>
                <a:ea typeface="Aptos" panose="020B0004020202020204" pitchFamily="34" charset="0"/>
                <a:cs typeface="Times New Roman" panose="02020603050405020304" pitchFamily="18" charset="0"/>
              </a:rPr>
              <a:t>Simply create </a:t>
            </a:r>
            <a:r>
              <a:rPr lang="en-MY" sz="1400" kern="100" dirty="0">
                <a:latin typeface="Aptos" panose="020B0004020202020204" pitchFamily="34" charset="0"/>
                <a:ea typeface="Aptos" panose="020B0004020202020204" pitchFamily="34" charset="0"/>
                <a:cs typeface="Times New Roman" panose="02020603050405020304" pitchFamily="18" charset="0"/>
              </a:rPr>
              <a:t>an empty table (from Enter Data), and call it “</a:t>
            </a:r>
            <a:r>
              <a:rPr lang="en-MY" sz="1400" kern="100" dirty="0" err="1">
                <a:latin typeface="Aptos" panose="020B0004020202020204" pitchFamily="34" charset="0"/>
                <a:ea typeface="Aptos" panose="020B0004020202020204" pitchFamily="34" charset="0"/>
                <a:cs typeface="Times New Roman" panose="02020603050405020304" pitchFamily="18" charset="0"/>
              </a:rPr>
              <a:t>MyMeasures</a:t>
            </a:r>
            <a:r>
              <a:rPr lang="en-MY" sz="1400" kern="100" dirty="0">
                <a:latin typeface="Aptos" panose="020B0004020202020204" pitchFamily="34" charset="0"/>
                <a:ea typeface="Aptos" panose="020B0004020202020204" pitchFamily="34" charset="0"/>
                <a:cs typeface="Times New Roman" panose="02020603050405020304" pitchFamily="18" charset="0"/>
              </a:rPr>
              <a:t>”</a:t>
            </a:r>
            <a:endParaRPr lang="en-MY"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0000"/>
              </a:lnSpc>
              <a:spcBef>
                <a:spcPts val="600"/>
              </a:spcBef>
              <a:spcAft>
                <a:spcPts val="600"/>
              </a:spcAft>
            </a:pPr>
            <a:endParaRPr lang="en-MY"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5A65197-6EFB-E301-24DC-98D401465C88}"/>
              </a:ext>
            </a:extLst>
          </p:cNvPr>
          <p:cNvSpPr>
            <a:spLocks noGrp="1"/>
          </p:cNvSpPr>
          <p:nvPr>
            <p:ph type="sldNum" sz="quarter" idx="12"/>
          </p:nvPr>
        </p:nvSpPr>
        <p:spPr/>
        <p:txBody>
          <a:bodyPr/>
          <a:lstStyle/>
          <a:p>
            <a:fld id="{499D393E-937C-43AF-8286-1304B3D101C1}" type="slidenum">
              <a:rPr lang="en-MY" smtClean="0"/>
              <a:t>46</a:t>
            </a:fld>
            <a:endParaRPr lang="en-MY"/>
          </a:p>
        </p:txBody>
      </p:sp>
      <p:pic>
        <p:nvPicPr>
          <p:cNvPr id="6" name="Picture 5">
            <a:extLst>
              <a:ext uri="{FF2B5EF4-FFF2-40B4-BE49-F238E27FC236}">
                <a16:creationId xmlns:a16="http://schemas.microsoft.com/office/drawing/2014/main" id="{CE8D3DF0-0F11-E2EB-8119-443318D3FAFE}"/>
              </a:ext>
            </a:extLst>
          </p:cNvPr>
          <p:cNvPicPr>
            <a:picLocks noChangeAspect="1"/>
          </p:cNvPicPr>
          <p:nvPr/>
        </p:nvPicPr>
        <p:blipFill>
          <a:blip r:embed="rId2"/>
          <a:srcRect r="20744"/>
          <a:stretch>
            <a:fillRect/>
          </a:stretch>
        </p:blipFill>
        <p:spPr>
          <a:xfrm>
            <a:off x="7325474" y="2218706"/>
            <a:ext cx="4028326" cy="2420588"/>
          </a:xfrm>
          <a:prstGeom prst="rect">
            <a:avLst/>
          </a:prstGeom>
          <a:ln>
            <a:solidFill>
              <a:schemeClr val="tx1"/>
            </a:solidFill>
          </a:ln>
        </p:spPr>
      </p:pic>
      <p:cxnSp>
        <p:nvCxnSpPr>
          <p:cNvPr id="8" name="Straight Arrow Connector 7">
            <a:extLst>
              <a:ext uri="{FF2B5EF4-FFF2-40B4-BE49-F238E27FC236}">
                <a16:creationId xmlns:a16="http://schemas.microsoft.com/office/drawing/2014/main" id="{21262275-3766-57D4-097F-40BF8175E090}"/>
              </a:ext>
            </a:extLst>
          </p:cNvPr>
          <p:cNvCxnSpPr>
            <a:cxnSpLocks/>
          </p:cNvCxnSpPr>
          <p:nvPr/>
        </p:nvCxnSpPr>
        <p:spPr>
          <a:xfrm>
            <a:off x="5187950" y="3289300"/>
            <a:ext cx="2065605" cy="9847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3" name="Graphic 12" descr="Warning with solid fill">
            <a:extLst>
              <a:ext uri="{FF2B5EF4-FFF2-40B4-BE49-F238E27FC236}">
                <a16:creationId xmlns:a16="http://schemas.microsoft.com/office/drawing/2014/main" id="{7D83CEFC-A2C0-5061-AA6F-B5B60536DA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9999" y="542034"/>
            <a:ext cx="914400" cy="914400"/>
          </a:xfrm>
          <a:prstGeom prst="rect">
            <a:avLst/>
          </a:prstGeom>
        </p:spPr>
      </p:pic>
      <p:sp>
        <p:nvSpPr>
          <p:cNvPr id="15" name="TextBox 14">
            <a:extLst>
              <a:ext uri="{FF2B5EF4-FFF2-40B4-BE49-F238E27FC236}">
                <a16:creationId xmlns:a16="http://schemas.microsoft.com/office/drawing/2014/main" id="{DD7FA741-417B-FA6B-D68B-3AF1522CBD7F}"/>
              </a:ext>
            </a:extLst>
          </p:cNvPr>
          <p:cNvSpPr txBox="1"/>
          <p:nvPr/>
        </p:nvSpPr>
        <p:spPr>
          <a:xfrm>
            <a:off x="838200" y="6202461"/>
            <a:ext cx="10515600" cy="276999"/>
          </a:xfrm>
          <a:prstGeom prst="rect">
            <a:avLst/>
          </a:prstGeom>
          <a:noFill/>
        </p:spPr>
        <p:txBody>
          <a:bodyPr wrap="square" rtlCol="0">
            <a:spAutoFit/>
          </a:bodyPr>
          <a:lstStyle/>
          <a:p>
            <a:r>
              <a:rPr lang="en-US" sz="1200" i="1" dirty="0"/>
              <a:t>Boxplot tutorial: </a:t>
            </a:r>
            <a:r>
              <a:rPr lang="en-US" sz="1200" i="1" dirty="0">
                <a:hlinkClick r:id="rId4"/>
              </a:rPr>
              <a:t>https://www.youtube.com/watch?v=u6JVQKj5ijU&amp;t=653s&amp;ab_channel=HowtoPowerBI</a:t>
            </a:r>
            <a:endParaRPr lang="en-MY" sz="1200" i="1" dirty="0"/>
          </a:p>
        </p:txBody>
      </p:sp>
    </p:spTree>
    <p:extLst>
      <p:ext uri="{BB962C8B-B14F-4D97-AF65-F5344CB8AC3E}">
        <p14:creationId xmlns:p14="http://schemas.microsoft.com/office/powerpoint/2010/main" val="21471933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0D4A0E27-E75C-64D3-F4CC-CDF07148AF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5E6A2E-F180-BBE0-867A-73C1265B8962}"/>
              </a:ext>
            </a:extLst>
          </p:cNvPr>
          <p:cNvSpPr>
            <a:spLocks noGrp="1"/>
          </p:cNvSpPr>
          <p:nvPr>
            <p:ph type="title"/>
          </p:nvPr>
        </p:nvSpPr>
        <p:spPr>
          <a:xfrm>
            <a:off x="1804400" y="365125"/>
            <a:ext cx="8038243" cy="1325563"/>
          </a:xfrm>
        </p:spPr>
        <p:txBody>
          <a:bodyPr>
            <a:noAutofit/>
          </a:bodyPr>
          <a:lstStyle/>
          <a:p>
            <a:r>
              <a:rPr lang="en-MY" dirty="0"/>
              <a:t>LAB 3B: Creating boxplot in Power BI (1/7 – Set up)</a:t>
            </a:r>
          </a:p>
        </p:txBody>
      </p:sp>
      <p:sp>
        <p:nvSpPr>
          <p:cNvPr id="3" name="Content Placeholder 2">
            <a:extLst>
              <a:ext uri="{FF2B5EF4-FFF2-40B4-BE49-F238E27FC236}">
                <a16:creationId xmlns:a16="http://schemas.microsoft.com/office/drawing/2014/main" id="{D0EC3847-07C1-744A-11BE-C295567AE8DC}"/>
              </a:ext>
            </a:extLst>
          </p:cNvPr>
          <p:cNvSpPr>
            <a:spLocks noGrp="1"/>
          </p:cNvSpPr>
          <p:nvPr>
            <p:ph idx="1"/>
          </p:nvPr>
        </p:nvSpPr>
        <p:spPr>
          <a:xfrm>
            <a:off x="838200" y="1825625"/>
            <a:ext cx="10515600" cy="4351338"/>
          </a:xfrm>
        </p:spPr>
        <p:txBody>
          <a:bodyPr>
            <a:noAutofit/>
          </a:bodyPr>
          <a:lstStyle/>
          <a:p>
            <a:pPr marL="342900" lvl="0" indent="-342900">
              <a:lnSpc>
                <a:spcPct val="100000"/>
              </a:lnSpc>
              <a:spcBef>
                <a:spcPts val="600"/>
              </a:spcBef>
              <a:spcAft>
                <a:spcPts val="600"/>
              </a:spcAft>
              <a:buAutoNum type="arabicPeriod"/>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Create Min, Max, First Quartile, Median, Third Quartile, Mean</a:t>
            </a:r>
          </a:p>
          <a:p>
            <a:pPr marL="342900" lvl="0" indent="-342900">
              <a:lnSpc>
                <a:spcPct val="100000"/>
              </a:lnSpc>
              <a:spcBef>
                <a:spcPts val="600"/>
              </a:spcBef>
              <a:spcAft>
                <a:spcPts val="600"/>
              </a:spcAft>
              <a:buAutoNum type="arabicPeriod"/>
            </a:pPr>
            <a:r>
              <a:rPr lang="en-US" sz="1800" kern="100" dirty="0">
                <a:latin typeface="Aptos" panose="020B0004020202020204" pitchFamily="34" charset="0"/>
                <a:ea typeface="Aptos" panose="020B0004020202020204" pitchFamily="34" charset="0"/>
                <a:cs typeface="Times New Roman" panose="02020603050405020304" pitchFamily="18" charset="0"/>
              </a:rPr>
              <a:t>Add line &amp; stacked column chart into the canvas</a:t>
            </a:r>
          </a:p>
          <a:p>
            <a:pPr marL="342900" lvl="0" indent="-342900">
              <a:lnSpc>
                <a:spcPct val="100000"/>
              </a:lnSpc>
              <a:spcBef>
                <a:spcPts val="600"/>
              </a:spcBef>
              <a:spcAft>
                <a:spcPts val="600"/>
              </a:spcAft>
              <a:buAutoNum type="arabicPeriod"/>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Add </a:t>
            </a:r>
            <a:r>
              <a:rPr lang="en-US" sz="1800" kern="100" dirty="0">
                <a:effectLst/>
                <a:latin typeface="Consolas" panose="020B0609020204030204" pitchFamily="49" charset="0"/>
                <a:ea typeface="Aptos" panose="020B0004020202020204" pitchFamily="34" charset="0"/>
                <a:cs typeface="Times New Roman" panose="02020603050405020304" pitchFamily="18" charset="0"/>
              </a:rPr>
              <a:t>[</a:t>
            </a:r>
            <a:r>
              <a:rPr lang="en-US" sz="1800" kern="100" dirty="0">
                <a:solidFill>
                  <a:srgbClr val="002060"/>
                </a:solidFill>
                <a:effectLst/>
                <a:latin typeface="Consolas" panose="020B0609020204030204" pitchFamily="49" charset="0"/>
                <a:ea typeface="Aptos" panose="020B0004020202020204" pitchFamily="34" charset="0"/>
                <a:cs typeface="Times New Roman" panose="02020603050405020304" pitchFamily="18" charset="0"/>
              </a:rPr>
              <a:t>median</a:t>
            </a:r>
            <a:r>
              <a:rPr lang="en-US" sz="1800" kern="100" dirty="0">
                <a:effectLst/>
                <a:latin typeface="Consolas" panose="020B0609020204030204" pitchFamily="49" charset="0"/>
                <a:ea typeface="Aptos" panose="020B0004020202020204" pitchFamily="34" charset="0"/>
                <a:cs typeface="Times New Roman" panose="02020603050405020304" pitchFamily="18" charset="0"/>
              </a:rPr>
              <a:t>]</a:t>
            </a:r>
            <a:r>
              <a:rPr lang="en-US" sz="1600" kern="100" dirty="0">
                <a:effectLst/>
                <a:latin typeface="+mj-lt"/>
                <a:ea typeface="Aptos" panose="020B0004020202020204" pitchFamily="34" charset="0"/>
                <a:cs typeface="Times New Roman" panose="02020603050405020304" pitchFamily="18" charset="0"/>
              </a:rPr>
              <a:t>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into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Line y-axis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and </a:t>
            </a:r>
            <a:r>
              <a:rPr lang="en-US" sz="1800" kern="100" dirty="0">
                <a:effectLst/>
                <a:latin typeface="Consolas" panose="020B0609020204030204" pitchFamily="49" charset="0"/>
                <a:ea typeface="Aptos" panose="020B0004020202020204" pitchFamily="34" charset="0"/>
                <a:cs typeface="Times New Roman" panose="02020603050405020304" pitchFamily="18" charset="0"/>
              </a:rPr>
              <a:t>Plant[Region],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into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X-axis</a:t>
            </a:r>
          </a:p>
          <a:p>
            <a:pPr marL="342900" lvl="0" indent="-342900">
              <a:lnSpc>
                <a:spcPct val="100000"/>
              </a:lnSpc>
              <a:spcBef>
                <a:spcPts val="600"/>
              </a:spcBef>
              <a:spcAft>
                <a:spcPts val="600"/>
              </a:spcAft>
              <a:buAutoNum type="arabicPeriod"/>
            </a:pPr>
            <a:r>
              <a:rPr lang="en-US" sz="1800" kern="100" dirty="0">
                <a:latin typeface="Aptos" panose="020B0004020202020204" pitchFamily="34" charset="0"/>
                <a:ea typeface="Aptos" panose="020B0004020202020204" pitchFamily="34" charset="0"/>
                <a:cs typeface="Times New Roman" panose="02020603050405020304" pitchFamily="18" charset="0"/>
              </a:rPr>
              <a:t>Add markers, edit markers to show a dash, increase pixel width of the markers</a:t>
            </a:r>
          </a:p>
          <a:p>
            <a:pPr marL="342900" lvl="0" indent="-342900">
              <a:lnSpc>
                <a:spcPct val="100000"/>
              </a:lnSpc>
              <a:spcBef>
                <a:spcPts val="600"/>
              </a:spcBef>
              <a:spcAft>
                <a:spcPts val="600"/>
              </a:spcAft>
              <a:buAutoNum type="arabicPeriod"/>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Disable the connecting lines of the line chart by turning off </a:t>
            </a:r>
            <a:r>
              <a:rPr lang="en-US" sz="1800" kern="100" dirty="0">
                <a:solidFill>
                  <a:schemeClr val="bg1"/>
                </a:solidFill>
                <a:effectLst/>
                <a:highlight>
                  <a:srgbClr val="008000"/>
                </a:highlight>
                <a:latin typeface="Consolas" panose="020B0609020204030204" pitchFamily="49" charset="0"/>
                <a:ea typeface="Aptos" panose="020B0004020202020204" pitchFamily="34" charset="0"/>
                <a:cs typeface="Times New Roman" panose="02020603050405020304" pitchFamily="18" charset="0"/>
              </a:rPr>
              <a:t>Show for all series</a:t>
            </a:r>
          </a:p>
          <a:p>
            <a:pPr marL="342900" lvl="0" indent="-342900">
              <a:lnSpc>
                <a:spcPct val="100000"/>
              </a:lnSpc>
              <a:spcBef>
                <a:spcPts val="600"/>
              </a:spcBef>
              <a:spcAft>
                <a:spcPts val="600"/>
              </a:spcAft>
              <a:buAutoNum type="arabicPeriod"/>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Set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Y-axis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and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Secondary y-axis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minimum value to 0</a:t>
            </a:r>
          </a:p>
          <a:p>
            <a:pPr marL="342900" lvl="0" indent="-342900">
              <a:lnSpc>
                <a:spcPct val="100000"/>
              </a:lnSpc>
              <a:spcBef>
                <a:spcPts val="600"/>
              </a:spcBef>
              <a:spcAft>
                <a:spcPts val="600"/>
              </a:spcAft>
              <a:buAutoNum type="arabicPeriod"/>
            </a:pPr>
            <a:r>
              <a:rPr lang="en-US" sz="1800" kern="100" dirty="0">
                <a:latin typeface="Aptos" panose="020B0004020202020204" pitchFamily="34" charset="0"/>
                <a:ea typeface="Aptos" panose="020B0004020202020204" pitchFamily="34" charset="0"/>
                <a:cs typeface="Times New Roman" panose="02020603050405020304" pitchFamily="18" charset="0"/>
              </a:rPr>
              <a:t>Start adding </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1800" kern="100" dirty="0">
                <a:solidFill>
                  <a:srgbClr val="002060"/>
                </a:solidFill>
                <a:latin typeface="Consolas" panose="020B0609020204030204" pitchFamily="49" charset="0"/>
                <a:ea typeface="Aptos" panose="020B0004020202020204" pitchFamily="34" charset="0"/>
                <a:cs typeface="Times New Roman" panose="02020603050405020304" pitchFamily="18" charset="0"/>
              </a:rPr>
              <a:t>max</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1800" kern="100" dirty="0">
                <a:latin typeface="Aptos" panose="020B0004020202020204" pitchFamily="34" charset="0"/>
                <a:ea typeface="Aptos" panose="020B0004020202020204" pitchFamily="34" charset="0"/>
                <a:cs typeface="Times New Roman" panose="02020603050405020304" pitchFamily="18" charset="0"/>
              </a:rPr>
              <a:t> and </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1800" kern="100" dirty="0">
                <a:solidFill>
                  <a:srgbClr val="002060"/>
                </a:solidFill>
                <a:latin typeface="Consolas" panose="020B0609020204030204" pitchFamily="49" charset="0"/>
                <a:ea typeface="Aptos" panose="020B0004020202020204" pitchFamily="34" charset="0"/>
                <a:cs typeface="Times New Roman" panose="02020603050405020304" pitchFamily="18" charset="0"/>
              </a:rPr>
              <a:t>min</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1800" kern="100" dirty="0">
                <a:latin typeface="Aptos" panose="020B0004020202020204" pitchFamily="34" charset="0"/>
                <a:ea typeface="Aptos" panose="020B0004020202020204" pitchFamily="34" charset="0"/>
                <a:cs typeface="Times New Roman" panose="02020603050405020304" pitchFamily="18" charset="0"/>
              </a:rPr>
              <a:t> into </a:t>
            </a:r>
            <a:r>
              <a:rPr lang="en-US" sz="1800" b="1" kern="100" dirty="0">
                <a:latin typeface="Aptos" panose="020B0004020202020204" pitchFamily="34" charset="0"/>
                <a:ea typeface="Aptos" panose="020B0004020202020204" pitchFamily="34" charset="0"/>
                <a:cs typeface="Times New Roman" panose="02020603050405020304" pitchFamily="18" charset="0"/>
              </a:rPr>
              <a:t>Line y-axis</a:t>
            </a:r>
          </a:p>
          <a:p>
            <a:pPr marL="342900" lvl="0" indent="-342900">
              <a:lnSpc>
                <a:spcPct val="100000"/>
              </a:lnSpc>
              <a:spcBef>
                <a:spcPts val="600"/>
              </a:spcBef>
              <a:spcAft>
                <a:spcPts val="600"/>
              </a:spcAft>
              <a:buAutoNum type="arabicPeriod"/>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Remove titles in all axes (for secondary y-axis, you may need to toggle title off/on to remove it)</a:t>
            </a:r>
          </a:p>
          <a:p>
            <a:pPr marL="342900" lvl="0" indent="-342900">
              <a:lnSpc>
                <a:spcPct val="100000"/>
              </a:lnSpc>
              <a:spcBef>
                <a:spcPts val="600"/>
              </a:spcBef>
              <a:spcAft>
                <a:spcPts val="600"/>
              </a:spcAft>
              <a:buAutoNum type="arabicPeriod"/>
            </a:pPr>
            <a:r>
              <a:rPr lang="en-US" sz="1800" kern="100" dirty="0">
                <a:latin typeface="Aptos" panose="020B0004020202020204" pitchFamily="34" charset="0"/>
                <a:ea typeface="Aptos" panose="020B0004020202020204" pitchFamily="34" charset="0"/>
                <a:cs typeface="Times New Roman" panose="02020603050405020304" pitchFamily="18" charset="0"/>
              </a:rPr>
              <a:t>Change the marker for </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1800" kern="100" dirty="0">
                <a:solidFill>
                  <a:srgbClr val="002060"/>
                </a:solidFill>
                <a:latin typeface="Consolas" panose="020B0609020204030204" pitchFamily="49" charset="0"/>
                <a:ea typeface="Aptos" panose="020B0004020202020204" pitchFamily="34" charset="0"/>
                <a:cs typeface="Times New Roman" panose="02020603050405020304" pitchFamily="18" charset="0"/>
              </a:rPr>
              <a:t>median</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1800" kern="100" dirty="0">
                <a:latin typeface="Aptos" panose="020B0004020202020204" pitchFamily="34" charset="0"/>
                <a:ea typeface="Aptos" panose="020B0004020202020204" pitchFamily="34" charset="0"/>
                <a:cs typeface="Times New Roman" panose="02020603050405020304" pitchFamily="18" charset="0"/>
              </a:rPr>
              <a:t> to a different shape (e.g.: diamond), reduce pixel size</a:t>
            </a:r>
          </a:p>
        </p:txBody>
      </p:sp>
      <p:sp>
        <p:nvSpPr>
          <p:cNvPr id="4" name="Slide Number Placeholder 3">
            <a:extLst>
              <a:ext uri="{FF2B5EF4-FFF2-40B4-BE49-F238E27FC236}">
                <a16:creationId xmlns:a16="http://schemas.microsoft.com/office/drawing/2014/main" id="{F3CD4E83-BE69-2DF4-55D8-97276EE3E3AF}"/>
              </a:ext>
            </a:extLst>
          </p:cNvPr>
          <p:cNvSpPr>
            <a:spLocks noGrp="1"/>
          </p:cNvSpPr>
          <p:nvPr>
            <p:ph type="sldNum" sz="quarter" idx="12"/>
          </p:nvPr>
        </p:nvSpPr>
        <p:spPr/>
        <p:txBody>
          <a:bodyPr/>
          <a:lstStyle/>
          <a:p>
            <a:fld id="{499D393E-937C-43AF-8286-1304B3D101C1}" type="slidenum">
              <a:rPr lang="en-MY" smtClean="0"/>
              <a:t>47</a:t>
            </a:fld>
            <a:endParaRPr lang="en-MY"/>
          </a:p>
        </p:txBody>
      </p:sp>
      <p:sp>
        <p:nvSpPr>
          <p:cNvPr id="14" name="TextBox 13">
            <a:extLst>
              <a:ext uri="{FF2B5EF4-FFF2-40B4-BE49-F238E27FC236}">
                <a16:creationId xmlns:a16="http://schemas.microsoft.com/office/drawing/2014/main" id="{AA1C9917-F711-404D-2ABF-7FCD99901DFE}"/>
              </a:ext>
            </a:extLst>
          </p:cNvPr>
          <p:cNvSpPr txBox="1"/>
          <p:nvPr/>
        </p:nvSpPr>
        <p:spPr>
          <a:xfrm>
            <a:off x="838200" y="6202461"/>
            <a:ext cx="10515600" cy="307777"/>
          </a:xfrm>
          <a:prstGeom prst="rect">
            <a:avLst/>
          </a:prstGeom>
          <a:noFill/>
        </p:spPr>
        <p:txBody>
          <a:bodyPr wrap="square" rtlCol="0">
            <a:spAutoFit/>
          </a:bodyPr>
          <a:lstStyle/>
          <a:p>
            <a:r>
              <a:rPr lang="en-US" sz="1400" i="1" dirty="0"/>
              <a:t>Boxplot tutorial: </a:t>
            </a:r>
            <a:r>
              <a:rPr lang="en-US" sz="1400" i="1" dirty="0">
                <a:hlinkClick r:id="rId2"/>
              </a:rPr>
              <a:t>https://www.youtube.com/watch?v=u6JVQKj5ijU&amp;t=653s&amp;ab_channel=HowtoPowerBI</a:t>
            </a:r>
            <a:endParaRPr lang="en-MY" sz="1400" i="1" dirty="0"/>
          </a:p>
        </p:txBody>
      </p:sp>
      <p:pic>
        <p:nvPicPr>
          <p:cNvPr id="5" name="Graphic 4" descr="Traffic cone with solid fill">
            <a:extLst>
              <a:ext uri="{FF2B5EF4-FFF2-40B4-BE49-F238E27FC236}">
                <a16:creationId xmlns:a16="http://schemas.microsoft.com/office/drawing/2014/main" id="{6786D60C-E406-AA5B-B5B8-90145E1740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0288" y="570706"/>
            <a:ext cx="914400" cy="914400"/>
          </a:xfrm>
          <a:prstGeom prst="rect">
            <a:avLst/>
          </a:prstGeom>
        </p:spPr>
      </p:pic>
      <p:pic>
        <p:nvPicPr>
          <p:cNvPr id="7" name="Picture 6">
            <a:extLst>
              <a:ext uri="{FF2B5EF4-FFF2-40B4-BE49-F238E27FC236}">
                <a16:creationId xmlns:a16="http://schemas.microsoft.com/office/drawing/2014/main" id="{9D8ADD6D-94D3-E585-480D-F0C53CD52095}"/>
              </a:ext>
            </a:extLst>
          </p:cNvPr>
          <p:cNvPicPr>
            <a:picLocks noChangeAspect="1"/>
          </p:cNvPicPr>
          <p:nvPr/>
        </p:nvPicPr>
        <p:blipFill>
          <a:blip r:embed="rId4"/>
          <a:srcRect l="10726" t="2102" r="13903" b="-2102"/>
          <a:stretch>
            <a:fillRect/>
          </a:stretch>
        </p:blipFill>
        <p:spPr>
          <a:xfrm>
            <a:off x="9982200" y="365125"/>
            <a:ext cx="1371600" cy="1213202"/>
          </a:xfrm>
          <a:prstGeom prst="rect">
            <a:avLst/>
          </a:prstGeom>
        </p:spPr>
      </p:pic>
    </p:spTree>
    <p:extLst>
      <p:ext uri="{BB962C8B-B14F-4D97-AF65-F5344CB8AC3E}">
        <p14:creationId xmlns:p14="http://schemas.microsoft.com/office/powerpoint/2010/main" val="8377633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C4C7925E-E217-497F-F211-D6E3BEBABE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3E8B76-C7D6-617F-EBFB-21DB930C9880}"/>
              </a:ext>
            </a:extLst>
          </p:cNvPr>
          <p:cNvSpPr>
            <a:spLocks noGrp="1"/>
          </p:cNvSpPr>
          <p:nvPr>
            <p:ph type="title"/>
          </p:nvPr>
        </p:nvSpPr>
        <p:spPr>
          <a:xfrm>
            <a:off x="1804400" y="365125"/>
            <a:ext cx="8223178" cy="1325563"/>
          </a:xfrm>
        </p:spPr>
        <p:txBody>
          <a:bodyPr>
            <a:noAutofit/>
          </a:bodyPr>
          <a:lstStyle/>
          <a:p>
            <a:r>
              <a:rPr lang="en-MY" sz="4000" dirty="0"/>
              <a:t>LAB 3B: Creating boxplot in Power BI</a:t>
            </a:r>
            <a:br>
              <a:rPr lang="en-MY" sz="4000" dirty="0"/>
            </a:br>
            <a:r>
              <a:rPr lang="en-MY" sz="4000" dirty="0"/>
              <a:t>(2/7 – Including error bars for whiskers)</a:t>
            </a:r>
          </a:p>
        </p:txBody>
      </p:sp>
      <p:sp>
        <p:nvSpPr>
          <p:cNvPr id="3" name="Content Placeholder 2">
            <a:extLst>
              <a:ext uri="{FF2B5EF4-FFF2-40B4-BE49-F238E27FC236}">
                <a16:creationId xmlns:a16="http://schemas.microsoft.com/office/drawing/2014/main" id="{AAC85056-08D5-560D-674F-912A6E4E9305}"/>
              </a:ext>
            </a:extLst>
          </p:cNvPr>
          <p:cNvSpPr>
            <a:spLocks noGrp="1"/>
          </p:cNvSpPr>
          <p:nvPr>
            <p:ph idx="1"/>
          </p:nvPr>
        </p:nvSpPr>
        <p:spPr>
          <a:xfrm>
            <a:off x="838200" y="1825625"/>
            <a:ext cx="10515600" cy="4351338"/>
          </a:xfrm>
        </p:spPr>
        <p:txBody>
          <a:bodyPr>
            <a:noAutofit/>
          </a:bodyPr>
          <a:lstStyle/>
          <a:p>
            <a:pPr marL="457200" indent="-457200">
              <a:lnSpc>
                <a:spcPct val="100000"/>
              </a:lnSpc>
              <a:spcBef>
                <a:spcPts val="600"/>
              </a:spcBef>
              <a:spcAft>
                <a:spcPts val="600"/>
              </a:spcAft>
              <a:buFont typeface="+mj-lt"/>
              <a:buAutoNum type="arabicPeriod" startAt="11"/>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Enable “Error bars”,  and select </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1800" kern="100" dirty="0">
                <a:solidFill>
                  <a:srgbClr val="002060"/>
                </a:solidFill>
                <a:latin typeface="Consolas" panose="020B0609020204030204" pitchFamily="49" charset="0"/>
                <a:ea typeface="Aptos" panose="020B0004020202020204" pitchFamily="34" charset="0"/>
                <a:cs typeface="Times New Roman" panose="02020603050405020304" pitchFamily="18" charset="0"/>
              </a:rPr>
              <a:t>max</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2000" kern="100" dirty="0">
                <a:latin typeface="Aptos" panose="020B0004020202020204" pitchFamily="34" charset="0"/>
                <a:ea typeface="Aptos" panose="020B0004020202020204" pitchFamily="34" charset="0"/>
                <a:cs typeface="Times New Roman" panose="02020603050405020304" pitchFamily="18" charset="0"/>
              </a:rPr>
              <a:t> for “Upper bound”, and </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1800" kern="100" dirty="0">
                <a:solidFill>
                  <a:srgbClr val="002060"/>
                </a:solidFill>
                <a:latin typeface="Consolas" panose="020B0609020204030204" pitchFamily="49" charset="0"/>
                <a:ea typeface="Aptos" panose="020B0004020202020204" pitchFamily="34" charset="0"/>
                <a:cs typeface="Times New Roman" panose="02020603050405020304" pitchFamily="18" charset="0"/>
              </a:rPr>
              <a:t>min</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2000" kern="100" dirty="0">
                <a:latin typeface="Aptos" panose="020B0004020202020204" pitchFamily="34" charset="0"/>
                <a:ea typeface="Aptos" panose="020B0004020202020204" pitchFamily="34" charset="0"/>
                <a:cs typeface="Times New Roman" panose="02020603050405020304" pitchFamily="18" charset="0"/>
              </a:rPr>
              <a:t> for “Lower bound”</a:t>
            </a:r>
          </a:p>
          <a:p>
            <a:pPr marL="457200" indent="-457200">
              <a:lnSpc>
                <a:spcPct val="100000"/>
              </a:lnSpc>
              <a:spcBef>
                <a:spcPts val="600"/>
              </a:spcBef>
              <a:spcAft>
                <a:spcPts val="600"/>
              </a:spcAft>
              <a:buFont typeface="+mj-lt"/>
              <a:buAutoNum type="arabicPeriod" startAt="11"/>
            </a:pPr>
            <a:r>
              <a:rPr lang="en-US" sz="2000" kern="100" dirty="0">
                <a:latin typeface="Aptos" panose="020B0004020202020204" pitchFamily="34" charset="0"/>
                <a:ea typeface="Aptos" panose="020B0004020202020204" pitchFamily="34" charset="0"/>
                <a:cs typeface="Times New Roman" panose="02020603050405020304" pitchFamily="18" charset="0"/>
              </a:rPr>
              <a:t>Ensure “Bar” is turned on to view the vertical lines</a:t>
            </a:r>
          </a:p>
        </p:txBody>
      </p:sp>
      <p:sp>
        <p:nvSpPr>
          <p:cNvPr id="4" name="Slide Number Placeholder 3">
            <a:extLst>
              <a:ext uri="{FF2B5EF4-FFF2-40B4-BE49-F238E27FC236}">
                <a16:creationId xmlns:a16="http://schemas.microsoft.com/office/drawing/2014/main" id="{8E9B06AC-E5B5-1B3F-0CA3-D887C05BAC01}"/>
              </a:ext>
            </a:extLst>
          </p:cNvPr>
          <p:cNvSpPr>
            <a:spLocks noGrp="1"/>
          </p:cNvSpPr>
          <p:nvPr>
            <p:ph type="sldNum" sz="quarter" idx="12"/>
          </p:nvPr>
        </p:nvSpPr>
        <p:spPr/>
        <p:txBody>
          <a:bodyPr/>
          <a:lstStyle/>
          <a:p>
            <a:fld id="{499D393E-937C-43AF-8286-1304B3D101C1}" type="slidenum">
              <a:rPr lang="en-MY" smtClean="0"/>
              <a:t>48</a:t>
            </a:fld>
            <a:endParaRPr lang="en-MY"/>
          </a:p>
        </p:txBody>
      </p:sp>
      <p:sp>
        <p:nvSpPr>
          <p:cNvPr id="14" name="TextBox 13">
            <a:extLst>
              <a:ext uri="{FF2B5EF4-FFF2-40B4-BE49-F238E27FC236}">
                <a16:creationId xmlns:a16="http://schemas.microsoft.com/office/drawing/2014/main" id="{9EDC3CB6-82C8-CB70-D030-DA5D82FDF1A0}"/>
              </a:ext>
            </a:extLst>
          </p:cNvPr>
          <p:cNvSpPr txBox="1"/>
          <p:nvPr/>
        </p:nvSpPr>
        <p:spPr>
          <a:xfrm>
            <a:off x="838200" y="6202461"/>
            <a:ext cx="10515600" cy="307777"/>
          </a:xfrm>
          <a:prstGeom prst="rect">
            <a:avLst/>
          </a:prstGeom>
          <a:noFill/>
        </p:spPr>
        <p:txBody>
          <a:bodyPr wrap="square" rtlCol="0">
            <a:spAutoFit/>
          </a:bodyPr>
          <a:lstStyle/>
          <a:p>
            <a:r>
              <a:rPr lang="en-US" sz="1400" i="1" dirty="0"/>
              <a:t>Boxplot tutorial: </a:t>
            </a:r>
            <a:r>
              <a:rPr lang="en-US" sz="1400" i="1" dirty="0">
                <a:hlinkClick r:id="rId2"/>
              </a:rPr>
              <a:t>https://www.youtube.com/watch?v=u6JVQKj5ijU&amp;t=653s&amp;ab_channel=HowtoPowerBI</a:t>
            </a:r>
            <a:endParaRPr lang="en-MY" sz="1400" i="1" dirty="0"/>
          </a:p>
        </p:txBody>
      </p:sp>
      <p:pic>
        <p:nvPicPr>
          <p:cNvPr id="5" name="Picture 4">
            <a:extLst>
              <a:ext uri="{FF2B5EF4-FFF2-40B4-BE49-F238E27FC236}">
                <a16:creationId xmlns:a16="http://schemas.microsoft.com/office/drawing/2014/main" id="{12BC2C57-B1C6-F561-ADCA-74DAAB723564}"/>
              </a:ext>
            </a:extLst>
          </p:cNvPr>
          <p:cNvPicPr>
            <a:picLocks noChangeAspect="1"/>
          </p:cNvPicPr>
          <p:nvPr/>
        </p:nvPicPr>
        <p:blipFill>
          <a:blip r:embed="rId3"/>
          <a:srcRect l="10726" t="2102" r="13903" b="-2102"/>
          <a:stretch>
            <a:fillRect/>
          </a:stretch>
        </p:blipFill>
        <p:spPr>
          <a:xfrm>
            <a:off x="9982200" y="365125"/>
            <a:ext cx="1371600" cy="1213202"/>
          </a:xfrm>
          <a:prstGeom prst="rect">
            <a:avLst/>
          </a:prstGeom>
        </p:spPr>
      </p:pic>
      <p:pic>
        <p:nvPicPr>
          <p:cNvPr id="6" name="Graphic 5" descr="Traffic cone with solid fill">
            <a:extLst>
              <a:ext uri="{FF2B5EF4-FFF2-40B4-BE49-F238E27FC236}">
                <a16:creationId xmlns:a16="http://schemas.microsoft.com/office/drawing/2014/main" id="{F9463981-4D79-6F2E-45E5-AD4BF5B497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0288" y="570706"/>
            <a:ext cx="914400" cy="914400"/>
          </a:xfrm>
          <a:prstGeom prst="rect">
            <a:avLst/>
          </a:prstGeom>
        </p:spPr>
      </p:pic>
    </p:spTree>
    <p:extLst>
      <p:ext uri="{BB962C8B-B14F-4D97-AF65-F5344CB8AC3E}">
        <p14:creationId xmlns:p14="http://schemas.microsoft.com/office/powerpoint/2010/main" val="27990521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3647E3E6-C9D3-1502-A428-92C8B0DBF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FA4C4D-D799-42E5-226F-861DCDD06D1C}"/>
              </a:ext>
            </a:extLst>
          </p:cNvPr>
          <p:cNvSpPr>
            <a:spLocks noGrp="1"/>
          </p:cNvSpPr>
          <p:nvPr>
            <p:ph type="title"/>
          </p:nvPr>
        </p:nvSpPr>
        <p:spPr>
          <a:xfrm>
            <a:off x="1804400" y="365125"/>
            <a:ext cx="8223178" cy="1325563"/>
          </a:xfrm>
        </p:spPr>
        <p:txBody>
          <a:bodyPr>
            <a:noAutofit/>
          </a:bodyPr>
          <a:lstStyle/>
          <a:p>
            <a:r>
              <a:rPr lang="en-MY" sz="4000" dirty="0"/>
              <a:t>LAB 3B: Creating boxplot in Power BI</a:t>
            </a:r>
            <a:br>
              <a:rPr lang="en-MY" sz="4000" dirty="0"/>
            </a:br>
            <a:r>
              <a:rPr lang="en-MY" sz="4000" dirty="0"/>
              <a:t>(3/7 – Stacking columns)</a:t>
            </a:r>
          </a:p>
        </p:txBody>
      </p:sp>
      <p:sp>
        <p:nvSpPr>
          <p:cNvPr id="3" name="Content Placeholder 2">
            <a:extLst>
              <a:ext uri="{FF2B5EF4-FFF2-40B4-BE49-F238E27FC236}">
                <a16:creationId xmlns:a16="http://schemas.microsoft.com/office/drawing/2014/main" id="{9C9E1625-DC11-3E3D-0D4A-06D498B7E00B}"/>
              </a:ext>
            </a:extLst>
          </p:cNvPr>
          <p:cNvSpPr>
            <a:spLocks noGrp="1"/>
          </p:cNvSpPr>
          <p:nvPr>
            <p:ph idx="1"/>
          </p:nvPr>
        </p:nvSpPr>
        <p:spPr>
          <a:xfrm>
            <a:off x="838200" y="1825625"/>
            <a:ext cx="10515600" cy="4351338"/>
          </a:xfrm>
        </p:spPr>
        <p:txBody>
          <a:bodyPr>
            <a:noAutofit/>
          </a:bodyPr>
          <a:lstStyle/>
          <a:p>
            <a:pPr marL="457200" indent="-457200">
              <a:lnSpc>
                <a:spcPct val="100000"/>
              </a:lnSpc>
              <a:spcBef>
                <a:spcPts val="600"/>
              </a:spcBef>
              <a:spcAft>
                <a:spcPts val="600"/>
              </a:spcAft>
              <a:buFont typeface="+mj-lt"/>
              <a:buAutoNum type="arabicPeriod" startAt="13"/>
            </a:pPr>
            <a:r>
              <a:rPr lang="en-US" sz="2000" kern="100" dirty="0">
                <a:latin typeface="Aptos" panose="020B0004020202020204" pitchFamily="34" charset="0"/>
                <a:ea typeface="Aptos" panose="020B0004020202020204" pitchFamily="34" charset="0"/>
                <a:cs typeface="Times New Roman" panose="02020603050405020304" pitchFamily="18" charset="0"/>
              </a:rPr>
              <a:t>Create </a:t>
            </a:r>
            <a:r>
              <a:rPr lang="en-US" sz="2000" kern="100" dirty="0">
                <a:latin typeface="Consolas" panose="020B0609020204030204" pitchFamily="49" charset="0"/>
                <a:ea typeface="Aptos" panose="020B0004020202020204" pitchFamily="34" charset="0"/>
                <a:cs typeface="Times New Roman" panose="02020603050405020304" pitchFamily="18" charset="0"/>
              </a:rPr>
              <a:t>[</a:t>
            </a:r>
            <a:r>
              <a:rPr lang="en-US" sz="2000" kern="100" dirty="0" err="1">
                <a:solidFill>
                  <a:srgbClr val="002060"/>
                </a:solidFill>
                <a:latin typeface="Consolas" panose="020B0609020204030204" pitchFamily="49" charset="0"/>
                <a:ea typeface="Aptos" panose="020B0004020202020204" pitchFamily="34" charset="0"/>
                <a:cs typeface="Times New Roman" panose="02020603050405020304" pitchFamily="18" charset="0"/>
              </a:rPr>
              <a:t>iqr</a:t>
            </a:r>
            <a:r>
              <a:rPr lang="en-US" sz="2000" kern="100" dirty="0">
                <a:latin typeface="Consolas" panose="020B0609020204030204" pitchFamily="49" charset="0"/>
                <a:ea typeface="Aptos" panose="020B0004020202020204" pitchFamily="34" charset="0"/>
                <a:cs typeface="Times New Roman" panose="02020603050405020304" pitchFamily="18" charset="0"/>
              </a:rPr>
              <a:t>]</a:t>
            </a:r>
            <a:r>
              <a:rPr lang="en-US" sz="2000" kern="100" dirty="0">
                <a:latin typeface="+mj-lt"/>
                <a:ea typeface="Aptos" panose="020B0004020202020204" pitchFamily="34" charset="0"/>
                <a:cs typeface="Times New Roman" panose="02020603050405020304" pitchFamily="18" charset="0"/>
              </a:rPr>
              <a:t> measure</a:t>
            </a:r>
          </a:p>
          <a:p>
            <a:pPr marL="457200" lvl="1" indent="0">
              <a:lnSpc>
                <a:spcPct val="100000"/>
              </a:lnSpc>
              <a:spcBef>
                <a:spcPts val="600"/>
              </a:spcBef>
              <a:spcAft>
                <a:spcPts val="600"/>
              </a:spcAft>
              <a:buNone/>
            </a:pP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1800" kern="100" dirty="0" err="1">
                <a:latin typeface="Consolas" panose="020B0609020204030204" pitchFamily="49" charset="0"/>
                <a:ea typeface="Aptos" panose="020B0004020202020204" pitchFamily="34" charset="0"/>
                <a:cs typeface="Times New Roman" panose="02020603050405020304" pitchFamily="18" charset="0"/>
              </a:rPr>
              <a:t>iqr</a:t>
            </a:r>
            <a:r>
              <a:rPr lang="en-US" sz="1800" kern="100" dirty="0">
                <a:latin typeface="Consolas" panose="020B0609020204030204" pitchFamily="49" charset="0"/>
                <a:ea typeface="Aptos" panose="020B0004020202020204" pitchFamily="34" charset="0"/>
                <a:cs typeface="Times New Roman" panose="02020603050405020304" pitchFamily="18" charset="0"/>
              </a:rPr>
              <a:t>] = [</a:t>
            </a:r>
            <a:r>
              <a:rPr lang="en-US" sz="1800" kern="100" dirty="0">
                <a:solidFill>
                  <a:srgbClr val="002060"/>
                </a:solidFill>
                <a:latin typeface="Consolas" panose="020B0609020204030204" pitchFamily="49" charset="0"/>
                <a:ea typeface="Aptos" panose="020B0004020202020204" pitchFamily="34" charset="0"/>
                <a:cs typeface="Times New Roman" panose="02020603050405020304" pitchFamily="18" charset="0"/>
              </a:rPr>
              <a:t>quartile3</a:t>
            </a:r>
            <a:r>
              <a:rPr lang="en-US" sz="1800" kern="100" dirty="0">
                <a:latin typeface="Consolas" panose="020B0609020204030204" pitchFamily="49" charset="0"/>
                <a:ea typeface="Aptos" panose="020B0004020202020204" pitchFamily="34" charset="0"/>
                <a:cs typeface="Times New Roman" panose="02020603050405020304" pitchFamily="18" charset="0"/>
              </a:rPr>
              <a:t>] - [</a:t>
            </a:r>
            <a:r>
              <a:rPr lang="en-US" sz="1800" kern="100" dirty="0">
                <a:solidFill>
                  <a:srgbClr val="002060"/>
                </a:solidFill>
                <a:latin typeface="Consolas" panose="020B0609020204030204" pitchFamily="49" charset="0"/>
                <a:ea typeface="Aptos" panose="020B0004020202020204" pitchFamily="34" charset="0"/>
                <a:cs typeface="Times New Roman" panose="02020603050405020304" pitchFamily="18" charset="0"/>
              </a:rPr>
              <a:t>quartile1</a:t>
            </a:r>
            <a:r>
              <a:rPr lang="en-US" sz="1800" kern="100" dirty="0">
                <a:latin typeface="Consolas" panose="020B0609020204030204" pitchFamily="49" charset="0"/>
                <a:ea typeface="Aptos" panose="020B0004020202020204" pitchFamily="34" charset="0"/>
                <a:cs typeface="Times New Roman" panose="02020603050405020304" pitchFamily="18" charset="0"/>
              </a:rPr>
              <a:t>]</a:t>
            </a:r>
          </a:p>
          <a:p>
            <a:pPr marL="457200" indent="-457200">
              <a:lnSpc>
                <a:spcPct val="100000"/>
              </a:lnSpc>
              <a:spcBef>
                <a:spcPts val="600"/>
              </a:spcBef>
              <a:spcAft>
                <a:spcPts val="600"/>
              </a:spcAft>
              <a:buFont typeface="+mj-lt"/>
              <a:buAutoNum type="arabicPeriod" startAt="13"/>
            </a:pPr>
            <a:r>
              <a:rPr lang="en-US" sz="2000" kern="100" dirty="0">
                <a:latin typeface="Aptos" panose="020B0004020202020204" pitchFamily="34" charset="0"/>
                <a:ea typeface="Aptos" panose="020B0004020202020204" pitchFamily="34" charset="0"/>
                <a:cs typeface="Times New Roman" panose="02020603050405020304" pitchFamily="18" charset="0"/>
              </a:rPr>
              <a:t>Drag the </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1800" kern="100" dirty="0">
                <a:solidFill>
                  <a:srgbClr val="002060"/>
                </a:solidFill>
                <a:latin typeface="Consolas" panose="020B0609020204030204" pitchFamily="49" charset="0"/>
                <a:ea typeface="Aptos" panose="020B0004020202020204" pitchFamily="34" charset="0"/>
                <a:cs typeface="Times New Roman" panose="02020603050405020304" pitchFamily="18" charset="0"/>
              </a:rPr>
              <a:t>quartile1</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2000" kern="100" dirty="0">
                <a:latin typeface="Aptos" panose="020B0004020202020204" pitchFamily="34" charset="0"/>
                <a:ea typeface="Aptos" panose="020B0004020202020204" pitchFamily="34" charset="0"/>
                <a:cs typeface="Times New Roman" panose="02020603050405020304" pitchFamily="18" charset="0"/>
              </a:rPr>
              <a:t> measure into Column y-axis, and </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1800" kern="100" dirty="0" err="1">
                <a:solidFill>
                  <a:srgbClr val="002060"/>
                </a:solidFill>
                <a:latin typeface="Consolas" panose="020B0609020204030204" pitchFamily="49" charset="0"/>
                <a:ea typeface="Aptos" panose="020B0004020202020204" pitchFamily="34" charset="0"/>
                <a:cs typeface="Times New Roman" panose="02020603050405020304" pitchFamily="18" charset="0"/>
              </a:rPr>
              <a:t>iqr</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2000" kern="100" dirty="0">
                <a:latin typeface="Aptos" panose="020B0004020202020204" pitchFamily="34" charset="0"/>
                <a:ea typeface="Aptos" panose="020B0004020202020204" pitchFamily="34" charset="0"/>
                <a:cs typeface="Times New Roman" panose="02020603050405020304" pitchFamily="18" charset="0"/>
              </a:rPr>
              <a:t> above it (stacked)</a:t>
            </a:r>
          </a:p>
          <a:p>
            <a:pPr marL="457200" indent="-457200">
              <a:lnSpc>
                <a:spcPct val="100000"/>
              </a:lnSpc>
              <a:spcBef>
                <a:spcPts val="600"/>
              </a:spcBef>
              <a:spcAft>
                <a:spcPts val="600"/>
              </a:spcAft>
              <a:buFont typeface="+mj-lt"/>
              <a:buAutoNum type="arabicPeriod" startAt="13"/>
            </a:pPr>
            <a:r>
              <a:rPr lang="en-US" sz="2000" kern="100" dirty="0">
                <a:latin typeface="Aptos" panose="020B0004020202020204" pitchFamily="34" charset="0"/>
                <a:ea typeface="Aptos" panose="020B0004020202020204" pitchFamily="34" charset="0"/>
                <a:cs typeface="Times New Roman" panose="02020603050405020304" pitchFamily="18" charset="0"/>
              </a:rPr>
              <a:t>Under Columns &gt; Color, select </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1800" kern="100" dirty="0">
                <a:solidFill>
                  <a:srgbClr val="002060"/>
                </a:solidFill>
                <a:latin typeface="Consolas" panose="020B0609020204030204" pitchFamily="49" charset="0"/>
                <a:ea typeface="Aptos" panose="020B0004020202020204" pitchFamily="34" charset="0"/>
                <a:cs typeface="Times New Roman" panose="02020603050405020304" pitchFamily="18" charset="0"/>
              </a:rPr>
              <a:t>quartile1</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2000" kern="100" dirty="0">
                <a:latin typeface="Aptos" panose="020B0004020202020204" pitchFamily="34" charset="0"/>
                <a:ea typeface="Aptos" panose="020B0004020202020204" pitchFamily="34" charset="0"/>
                <a:cs typeface="Times New Roman" panose="02020603050405020304" pitchFamily="18" charset="0"/>
              </a:rPr>
              <a:t> and turn the column color white, and the </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1800" kern="100" dirty="0" err="1">
                <a:solidFill>
                  <a:srgbClr val="002060"/>
                </a:solidFill>
                <a:latin typeface="Consolas" panose="020B0609020204030204" pitchFamily="49" charset="0"/>
                <a:ea typeface="Aptos" panose="020B0004020202020204" pitchFamily="34" charset="0"/>
                <a:cs typeface="Times New Roman" panose="02020603050405020304" pitchFamily="18" charset="0"/>
              </a:rPr>
              <a:t>iqr</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2000" kern="100" dirty="0">
                <a:latin typeface="Aptos" panose="020B0004020202020204" pitchFamily="34" charset="0"/>
                <a:ea typeface="Aptos" panose="020B0004020202020204" pitchFamily="34" charset="0"/>
                <a:cs typeface="Times New Roman" panose="02020603050405020304" pitchFamily="18" charset="0"/>
              </a:rPr>
              <a:t> color to a lighter grey</a:t>
            </a:r>
          </a:p>
          <a:p>
            <a:pPr marL="457200" indent="-457200">
              <a:lnSpc>
                <a:spcPct val="100000"/>
              </a:lnSpc>
              <a:spcBef>
                <a:spcPts val="600"/>
              </a:spcBef>
              <a:spcAft>
                <a:spcPts val="600"/>
              </a:spcAft>
              <a:buFont typeface="+mj-lt"/>
              <a:buAutoNum type="arabicPeriod" startAt="13"/>
            </a:pPr>
            <a:endParaRPr lang="en-MY" sz="2000"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997266-4103-63D2-71A5-B440B08ADDEF}"/>
              </a:ext>
            </a:extLst>
          </p:cNvPr>
          <p:cNvSpPr>
            <a:spLocks noGrp="1"/>
          </p:cNvSpPr>
          <p:nvPr>
            <p:ph type="sldNum" sz="quarter" idx="12"/>
          </p:nvPr>
        </p:nvSpPr>
        <p:spPr/>
        <p:txBody>
          <a:bodyPr/>
          <a:lstStyle/>
          <a:p>
            <a:fld id="{499D393E-937C-43AF-8286-1304B3D101C1}" type="slidenum">
              <a:rPr lang="en-MY" smtClean="0"/>
              <a:t>49</a:t>
            </a:fld>
            <a:endParaRPr lang="en-MY"/>
          </a:p>
        </p:txBody>
      </p:sp>
      <p:sp>
        <p:nvSpPr>
          <p:cNvPr id="14" name="TextBox 13">
            <a:extLst>
              <a:ext uri="{FF2B5EF4-FFF2-40B4-BE49-F238E27FC236}">
                <a16:creationId xmlns:a16="http://schemas.microsoft.com/office/drawing/2014/main" id="{474D8D08-60C1-6C48-24B8-E05CA2482869}"/>
              </a:ext>
            </a:extLst>
          </p:cNvPr>
          <p:cNvSpPr txBox="1"/>
          <p:nvPr/>
        </p:nvSpPr>
        <p:spPr>
          <a:xfrm>
            <a:off x="838200" y="6202461"/>
            <a:ext cx="10515600" cy="307777"/>
          </a:xfrm>
          <a:prstGeom prst="rect">
            <a:avLst/>
          </a:prstGeom>
          <a:noFill/>
        </p:spPr>
        <p:txBody>
          <a:bodyPr wrap="square" rtlCol="0">
            <a:spAutoFit/>
          </a:bodyPr>
          <a:lstStyle/>
          <a:p>
            <a:r>
              <a:rPr lang="en-US" sz="1400" i="1" dirty="0"/>
              <a:t>Boxplot tutorial: </a:t>
            </a:r>
            <a:r>
              <a:rPr lang="en-US" sz="1400" i="1" dirty="0">
                <a:hlinkClick r:id="rId2"/>
              </a:rPr>
              <a:t>https://www.youtube.com/watch?v=u6JVQKj5ijU&amp;t=653s&amp;ab_channel=HowtoPowerBI</a:t>
            </a:r>
            <a:endParaRPr lang="en-MY" sz="1400" i="1" dirty="0"/>
          </a:p>
        </p:txBody>
      </p:sp>
      <p:pic>
        <p:nvPicPr>
          <p:cNvPr id="5" name="Picture 4">
            <a:extLst>
              <a:ext uri="{FF2B5EF4-FFF2-40B4-BE49-F238E27FC236}">
                <a16:creationId xmlns:a16="http://schemas.microsoft.com/office/drawing/2014/main" id="{B58852BA-7090-6243-1A93-D87EC14CB293}"/>
              </a:ext>
            </a:extLst>
          </p:cNvPr>
          <p:cNvPicPr>
            <a:picLocks noChangeAspect="1"/>
          </p:cNvPicPr>
          <p:nvPr/>
        </p:nvPicPr>
        <p:blipFill>
          <a:blip r:embed="rId3"/>
          <a:srcRect l="10726" t="2102" r="13903" b="-2102"/>
          <a:stretch>
            <a:fillRect/>
          </a:stretch>
        </p:blipFill>
        <p:spPr>
          <a:xfrm>
            <a:off x="9982200" y="365125"/>
            <a:ext cx="1371600" cy="1213202"/>
          </a:xfrm>
          <a:prstGeom prst="rect">
            <a:avLst/>
          </a:prstGeom>
        </p:spPr>
      </p:pic>
      <p:pic>
        <p:nvPicPr>
          <p:cNvPr id="6" name="Graphic 5" descr="Traffic cone with solid fill">
            <a:extLst>
              <a:ext uri="{FF2B5EF4-FFF2-40B4-BE49-F238E27FC236}">
                <a16:creationId xmlns:a16="http://schemas.microsoft.com/office/drawing/2014/main" id="{2D581754-EAE6-38AE-1250-8FD81FA272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0288" y="570706"/>
            <a:ext cx="914400" cy="914400"/>
          </a:xfrm>
          <a:prstGeom prst="rect">
            <a:avLst/>
          </a:prstGeom>
        </p:spPr>
      </p:pic>
      <p:sp>
        <p:nvSpPr>
          <p:cNvPr id="7" name="Speech Bubble: Oval 6">
            <a:extLst>
              <a:ext uri="{FF2B5EF4-FFF2-40B4-BE49-F238E27FC236}">
                <a16:creationId xmlns:a16="http://schemas.microsoft.com/office/drawing/2014/main" id="{A6BA9C5D-0D3E-14DE-65FB-A5D0085C06B7}"/>
              </a:ext>
            </a:extLst>
          </p:cNvPr>
          <p:cNvSpPr/>
          <p:nvPr/>
        </p:nvSpPr>
        <p:spPr>
          <a:xfrm>
            <a:off x="9435138" y="1384567"/>
            <a:ext cx="952462" cy="695298"/>
          </a:xfrm>
          <a:prstGeom prst="wedgeEllipseCallout">
            <a:avLst>
              <a:gd name="adj1" fmla="val 49622"/>
              <a:gd name="adj2" fmla="val -687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Almost there!</a:t>
            </a:r>
            <a:endParaRPr lang="en-MY" sz="1200" dirty="0"/>
          </a:p>
        </p:txBody>
      </p:sp>
    </p:spTree>
    <p:extLst>
      <p:ext uri="{BB962C8B-B14F-4D97-AF65-F5344CB8AC3E}">
        <p14:creationId xmlns:p14="http://schemas.microsoft.com/office/powerpoint/2010/main" val="36329314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26E95D1C-C01E-C273-B0AD-4ABFB33B18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7DBACE-C8C2-A048-2DF1-2E8E4186D93F}"/>
              </a:ext>
            </a:extLst>
          </p:cNvPr>
          <p:cNvSpPr>
            <a:spLocks noGrp="1"/>
          </p:cNvSpPr>
          <p:nvPr>
            <p:ph type="title"/>
          </p:nvPr>
        </p:nvSpPr>
        <p:spPr>
          <a:xfrm>
            <a:off x="1804400" y="365125"/>
            <a:ext cx="8223178" cy="1325563"/>
          </a:xfrm>
        </p:spPr>
        <p:txBody>
          <a:bodyPr>
            <a:noAutofit/>
          </a:bodyPr>
          <a:lstStyle/>
          <a:p>
            <a:r>
              <a:rPr lang="en-MY" sz="4000" dirty="0"/>
              <a:t>LAB 3B: Creating boxplot in Power BI</a:t>
            </a:r>
            <a:br>
              <a:rPr lang="en-MY" sz="4000" dirty="0"/>
            </a:br>
            <a:r>
              <a:rPr lang="en-MY" sz="4000" dirty="0"/>
              <a:t>(4/7 – Rename legends)</a:t>
            </a:r>
          </a:p>
        </p:txBody>
      </p:sp>
      <p:sp>
        <p:nvSpPr>
          <p:cNvPr id="3" name="Content Placeholder 2">
            <a:extLst>
              <a:ext uri="{FF2B5EF4-FFF2-40B4-BE49-F238E27FC236}">
                <a16:creationId xmlns:a16="http://schemas.microsoft.com/office/drawing/2014/main" id="{E49BB232-1581-D369-68CF-2083D4056C67}"/>
              </a:ext>
            </a:extLst>
          </p:cNvPr>
          <p:cNvSpPr>
            <a:spLocks noGrp="1"/>
          </p:cNvSpPr>
          <p:nvPr>
            <p:ph idx="1"/>
          </p:nvPr>
        </p:nvSpPr>
        <p:spPr>
          <a:xfrm>
            <a:off x="838200" y="1825625"/>
            <a:ext cx="10515600" cy="4351338"/>
          </a:xfrm>
        </p:spPr>
        <p:txBody>
          <a:bodyPr>
            <a:noAutofit/>
          </a:bodyPr>
          <a:lstStyle/>
          <a:p>
            <a:pPr marL="457200" indent="-457200">
              <a:lnSpc>
                <a:spcPct val="100000"/>
              </a:lnSpc>
              <a:spcBef>
                <a:spcPts val="600"/>
              </a:spcBef>
              <a:spcAft>
                <a:spcPts val="600"/>
              </a:spcAft>
              <a:buFont typeface="+mj-lt"/>
              <a:buAutoNum type="arabicPeriod" startAt="16"/>
            </a:pPr>
            <a:r>
              <a:rPr lang="en-US" sz="2000" kern="100" dirty="0">
                <a:latin typeface="Aptos" panose="020B0004020202020204" pitchFamily="34" charset="0"/>
                <a:ea typeface="Aptos" panose="020B0004020202020204" pitchFamily="34" charset="0"/>
                <a:cs typeface="Times New Roman" panose="02020603050405020304" pitchFamily="18" charset="0"/>
              </a:rPr>
              <a:t>Hide the </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1800" kern="100" dirty="0">
                <a:solidFill>
                  <a:srgbClr val="002060"/>
                </a:solidFill>
                <a:latin typeface="Consolas" panose="020B0609020204030204" pitchFamily="49" charset="0"/>
                <a:ea typeface="Aptos" panose="020B0004020202020204" pitchFamily="34" charset="0"/>
                <a:cs typeface="Times New Roman" panose="02020603050405020304" pitchFamily="18" charset="0"/>
              </a:rPr>
              <a:t>quartile1</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2000" kern="100" dirty="0">
                <a:latin typeface="Aptos" panose="020B0004020202020204" pitchFamily="34" charset="0"/>
                <a:ea typeface="Aptos" panose="020B0004020202020204" pitchFamily="34" charset="0"/>
                <a:cs typeface="Times New Roman" panose="02020603050405020304" pitchFamily="18" charset="0"/>
              </a:rPr>
              <a:t> legend by renaming the field to a space</a:t>
            </a:r>
          </a:p>
          <a:p>
            <a:pPr marL="457200" indent="-457200">
              <a:lnSpc>
                <a:spcPct val="100000"/>
              </a:lnSpc>
              <a:spcBef>
                <a:spcPts val="600"/>
              </a:spcBef>
              <a:spcAft>
                <a:spcPts val="600"/>
              </a:spcAft>
              <a:buFont typeface="+mj-lt"/>
              <a:buAutoNum type="arabicPeriod" startAt="16"/>
            </a:pPr>
            <a:endParaRPr lang="en-US" sz="2000" kern="100" dirty="0">
              <a:latin typeface="Aptos" panose="020B0004020202020204" pitchFamily="34" charset="0"/>
              <a:ea typeface="Aptos" panose="020B0004020202020204" pitchFamily="34" charset="0"/>
              <a:cs typeface="Times New Roman" panose="02020603050405020304" pitchFamily="18" charset="0"/>
            </a:endParaRPr>
          </a:p>
          <a:p>
            <a:pPr marL="457200" indent="-457200">
              <a:lnSpc>
                <a:spcPct val="100000"/>
              </a:lnSpc>
              <a:spcBef>
                <a:spcPts val="600"/>
              </a:spcBef>
              <a:spcAft>
                <a:spcPts val="600"/>
              </a:spcAft>
              <a:buFont typeface="+mj-lt"/>
              <a:buAutoNum type="arabicPeriod" startAt="16"/>
            </a:pPr>
            <a:endParaRPr lang="en-MY" sz="2000"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DB1CB8F-F734-B9FC-53F6-B8062AE97D3C}"/>
              </a:ext>
            </a:extLst>
          </p:cNvPr>
          <p:cNvSpPr>
            <a:spLocks noGrp="1"/>
          </p:cNvSpPr>
          <p:nvPr>
            <p:ph type="sldNum" sz="quarter" idx="12"/>
          </p:nvPr>
        </p:nvSpPr>
        <p:spPr/>
        <p:txBody>
          <a:bodyPr/>
          <a:lstStyle/>
          <a:p>
            <a:fld id="{499D393E-937C-43AF-8286-1304B3D101C1}" type="slidenum">
              <a:rPr lang="en-MY" smtClean="0"/>
              <a:t>50</a:t>
            </a:fld>
            <a:endParaRPr lang="en-MY"/>
          </a:p>
        </p:txBody>
      </p:sp>
      <p:sp>
        <p:nvSpPr>
          <p:cNvPr id="14" name="TextBox 13">
            <a:extLst>
              <a:ext uri="{FF2B5EF4-FFF2-40B4-BE49-F238E27FC236}">
                <a16:creationId xmlns:a16="http://schemas.microsoft.com/office/drawing/2014/main" id="{67965B52-B5A2-F7EF-CD5F-0147DC09BA33}"/>
              </a:ext>
            </a:extLst>
          </p:cNvPr>
          <p:cNvSpPr txBox="1"/>
          <p:nvPr/>
        </p:nvSpPr>
        <p:spPr>
          <a:xfrm>
            <a:off x="838200" y="6202461"/>
            <a:ext cx="10515600" cy="307777"/>
          </a:xfrm>
          <a:prstGeom prst="rect">
            <a:avLst/>
          </a:prstGeom>
          <a:noFill/>
        </p:spPr>
        <p:txBody>
          <a:bodyPr wrap="square" rtlCol="0">
            <a:spAutoFit/>
          </a:bodyPr>
          <a:lstStyle/>
          <a:p>
            <a:r>
              <a:rPr lang="en-US" sz="1400" i="1" dirty="0"/>
              <a:t>Boxplot tutorial: </a:t>
            </a:r>
            <a:r>
              <a:rPr lang="en-US" sz="1400" i="1" dirty="0">
                <a:hlinkClick r:id="rId2"/>
              </a:rPr>
              <a:t>https://www.youtube.com/watch?v=u6JVQKj5ijU&amp;t=653s&amp;ab_channel=HowtoPowerBI</a:t>
            </a:r>
            <a:endParaRPr lang="en-MY" sz="1400" i="1" dirty="0"/>
          </a:p>
        </p:txBody>
      </p:sp>
      <p:pic>
        <p:nvPicPr>
          <p:cNvPr id="5" name="Picture 4">
            <a:extLst>
              <a:ext uri="{FF2B5EF4-FFF2-40B4-BE49-F238E27FC236}">
                <a16:creationId xmlns:a16="http://schemas.microsoft.com/office/drawing/2014/main" id="{8EECC48D-5A45-4695-81DD-40FC9A0ADACC}"/>
              </a:ext>
            </a:extLst>
          </p:cNvPr>
          <p:cNvPicPr>
            <a:picLocks noChangeAspect="1"/>
          </p:cNvPicPr>
          <p:nvPr/>
        </p:nvPicPr>
        <p:blipFill>
          <a:blip r:embed="rId3"/>
          <a:srcRect l="10726" t="2102" r="13903" b="-2102"/>
          <a:stretch>
            <a:fillRect/>
          </a:stretch>
        </p:blipFill>
        <p:spPr>
          <a:xfrm>
            <a:off x="9982200" y="365125"/>
            <a:ext cx="1371600" cy="1213202"/>
          </a:xfrm>
          <a:prstGeom prst="rect">
            <a:avLst/>
          </a:prstGeom>
        </p:spPr>
      </p:pic>
      <p:pic>
        <p:nvPicPr>
          <p:cNvPr id="6" name="Graphic 5" descr="Traffic cone with solid fill">
            <a:extLst>
              <a:ext uri="{FF2B5EF4-FFF2-40B4-BE49-F238E27FC236}">
                <a16:creationId xmlns:a16="http://schemas.microsoft.com/office/drawing/2014/main" id="{FB613B7E-005C-036E-45AD-2DB6FF594D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0288" y="570706"/>
            <a:ext cx="914400" cy="914400"/>
          </a:xfrm>
          <a:prstGeom prst="rect">
            <a:avLst/>
          </a:prstGeom>
        </p:spPr>
      </p:pic>
    </p:spTree>
    <p:extLst>
      <p:ext uri="{BB962C8B-B14F-4D97-AF65-F5344CB8AC3E}">
        <p14:creationId xmlns:p14="http://schemas.microsoft.com/office/powerpoint/2010/main" val="7417951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0E0928F9-F31F-0570-C1BC-5E801573B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AB0A86-9B87-5906-C428-2385987B8E5B}"/>
              </a:ext>
            </a:extLst>
          </p:cNvPr>
          <p:cNvSpPr>
            <a:spLocks noGrp="1"/>
          </p:cNvSpPr>
          <p:nvPr>
            <p:ph type="title"/>
          </p:nvPr>
        </p:nvSpPr>
        <p:spPr>
          <a:xfrm>
            <a:off x="1804400" y="365125"/>
            <a:ext cx="8223178" cy="1325563"/>
          </a:xfrm>
        </p:spPr>
        <p:txBody>
          <a:bodyPr>
            <a:noAutofit/>
          </a:bodyPr>
          <a:lstStyle/>
          <a:p>
            <a:r>
              <a:rPr lang="en-MY" sz="4000" dirty="0"/>
              <a:t>LAB 3B: Creating boxplot in Power BI</a:t>
            </a:r>
            <a:br>
              <a:rPr lang="en-MY" sz="4000" dirty="0"/>
            </a:br>
            <a:r>
              <a:rPr lang="en-MY" sz="4000" dirty="0"/>
              <a:t>(5/7 – Customise y-max)</a:t>
            </a:r>
          </a:p>
        </p:txBody>
      </p:sp>
      <p:sp>
        <p:nvSpPr>
          <p:cNvPr id="3" name="Content Placeholder 2">
            <a:extLst>
              <a:ext uri="{FF2B5EF4-FFF2-40B4-BE49-F238E27FC236}">
                <a16:creationId xmlns:a16="http://schemas.microsoft.com/office/drawing/2014/main" id="{09888212-5B20-52E9-2A30-FC12356661BD}"/>
              </a:ext>
            </a:extLst>
          </p:cNvPr>
          <p:cNvSpPr>
            <a:spLocks noGrp="1"/>
          </p:cNvSpPr>
          <p:nvPr>
            <p:ph idx="1"/>
          </p:nvPr>
        </p:nvSpPr>
        <p:spPr>
          <a:xfrm>
            <a:off x="838200" y="1825625"/>
            <a:ext cx="10515600" cy="4351338"/>
          </a:xfrm>
        </p:spPr>
        <p:txBody>
          <a:bodyPr>
            <a:noAutofit/>
          </a:bodyPr>
          <a:lstStyle/>
          <a:p>
            <a:pPr marL="457200" indent="-457200">
              <a:lnSpc>
                <a:spcPct val="100000"/>
              </a:lnSpc>
              <a:spcBef>
                <a:spcPts val="600"/>
              </a:spcBef>
              <a:spcAft>
                <a:spcPts val="600"/>
              </a:spcAft>
              <a:buFont typeface="+mj-lt"/>
              <a:buAutoNum type="arabicPeriod" startAt="17"/>
            </a:pPr>
            <a:r>
              <a:rPr lang="en-US" sz="2000" kern="100" dirty="0">
                <a:latin typeface="Aptos" panose="020B0004020202020204" pitchFamily="34" charset="0"/>
                <a:ea typeface="Aptos" panose="020B0004020202020204" pitchFamily="34" charset="0"/>
                <a:cs typeface="Times New Roman" panose="02020603050405020304" pitchFamily="18" charset="0"/>
              </a:rPr>
              <a:t>Since we hard-coded maximum values for y-axes (primary and secondary), now we want to make that axis dynamic, so it is going to change based on the slicers we select</a:t>
            </a:r>
          </a:p>
          <a:p>
            <a:pPr marL="457200" indent="-457200">
              <a:lnSpc>
                <a:spcPct val="100000"/>
              </a:lnSpc>
              <a:spcBef>
                <a:spcPts val="600"/>
              </a:spcBef>
              <a:spcAft>
                <a:spcPts val="600"/>
              </a:spcAft>
              <a:buFont typeface="+mj-lt"/>
              <a:buAutoNum type="arabicPeriod" startAt="17"/>
            </a:pPr>
            <a:r>
              <a:rPr lang="en-US" sz="2000" kern="100" dirty="0">
                <a:latin typeface="Aptos" panose="020B0004020202020204" pitchFamily="34" charset="0"/>
                <a:ea typeface="Aptos" panose="020B0004020202020204" pitchFamily="34" charset="0"/>
                <a:cs typeface="Times New Roman" panose="02020603050405020304" pitchFamily="18" charset="0"/>
              </a:rPr>
              <a:t>To do that, we create another measure [</a:t>
            </a:r>
            <a:r>
              <a:rPr lang="en-US" sz="2000" kern="100" dirty="0">
                <a:solidFill>
                  <a:srgbClr val="002060"/>
                </a:solidFill>
                <a:latin typeface="Aptos" panose="020B0004020202020204" pitchFamily="34" charset="0"/>
                <a:ea typeface="Aptos" panose="020B0004020202020204" pitchFamily="34" charset="0"/>
                <a:cs typeface="Times New Roman" panose="02020603050405020304" pitchFamily="18" charset="0"/>
              </a:rPr>
              <a:t>y-max</a:t>
            </a:r>
            <a:r>
              <a:rPr lang="en-US" sz="2000" kern="100" dirty="0">
                <a:latin typeface="Aptos" panose="020B0004020202020204" pitchFamily="34" charset="0"/>
                <a:ea typeface="Aptos" panose="020B0004020202020204" pitchFamily="34" charset="0"/>
                <a:cs typeface="Times New Roman" panose="02020603050405020304" pitchFamily="18" charset="0"/>
              </a:rPr>
              <a:t>] by using the following function</a:t>
            </a:r>
          </a:p>
          <a:p>
            <a:pPr marL="457200" lvl="1" indent="0">
              <a:lnSpc>
                <a:spcPct val="100000"/>
              </a:lnSpc>
              <a:spcBef>
                <a:spcPts val="600"/>
              </a:spcBef>
              <a:spcAft>
                <a:spcPts val="600"/>
              </a:spcAft>
              <a:buNone/>
            </a:pPr>
            <a:r>
              <a:rPr lang="en-US" sz="1800" kern="100" dirty="0">
                <a:latin typeface="Consolas" panose="020B0609020204030204" pitchFamily="49" charset="0"/>
                <a:ea typeface="Aptos" panose="020B0004020202020204" pitchFamily="34" charset="0"/>
                <a:cs typeface="Times New Roman" panose="02020603050405020304" pitchFamily="18" charset="0"/>
              </a:rPr>
              <a:t>y-max = [</a:t>
            </a:r>
            <a:r>
              <a:rPr lang="en-US" sz="1800" kern="100" dirty="0">
                <a:solidFill>
                  <a:srgbClr val="002060"/>
                </a:solidFill>
                <a:latin typeface="Consolas" panose="020B0609020204030204" pitchFamily="49" charset="0"/>
                <a:ea typeface="Aptos" panose="020B0004020202020204" pitchFamily="34" charset="0"/>
                <a:cs typeface="Times New Roman" panose="02020603050405020304" pitchFamily="18" charset="0"/>
              </a:rPr>
              <a:t>max</a:t>
            </a:r>
            <a:r>
              <a:rPr lang="en-US" sz="1800" kern="100" dirty="0">
                <a:latin typeface="Consolas" panose="020B0609020204030204" pitchFamily="49" charset="0"/>
                <a:ea typeface="Aptos" panose="020B0004020202020204" pitchFamily="34" charset="0"/>
                <a:cs typeface="Times New Roman" panose="02020603050405020304" pitchFamily="18" charset="0"/>
              </a:rPr>
              <a:t>] * 1.2 </a:t>
            </a:r>
            <a:r>
              <a:rPr lang="en-US" sz="1800" kern="100" dirty="0">
                <a:solidFill>
                  <a:schemeClr val="accent3"/>
                </a:solidFill>
                <a:latin typeface="Consolas" panose="020B0609020204030204" pitchFamily="49" charset="0"/>
                <a:ea typeface="Aptos" panose="020B0004020202020204" pitchFamily="34" charset="0"/>
                <a:cs typeface="Times New Roman" panose="02020603050405020304" pitchFamily="18" charset="0"/>
              </a:rPr>
              <a:t>// any other factor works too, depending on scale in the visual</a:t>
            </a:r>
            <a:endParaRPr lang="en-US" sz="2000" kern="100" dirty="0">
              <a:latin typeface="Aptos" panose="020B0004020202020204" pitchFamily="34" charset="0"/>
              <a:ea typeface="Aptos" panose="020B0004020202020204" pitchFamily="34" charset="0"/>
              <a:cs typeface="Times New Roman" panose="02020603050405020304" pitchFamily="18" charset="0"/>
            </a:endParaRPr>
          </a:p>
          <a:p>
            <a:pPr marL="457200" indent="-457200">
              <a:lnSpc>
                <a:spcPct val="100000"/>
              </a:lnSpc>
              <a:spcBef>
                <a:spcPts val="600"/>
              </a:spcBef>
              <a:spcAft>
                <a:spcPts val="600"/>
              </a:spcAft>
              <a:buFont typeface="+mj-lt"/>
              <a:buAutoNum type="arabicPeriod" startAt="15"/>
            </a:pPr>
            <a:endParaRPr lang="en-MY" sz="2000"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18A834D-D273-CF2E-0968-6223D4238840}"/>
              </a:ext>
            </a:extLst>
          </p:cNvPr>
          <p:cNvSpPr>
            <a:spLocks noGrp="1"/>
          </p:cNvSpPr>
          <p:nvPr>
            <p:ph type="sldNum" sz="quarter" idx="12"/>
          </p:nvPr>
        </p:nvSpPr>
        <p:spPr/>
        <p:txBody>
          <a:bodyPr/>
          <a:lstStyle/>
          <a:p>
            <a:fld id="{499D393E-937C-43AF-8286-1304B3D101C1}" type="slidenum">
              <a:rPr lang="en-MY" smtClean="0"/>
              <a:t>51</a:t>
            </a:fld>
            <a:endParaRPr lang="en-MY"/>
          </a:p>
        </p:txBody>
      </p:sp>
      <p:sp>
        <p:nvSpPr>
          <p:cNvPr id="14" name="TextBox 13">
            <a:extLst>
              <a:ext uri="{FF2B5EF4-FFF2-40B4-BE49-F238E27FC236}">
                <a16:creationId xmlns:a16="http://schemas.microsoft.com/office/drawing/2014/main" id="{F5768C0C-A251-16A3-2659-8FAF7374D386}"/>
              </a:ext>
            </a:extLst>
          </p:cNvPr>
          <p:cNvSpPr txBox="1"/>
          <p:nvPr/>
        </p:nvSpPr>
        <p:spPr>
          <a:xfrm>
            <a:off x="838200" y="6202461"/>
            <a:ext cx="10515600" cy="307777"/>
          </a:xfrm>
          <a:prstGeom prst="rect">
            <a:avLst/>
          </a:prstGeom>
          <a:noFill/>
        </p:spPr>
        <p:txBody>
          <a:bodyPr wrap="square" rtlCol="0">
            <a:spAutoFit/>
          </a:bodyPr>
          <a:lstStyle/>
          <a:p>
            <a:r>
              <a:rPr lang="en-US" sz="1400" i="1" dirty="0"/>
              <a:t>Boxplot tutorial: </a:t>
            </a:r>
            <a:r>
              <a:rPr lang="en-US" sz="1400" i="1" dirty="0">
                <a:hlinkClick r:id="rId2"/>
              </a:rPr>
              <a:t>https://www.youtube.com/watch?v=u6JVQKj5ijU&amp;t=653s&amp;ab_channel=HowtoPowerBI</a:t>
            </a:r>
            <a:endParaRPr lang="en-MY" sz="1400" i="1" dirty="0"/>
          </a:p>
        </p:txBody>
      </p:sp>
      <p:pic>
        <p:nvPicPr>
          <p:cNvPr id="5" name="Picture 4">
            <a:extLst>
              <a:ext uri="{FF2B5EF4-FFF2-40B4-BE49-F238E27FC236}">
                <a16:creationId xmlns:a16="http://schemas.microsoft.com/office/drawing/2014/main" id="{A55EEF1C-0B28-BF0D-5B4E-3F5ECB5C27AC}"/>
              </a:ext>
            </a:extLst>
          </p:cNvPr>
          <p:cNvPicPr>
            <a:picLocks noChangeAspect="1"/>
          </p:cNvPicPr>
          <p:nvPr/>
        </p:nvPicPr>
        <p:blipFill>
          <a:blip r:embed="rId3"/>
          <a:srcRect l="10726" t="2102" r="13903" b="-2102"/>
          <a:stretch>
            <a:fillRect/>
          </a:stretch>
        </p:blipFill>
        <p:spPr>
          <a:xfrm>
            <a:off x="9982200" y="365125"/>
            <a:ext cx="1371600" cy="1213202"/>
          </a:xfrm>
          <a:prstGeom prst="rect">
            <a:avLst/>
          </a:prstGeom>
        </p:spPr>
      </p:pic>
      <p:pic>
        <p:nvPicPr>
          <p:cNvPr id="6" name="Graphic 5" descr="Traffic cone with solid fill">
            <a:extLst>
              <a:ext uri="{FF2B5EF4-FFF2-40B4-BE49-F238E27FC236}">
                <a16:creationId xmlns:a16="http://schemas.microsoft.com/office/drawing/2014/main" id="{1BC4CD19-1F13-61D3-D0EC-ED4908EFD3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0288" y="570706"/>
            <a:ext cx="914400" cy="914400"/>
          </a:xfrm>
          <a:prstGeom prst="rect">
            <a:avLst/>
          </a:prstGeom>
        </p:spPr>
      </p:pic>
    </p:spTree>
    <p:extLst>
      <p:ext uri="{BB962C8B-B14F-4D97-AF65-F5344CB8AC3E}">
        <p14:creationId xmlns:p14="http://schemas.microsoft.com/office/powerpoint/2010/main" val="7229728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8852A085-E207-8F7D-DF1E-CB973405B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9FB59E-30F7-2005-F991-E51A398CF028}"/>
              </a:ext>
            </a:extLst>
          </p:cNvPr>
          <p:cNvSpPr>
            <a:spLocks noGrp="1"/>
          </p:cNvSpPr>
          <p:nvPr>
            <p:ph type="title"/>
          </p:nvPr>
        </p:nvSpPr>
        <p:spPr>
          <a:xfrm>
            <a:off x="1804400" y="365125"/>
            <a:ext cx="8223178" cy="1325563"/>
          </a:xfrm>
        </p:spPr>
        <p:txBody>
          <a:bodyPr>
            <a:noAutofit/>
          </a:bodyPr>
          <a:lstStyle/>
          <a:p>
            <a:r>
              <a:rPr lang="en-MY" sz="4000" dirty="0"/>
              <a:t>LAB 3B: Creating boxplot in Power BI</a:t>
            </a:r>
            <a:br>
              <a:rPr lang="en-MY" sz="4000" dirty="0"/>
            </a:br>
            <a:r>
              <a:rPr lang="en-MY" sz="4000" dirty="0"/>
              <a:t>(6/7 – Create dynamic y-axes)</a:t>
            </a:r>
          </a:p>
        </p:txBody>
      </p:sp>
      <p:sp>
        <p:nvSpPr>
          <p:cNvPr id="3" name="Content Placeholder 2">
            <a:extLst>
              <a:ext uri="{FF2B5EF4-FFF2-40B4-BE49-F238E27FC236}">
                <a16:creationId xmlns:a16="http://schemas.microsoft.com/office/drawing/2014/main" id="{7CC631E1-208B-20CB-85BD-CFB24C445355}"/>
              </a:ext>
            </a:extLst>
          </p:cNvPr>
          <p:cNvSpPr>
            <a:spLocks noGrp="1"/>
          </p:cNvSpPr>
          <p:nvPr>
            <p:ph idx="1"/>
          </p:nvPr>
        </p:nvSpPr>
        <p:spPr>
          <a:xfrm>
            <a:off x="838200" y="1825625"/>
            <a:ext cx="10515600" cy="4351338"/>
          </a:xfrm>
        </p:spPr>
        <p:txBody>
          <a:bodyPr>
            <a:noAutofit/>
          </a:bodyPr>
          <a:lstStyle/>
          <a:p>
            <a:pPr marL="457200" indent="-457200">
              <a:lnSpc>
                <a:spcPct val="100000"/>
              </a:lnSpc>
              <a:spcBef>
                <a:spcPts val="600"/>
              </a:spcBef>
              <a:spcAft>
                <a:spcPts val="600"/>
              </a:spcAft>
              <a:buFont typeface="+mj-lt"/>
              <a:buAutoNum type="arabicPeriod" startAt="17"/>
            </a:pPr>
            <a:r>
              <a:rPr lang="en-US" sz="2000" kern="100" dirty="0">
                <a:latin typeface="Aptos" panose="020B0004020202020204" pitchFamily="34" charset="0"/>
                <a:ea typeface="Aptos" panose="020B0004020202020204" pitchFamily="34" charset="0"/>
                <a:cs typeface="Times New Roman" panose="02020603050405020304" pitchFamily="18" charset="0"/>
              </a:rPr>
              <a:t>Add this</a:t>
            </a:r>
            <a:r>
              <a:rPr lang="en-US" sz="2000" kern="100" dirty="0">
                <a:latin typeface="+mj-lt"/>
                <a:ea typeface="Aptos" panose="020B0004020202020204" pitchFamily="34" charset="0"/>
                <a:cs typeface="Times New Roman" panose="02020603050405020304" pitchFamily="18" charset="0"/>
              </a:rPr>
              <a:t> </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1800" kern="100" dirty="0">
                <a:solidFill>
                  <a:srgbClr val="28377A"/>
                </a:solidFill>
                <a:latin typeface="Consolas" panose="020B0609020204030204" pitchFamily="49" charset="0"/>
                <a:ea typeface="Aptos" panose="020B0004020202020204" pitchFamily="34" charset="0"/>
                <a:cs typeface="Times New Roman" panose="02020603050405020304" pitchFamily="18" charset="0"/>
              </a:rPr>
              <a:t>y-max</a:t>
            </a: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2000" kern="100" dirty="0">
                <a:latin typeface="+mj-lt"/>
                <a:ea typeface="Aptos" panose="020B0004020202020204" pitchFamily="34" charset="0"/>
                <a:cs typeface="Times New Roman" panose="02020603050405020304" pitchFamily="18" charset="0"/>
              </a:rPr>
              <a:t> to both </a:t>
            </a:r>
            <a:r>
              <a:rPr lang="en-US" sz="2000" b="1" kern="100" dirty="0">
                <a:latin typeface="+mj-lt"/>
                <a:ea typeface="Aptos" panose="020B0004020202020204" pitchFamily="34" charset="0"/>
                <a:cs typeface="Times New Roman" panose="02020603050405020304" pitchFamily="18" charset="0"/>
              </a:rPr>
              <a:t>Y-axis</a:t>
            </a:r>
            <a:r>
              <a:rPr lang="en-US" sz="2000" kern="100" dirty="0">
                <a:latin typeface="+mj-lt"/>
                <a:ea typeface="Aptos" panose="020B0004020202020204" pitchFamily="34" charset="0"/>
                <a:cs typeface="Times New Roman" panose="02020603050405020304" pitchFamily="18" charset="0"/>
              </a:rPr>
              <a:t> and </a:t>
            </a:r>
            <a:r>
              <a:rPr lang="en-US" sz="2000" b="1" kern="100" dirty="0">
                <a:latin typeface="+mj-lt"/>
                <a:ea typeface="Aptos" panose="020B0004020202020204" pitchFamily="34" charset="0"/>
                <a:cs typeface="Times New Roman" panose="02020603050405020304" pitchFamily="18" charset="0"/>
              </a:rPr>
              <a:t>Secondary y-axis</a:t>
            </a:r>
            <a:r>
              <a:rPr lang="en-US" sz="2000" kern="100" dirty="0">
                <a:latin typeface="+mj-lt"/>
                <a:ea typeface="Aptos" panose="020B0004020202020204" pitchFamily="34" charset="0"/>
                <a:cs typeface="Times New Roman" panose="02020603050405020304" pitchFamily="18" charset="0"/>
              </a:rPr>
              <a:t> maximum values using the </a:t>
            </a:r>
            <a:r>
              <a:rPr lang="en-US" sz="1800" kern="100" dirty="0" err="1">
                <a:solidFill>
                  <a:schemeClr val="bg1"/>
                </a:solidFill>
                <a:highlight>
                  <a:srgbClr val="008000"/>
                </a:highlight>
                <a:latin typeface="Consolas" panose="020B0609020204030204" pitchFamily="49" charset="0"/>
                <a:ea typeface="Aptos" panose="020B0004020202020204" pitchFamily="34" charset="0"/>
                <a:cs typeface="Times New Roman" panose="02020603050405020304" pitchFamily="18" charset="0"/>
              </a:rPr>
              <a:t>fx</a:t>
            </a:r>
            <a:r>
              <a:rPr lang="en-US" sz="1800" kern="100" dirty="0">
                <a:latin typeface="Aptos" panose="020B0004020202020204" pitchFamily="34" charset="0"/>
                <a:ea typeface="Aptos" panose="020B0004020202020204" pitchFamily="34" charset="0"/>
                <a:cs typeface="Times New Roman" panose="02020603050405020304" pitchFamily="18" charset="0"/>
              </a:rPr>
              <a:t> </a:t>
            </a:r>
            <a:r>
              <a:rPr lang="en-US" sz="2000" kern="100" dirty="0">
                <a:latin typeface="Aptos" panose="020B0004020202020204" pitchFamily="34" charset="0"/>
                <a:ea typeface="Aptos" panose="020B0004020202020204" pitchFamily="34" charset="0"/>
                <a:cs typeface="Times New Roman" panose="02020603050405020304" pitchFamily="18" charset="0"/>
              </a:rPr>
              <a:t>button in the formatting panel</a:t>
            </a:r>
            <a:endParaRPr lang="en-US" sz="2000" kern="100" dirty="0">
              <a:latin typeface="Consolas" panose="020B0609020204030204" pitchFamily="49" charset="0"/>
              <a:ea typeface="Aptos" panose="020B0004020202020204" pitchFamily="34" charset="0"/>
              <a:cs typeface="Times New Roman" panose="02020603050405020304" pitchFamily="18" charset="0"/>
            </a:endParaRPr>
          </a:p>
          <a:p>
            <a:pPr marL="457200" indent="-457200">
              <a:lnSpc>
                <a:spcPct val="100000"/>
              </a:lnSpc>
              <a:spcBef>
                <a:spcPts val="600"/>
              </a:spcBef>
              <a:spcAft>
                <a:spcPts val="600"/>
              </a:spcAft>
              <a:buFont typeface="+mj-lt"/>
              <a:buAutoNum type="arabicPeriod" startAt="15"/>
            </a:pPr>
            <a:endParaRPr lang="en-US" sz="2000" kern="100" dirty="0">
              <a:latin typeface="Aptos" panose="020B0004020202020204" pitchFamily="34" charset="0"/>
              <a:ea typeface="Aptos" panose="020B0004020202020204" pitchFamily="34" charset="0"/>
              <a:cs typeface="Times New Roman" panose="02020603050405020304" pitchFamily="18" charset="0"/>
            </a:endParaRPr>
          </a:p>
          <a:p>
            <a:pPr marL="457200" indent="-457200">
              <a:lnSpc>
                <a:spcPct val="100000"/>
              </a:lnSpc>
              <a:spcBef>
                <a:spcPts val="600"/>
              </a:spcBef>
              <a:spcAft>
                <a:spcPts val="600"/>
              </a:spcAft>
              <a:buFont typeface="+mj-lt"/>
              <a:buAutoNum type="arabicPeriod" startAt="15"/>
            </a:pPr>
            <a:endParaRPr lang="en-MY" sz="2000"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8A2A355-877D-6875-A100-B4E216AE0F02}"/>
              </a:ext>
            </a:extLst>
          </p:cNvPr>
          <p:cNvSpPr>
            <a:spLocks noGrp="1"/>
          </p:cNvSpPr>
          <p:nvPr>
            <p:ph type="sldNum" sz="quarter" idx="12"/>
          </p:nvPr>
        </p:nvSpPr>
        <p:spPr/>
        <p:txBody>
          <a:bodyPr/>
          <a:lstStyle/>
          <a:p>
            <a:fld id="{499D393E-937C-43AF-8286-1304B3D101C1}" type="slidenum">
              <a:rPr lang="en-MY" smtClean="0"/>
              <a:t>52</a:t>
            </a:fld>
            <a:endParaRPr lang="en-MY"/>
          </a:p>
        </p:txBody>
      </p:sp>
      <p:sp>
        <p:nvSpPr>
          <p:cNvPr id="14" name="TextBox 13">
            <a:extLst>
              <a:ext uri="{FF2B5EF4-FFF2-40B4-BE49-F238E27FC236}">
                <a16:creationId xmlns:a16="http://schemas.microsoft.com/office/drawing/2014/main" id="{3F34EDAC-96AE-7BC4-5073-A019CA29CE1A}"/>
              </a:ext>
            </a:extLst>
          </p:cNvPr>
          <p:cNvSpPr txBox="1"/>
          <p:nvPr/>
        </p:nvSpPr>
        <p:spPr>
          <a:xfrm>
            <a:off x="838200" y="6202461"/>
            <a:ext cx="10515600" cy="307777"/>
          </a:xfrm>
          <a:prstGeom prst="rect">
            <a:avLst/>
          </a:prstGeom>
          <a:noFill/>
        </p:spPr>
        <p:txBody>
          <a:bodyPr wrap="square" rtlCol="0">
            <a:spAutoFit/>
          </a:bodyPr>
          <a:lstStyle/>
          <a:p>
            <a:r>
              <a:rPr lang="en-US" sz="1400" i="1" dirty="0"/>
              <a:t>Boxplot tutorial: </a:t>
            </a:r>
            <a:r>
              <a:rPr lang="en-US" sz="1400" i="1" dirty="0">
                <a:hlinkClick r:id="rId2"/>
              </a:rPr>
              <a:t>https://www.youtube.com/watch?v=u6JVQKj5ijU&amp;t=653s&amp;ab_channel=HowtoPowerBI</a:t>
            </a:r>
            <a:endParaRPr lang="en-MY" sz="1400" i="1" dirty="0"/>
          </a:p>
        </p:txBody>
      </p:sp>
      <p:pic>
        <p:nvPicPr>
          <p:cNvPr id="5" name="Picture 4">
            <a:extLst>
              <a:ext uri="{FF2B5EF4-FFF2-40B4-BE49-F238E27FC236}">
                <a16:creationId xmlns:a16="http://schemas.microsoft.com/office/drawing/2014/main" id="{0AA42014-8FFB-7816-2FA8-6D6CC62CD32E}"/>
              </a:ext>
            </a:extLst>
          </p:cNvPr>
          <p:cNvPicPr>
            <a:picLocks noChangeAspect="1"/>
          </p:cNvPicPr>
          <p:nvPr/>
        </p:nvPicPr>
        <p:blipFill>
          <a:blip r:embed="rId3"/>
          <a:srcRect l="10726" t="2102" r="13903" b="-2102"/>
          <a:stretch>
            <a:fillRect/>
          </a:stretch>
        </p:blipFill>
        <p:spPr>
          <a:xfrm>
            <a:off x="9982200" y="365125"/>
            <a:ext cx="1371600" cy="1213202"/>
          </a:xfrm>
          <a:prstGeom prst="rect">
            <a:avLst/>
          </a:prstGeom>
        </p:spPr>
      </p:pic>
      <p:pic>
        <p:nvPicPr>
          <p:cNvPr id="6" name="Graphic 5" descr="Traffic cone with solid fill">
            <a:extLst>
              <a:ext uri="{FF2B5EF4-FFF2-40B4-BE49-F238E27FC236}">
                <a16:creationId xmlns:a16="http://schemas.microsoft.com/office/drawing/2014/main" id="{5C248FA9-FBDF-B996-2E41-DC9CE357F5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0288" y="570706"/>
            <a:ext cx="914400" cy="914400"/>
          </a:xfrm>
          <a:prstGeom prst="rect">
            <a:avLst/>
          </a:prstGeom>
        </p:spPr>
      </p:pic>
      <p:sp>
        <p:nvSpPr>
          <p:cNvPr id="7" name="Speech Bubble: Oval 6">
            <a:extLst>
              <a:ext uri="{FF2B5EF4-FFF2-40B4-BE49-F238E27FC236}">
                <a16:creationId xmlns:a16="http://schemas.microsoft.com/office/drawing/2014/main" id="{CA88B7E4-A8A6-5F55-CC86-0E60AE9E6528}"/>
              </a:ext>
            </a:extLst>
          </p:cNvPr>
          <p:cNvSpPr/>
          <p:nvPr/>
        </p:nvSpPr>
        <p:spPr>
          <a:xfrm>
            <a:off x="9204828" y="1101009"/>
            <a:ext cx="952462" cy="695298"/>
          </a:xfrm>
          <a:prstGeom prst="wedgeEllipseCallout">
            <a:avLst>
              <a:gd name="adj1" fmla="val 64724"/>
              <a:gd name="adj2" fmla="val -2732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Much meow!</a:t>
            </a:r>
            <a:endParaRPr lang="en-MY" sz="1200" dirty="0"/>
          </a:p>
        </p:txBody>
      </p:sp>
    </p:spTree>
    <p:extLst>
      <p:ext uri="{BB962C8B-B14F-4D97-AF65-F5344CB8AC3E}">
        <p14:creationId xmlns:p14="http://schemas.microsoft.com/office/powerpoint/2010/main" val="37560862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551B08B4-3F8A-F26D-12AD-CB072C64D2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15E827-A5A6-7170-A457-F21271427C8C}"/>
              </a:ext>
            </a:extLst>
          </p:cNvPr>
          <p:cNvSpPr>
            <a:spLocks noGrp="1"/>
          </p:cNvSpPr>
          <p:nvPr>
            <p:ph type="title"/>
          </p:nvPr>
        </p:nvSpPr>
        <p:spPr>
          <a:xfrm>
            <a:off x="1804400" y="365125"/>
            <a:ext cx="8223178" cy="1325563"/>
          </a:xfrm>
        </p:spPr>
        <p:txBody>
          <a:bodyPr>
            <a:noAutofit/>
          </a:bodyPr>
          <a:lstStyle/>
          <a:p>
            <a:r>
              <a:rPr lang="en-MY" sz="4000" dirty="0"/>
              <a:t>LAB 3B: Creating boxplot in Power BI</a:t>
            </a:r>
            <a:br>
              <a:rPr lang="en-MY" sz="4000" dirty="0"/>
            </a:br>
            <a:r>
              <a:rPr lang="en-MY" sz="4000" dirty="0"/>
              <a:t>(7/7 – Splitting IQR into 2 segments)</a:t>
            </a:r>
          </a:p>
        </p:txBody>
      </p:sp>
      <p:sp>
        <p:nvSpPr>
          <p:cNvPr id="3" name="Content Placeholder 2">
            <a:extLst>
              <a:ext uri="{FF2B5EF4-FFF2-40B4-BE49-F238E27FC236}">
                <a16:creationId xmlns:a16="http://schemas.microsoft.com/office/drawing/2014/main" id="{54B302AF-1955-C90B-36D1-BE3C4573A1F8}"/>
              </a:ext>
            </a:extLst>
          </p:cNvPr>
          <p:cNvSpPr>
            <a:spLocks noGrp="1"/>
          </p:cNvSpPr>
          <p:nvPr>
            <p:ph idx="1"/>
          </p:nvPr>
        </p:nvSpPr>
        <p:spPr>
          <a:xfrm>
            <a:off x="838200" y="1825625"/>
            <a:ext cx="10515600" cy="4351338"/>
          </a:xfrm>
        </p:spPr>
        <p:txBody>
          <a:bodyPr>
            <a:noAutofit/>
          </a:bodyPr>
          <a:lstStyle/>
          <a:p>
            <a:pPr marL="457200" indent="-457200">
              <a:lnSpc>
                <a:spcPct val="100000"/>
              </a:lnSpc>
              <a:spcBef>
                <a:spcPts val="600"/>
              </a:spcBef>
              <a:spcAft>
                <a:spcPts val="600"/>
              </a:spcAft>
              <a:buFont typeface="+mj-lt"/>
              <a:buAutoNum type="arabicPeriod" startAt="15"/>
            </a:pPr>
            <a:r>
              <a:rPr lang="en-US" sz="2000" kern="100" dirty="0">
                <a:latin typeface="Aptos" panose="020B0004020202020204" pitchFamily="34" charset="0"/>
                <a:ea typeface="Aptos" panose="020B0004020202020204" pitchFamily="34" charset="0"/>
                <a:cs typeface="Times New Roman" panose="02020603050405020304" pitchFamily="18" charset="0"/>
              </a:rPr>
              <a:t>Since it might be difficult to read the chart without a line separating the top half and bottom half of the IQR, we need to split the IQR</a:t>
            </a:r>
          </a:p>
          <a:p>
            <a:pPr marL="457200" lvl="1" indent="0">
              <a:lnSpc>
                <a:spcPct val="100000"/>
              </a:lnSpc>
              <a:spcBef>
                <a:spcPts val="600"/>
              </a:spcBef>
              <a:spcAft>
                <a:spcPts val="600"/>
              </a:spcAft>
              <a:buNone/>
            </a:pP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1800" kern="100" dirty="0" err="1">
                <a:latin typeface="Consolas" panose="020B0609020204030204" pitchFamily="49" charset="0"/>
                <a:ea typeface="Aptos" panose="020B0004020202020204" pitchFamily="34" charset="0"/>
                <a:cs typeface="Times New Roman" panose="02020603050405020304" pitchFamily="18" charset="0"/>
              </a:rPr>
              <a:t>iqr</a:t>
            </a:r>
            <a:r>
              <a:rPr lang="en-US" sz="1800" kern="100" dirty="0">
                <a:latin typeface="Consolas" panose="020B0609020204030204" pitchFamily="49" charset="0"/>
                <a:ea typeface="Aptos" panose="020B0004020202020204" pitchFamily="34" charset="0"/>
                <a:cs typeface="Times New Roman" panose="02020603050405020304" pitchFamily="18" charset="0"/>
              </a:rPr>
              <a:t> 25-50] = [</a:t>
            </a:r>
            <a:r>
              <a:rPr lang="en-US" sz="1800" kern="100" dirty="0">
                <a:solidFill>
                  <a:srgbClr val="28377A"/>
                </a:solidFill>
                <a:latin typeface="Consolas" panose="020B0609020204030204" pitchFamily="49" charset="0"/>
                <a:ea typeface="Aptos" panose="020B0004020202020204" pitchFamily="34" charset="0"/>
                <a:cs typeface="Times New Roman" panose="02020603050405020304" pitchFamily="18" charset="0"/>
              </a:rPr>
              <a:t>median</a:t>
            </a:r>
            <a:r>
              <a:rPr lang="en-US" sz="1800" kern="100" dirty="0">
                <a:latin typeface="Consolas" panose="020B0609020204030204" pitchFamily="49" charset="0"/>
                <a:ea typeface="Aptos" panose="020B0004020202020204" pitchFamily="34" charset="0"/>
                <a:cs typeface="Times New Roman" panose="02020603050405020304" pitchFamily="18" charset="0"/>
              </a:rPr>
              <a:t>] – [</a:t>
            </a:r>
            <a:r>
              <a:rPr lang="en-US" sz="1800" kern="100" dirty="0">
                <a:solidFill>
                  <a:srgbClr val="28377A"/>
                </a:solidFill>
                <a:latin typeface="Consolas" panose="020B0609020204030204" pitchFamily="49" charset="0"/>
                <a:ea typeface="Aptos" panose="020B0004020202020204" pitchFamily="34" charset="0"/>
                <a:cs typeface="Times New Roman" panose="02020603050405020304" pitchFamily="18" charset="0"/>
              </a:rPr>
              <a:t>q1</a:t>
            </a:r>
            <a:r>
              <a:rPr lang="en-US" sz="1800" kern="100" dirty="0">
                <a:latin typeface="Consolas" panose="020B0609020204030204" pitchFamily="49" charset="0"/>
                <a:ea typeface="Aptos" panose="020B0004020202020204" pitchFamily="34" charset="0"/>
                <a:cs typeface="Times New Roman" panose="02020603050405020304" pitchFamily="18" charset="0"/>
              </a:rPr>
              <a:t>]</a:t>
            </a:r>
          </a:p>
          <a:p>
            <a:pPr marL="457200" lvl="1" indent="0">
              <a:lnSpc>
                <a:spcPct val="100000"/>
              </a:lnSpc>
              <a:spcBef>
                <a:spcPts val="600"/>
              </a:spcBef>
              <a:spcAft>
                <a:spcPts val="600"/>
              </a:spcAft>
              <a:buNone/>
            </a:pPr>
            <a:r>
              <a:rPr lang="en-US" sz="1800" kern="100" dirty="0">
                <a:latin typeface="Consolas" panose="020B0609020204030204" pitchFamily="49" charset="0"/>
                <a:ea typeface="Aptos" panose="020B0004020202020204" pitchFamily="34" charset="0"/>
                <a:cs typeface="Times New Roman" panose="02020603050405020304" pitchFamily="18" charset="0"/>
              </a:rPr>
              <a:t>[</a:t>
            </a:r>
            <a:r>
              <a:rPr lang="en-US" sz="1800" kern="100" dirty="0" err="1">
                <a:latin typeface="Consolas" panose="020B0609020204030204" pitchFamily="49" charset="0"/>
                <a:ea typeface="Aptos" panose="020B0004020202020204" pitchFamily="34" charset="0"/>
                <a:cs typeface="Times New Roman" panose="02020603050405020304" pitchFamily="18" charset="0"/>
              </a:rPr>
              <a:t>iqr</a:t>
            </a:r>
            <a:r>
              <a:rPr lang="en-US" sz="1800" kern="100" dirty="0">
                <a:latin typeface="Consolas" panose="020B0609020204030204" pitchFamily="49" charset="0"/>
                <a:ea typeface="Aptos" panose="020B0004020202020204" pitchFamily="34" charset="0"/>
                <a:cs typeface="Times New Roman" panose="02020603050405020304" pitchFamily="18" charset="0"/>
              </a:rPr>
              <a:t> 50-75] = [</a:t>
            </a:r>
            <a:r>
              <a:rPr lang="en-US" sz="1800" kern="100" dirty="0">
                <a:solidFill>
                  <a:srgbClr val="28377A"/>
                </a:solidFill>
                <a:latin typeface="Consolas" panose="020B0609020204030204" pitchFamily="49" charset="0"/>
                <a:ea typeface="Aptos" panose="020B0004020202020204" pitchFamily="34" charset="0"/>
                <a:cs typeface="Times New Roman" panose="02020603050405020304" pitchFamily="18" charset="0"/>
              </a:rPr>
              <a:t>q3</a:t>
            </a:r>
            <a:r>
              <a:rPr lang="en-US" sz="1800" kern="100" dirty="0">
                <a:latin typeface="Consolas" panose="020B0609020204030204" pitchFamily="49" charset="0"/>
                <a:ea typeface="Aptos" panose="020B0004020202020204" pitchFamily="34" charset="0"/>
                <a:cs typeface="Times New Roman" panose="02020603050405020304" pitchFamily="18" charset="0"/>
              </a:rPr>
              <a:t>] – [</a:t>
            </a:r>
            <a:r>
              <a:rPr lang="en-US" sz="1800" kern="100" dirty="0">
                <a:solidFill>
                  <a:srgbClr val="28377A"/>
                </a:solidFill>
                <a:latin typeface="Consolas" panose="020B0609020204030204" pitchFamily="49" charset="0"/>
                <a:ea typeface="Aptos" panose="020B0004020202020204" pitchFamily="34" charset="0"/>
                <a:cs typeface="Times New Roman" panose="02020603050405020304" pitchFamily="18" charset="0"/>
              </a:rPr>
              <a:t>median</a:t>
            </a:r>
            <a:r>
              <a:rPr lang="en-US" sz="1800" kern="100" dirty="0">
                <a:latin typeface="Consolas" panose="020B0609020204030204" pitchFamily="49" charset="0"/>
                <a:ea typeface="Aptos" panose="020B0004020202020204" pitchFamily="34" charset="0"/>
                <a:cs typeface="Times New Roman" panose="02020603050405020304" pitchFamily="18" charset="0"/>
              </a:rPr>
              <a:t>]</a:t>
            </a:r>
          </a:p>
          <a:p>
            <a:pPr marL="457200" indent="-457200">
              <a:lnSpc>
                <a:spcPct val="100000"/>
              </a:lnSpc>
              <a:spcBef>
                <a:spcPts val="600"/>
              </a:spcBef>
              <a:spcAft>
                <a:spcPts val="600"/>
              </a:spcAft>
              <a:buFont typeface="+mj-lt"/>
              <a:buAutoNum type="arabicPeriod" startAt="15"/>
            </a:pPr>
            <a:r>
              <a:rPr lang="en-MY" sz="2000" kern="100" dirty="0">
                <a:latin typeface="Aptos" panose="020B0004020202020204" pitchFamily="34" charset="0"/>
                <a:ea typeface="Aptos" panose="020B0004020202020204" pitchFamily="34" charset="0"/>
                <a:cs typeface="Times New Roman" panose="02020603050405020304" pitchFamily="18" charset="0"/>
              </a:rPr>
              <a:t>Replace the IQR with the respective measures in the right order</a:t>
            </a:r>
          </a:p>
          <a:p>
            <a:pPr marL="457200" indent="-457200">
              <a:lnSpc>
                <a:spcPct val="100000"/>
              </a:lnSpc>
              <a:spcBef>
                <a:spcPts val="600"/>
              </a:spcBef>
              <a:spcAft>
                <a:spcPts val="600"/>
              </a:spcAft>
              <a:buFont typeface="+mj-lt"/>
              <a:buAutoNum type="arabicPeriod" startAt="15"/>
            </a:pPr>
            <a:r>
              <a:rPr lang="en-MY" sz="2000" kern="100" dirty="0">
                <a:latin typeface="Aptos" panose="020B0004020202020204" pitchFamily="34" charset="0"/>
                <a:ea typeface="Aptos" panose="020B0004020202020204" pitchFamily="34" charset="0"/>
                <a:cs typeface="Times New Roman" panose="02020603050405020304" pitchFamily="18" charset="0"/>
              </a:rPr>
              <a:t>Edit the </a:t>
            </a:r>
            <a:r>
              <a:rPr lang="en-MY" sz="2000" kern="100" dirty="0" err="1">
                <a:latin typeface="Aptos" panose="020B0004020202020204" pitchFamily="34" charset="0"/>
                <a:ea typeface="Aptos" panose="020B0004020202020204" pitchFamily="34" charset="0"/>
                <a:cs typeface="Times New Roman" panose="02020603050405020304" pitchFamily="18" charset="0"/>
              </a:rPr>
              <a:t>colors</a:t>
            </a:r>
            <a:endParaRPr lang="en-MY" sz="2000" kern="100" dirty="0">
              <a:latin typeface="Aptos" panose="020B0004020202020204" pitchFamily="34" charset="0"/>
              <a:ea typeface="Aptos" panose="020B0004020202020204" pitchFamily="34" charset="0"/>
              <a:cs typeface="Times New Roman" panose="02020603050405020304" pitchFamily="18" charset="0"/>
            </a:endParaRPr>
          </a:p>
          <a:p>
            <a:pPr marL="457200" indent="-457200">
              <a:lnSpc>
                <a:spcPct val="100000"/>
              </a:lnSpc>
              <a:spcBef>
                <a:spcPts val="600"/>
              </a:spcBef>
              <a:spcAft>
                <a:spcPts val="600"/>
              </a:spcAft>
              <a:buFont typeface="+mj-lt"/>
              <a:buAutoNum type="arabicPeriod" startAt="15"/>
            </a:pPr>
            <a:r>
              <a:rPr lang="en-MY" sz="2000" kern="100" dirty="0">
                <a:latin typeface="Aptos" panose="020B0004020202020204" pitchFamily="34" charset="0"/>
                <a:ea typeface="Aptos" panose="020B0004020202020204" pitchFamily="34" charset="0"/>
                <a:cs typeface="Times New Roman" panose="02020603050405020304" pitchFamily="18" charset="0"/>
              </a:rPr>
              <a:t>Now let’s have fun with adding a slicer for region/subregion, and put your thinking hat for some analysis! Yes, of course we can use ChatGPT to help us to interpret things we don’t understand.</a:t>
            </a:r>
          </a:p>
          <a:p>
            <a:pPr marL="0" indent="0">
              <a:lnSpc>
                <a:spcPct val="100000"/>
              </a:lnSpc>
              <a:spcBef>
                <a:spcPts val="600"/>
              </a:spcBef>
              <a:spcAft>
                <a:spcPts val="600"/>
              </a:spcAft>
              <a:buNone/>
            </a:pPr>
            <a:r>
              <a:rPr lang="en-MY" sz="1600" kern="100" dirty="0">
                <a:latin typeface="Aptos" panose="020B0004020202020204" pitchFamily="34" charset="0"/>
                <a:ea typeface="Aptos" panose="020B0004020202020204" pitchFamily="34" charset="0"/>
                <a:cs typeface="Times New Roman" panose="02020603050405020304" pitchFamily="18" charset="0"/>
              </a:rPr>
              <a:t>Tips: </a:t>
            </a:r>
            <a:r>
              <a:rPr lang="en-US" sz="1600" dirty="0"/>
              <a:t>You may include Refinery[City] and Refinery[Mill Name] into the hierarchical breakdown in X-axis to interact with the region/subregion slicers</a:t>
            </a:r>
            <a:endParaRPr lang="en-MY" sz="1600" dirty="0"/>
          </a:p>
          <a:p>
            <a:pPr marL="0" indent="0">
              <a:lnSpc>
                <a:spcPct val="100000"/>
              </a:lnSpc>
              <a:spcBef>
                <a:spcPts val="600"/>
              </a:spcBef>
              <a:spcAft>
                <a:spcPts val="600"/>
              </a:spcAft>
              <a:buNone/>
            </a:pPr>
            <a:endParaRPr lang="en-MY" sz="2000"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FCCC122-1F79-6BAF-F228-D56E75911544}"/>
              </a:ext>
            </a:extLst>
          </p:cNvPr>
          <p:cNvSpPr>
            <a:spLocks noGrp="1"/>
          </p:cNvSpPr>
          <p:nvPr>
            <p:ph type="sldNum" sz="quarter" idx="12"/>
          </p:nvPr>
        </p:nvSpPr>
        <p:spPr/>
        <p:txBody>
          <a:bodyPr/>
          <a:lstStyle/>
          <a:p>
            <a:fld id="{499D393E-937C-43AF-8286-1304B3D101C1}" type="slidenum">
              <a:rPr lang="en-MY" smtClean="0"/>
              <a:t>53</a:t>
            </a:fld>
            <a:endParaRPr lang="en-MY"/>
          </a:p>
        </p:txBody>
      </p:sp>
      <p:sp>
        <p:nvSpPr>
          <p:cNvPr id="14" name="TextBox 13">
            <a:extLst>
              <a:ext uri="{FF2B5EF4-FFF2-40B4-BE49-F238E27FC236}">
                <a16:creationId xmlns:a16="http://schemas.microsoft.com/office/drawing/2014/main" id="{DF01DE70-CA04-0DAA-2041-4BA0D12E8987}"/>
              </a:ext>
            </a:extLst>
          </p:cNvPr>
          <p:cNvSpPr txBox="1"/>
          <p:nvPr/>
        </p:nvSpPr>
        <p:spPr>
          <a:xfrm>
            <a:off x="838200" y="6202461"/>
            <a:ext cx="10515600" cy="307777"/>
          </a:xfrm>
          <a:prstGeom prst="rect">
            <a:avLst/>
          </a:prstGeom>
          <a:noFill/>
        </p:spPr>
        <p:txBody>
          <a:bodyPr wrap="square" rtlCol="0">
            <a:spAutoFit/>
          </a:bodyPr>
          <a:lstStyle/>
          <a:p>
            <a:r>
              <a:rPr lang="en-US" sz="1400" i="1" dirty="0"/>
              <a:t>Boxplot tutorial: </a:t>
            </a:r>
            <a:r>
              <a:rPr lang="en-US" sz="1400" i="1" dirty="0">
                <a:hlinkClick r:id="rId3"/>
              </a:rPr>
              <a:t>https://www.youtube.com/watch?v=u6JVQKj5ijU&amp;t=653s&amp;ab_channel=HowtoPowerBI</a:t>
            </a:r>
            <a:endParaRPr lang="en-MY" sz="1400" i="1" dirty="0"/>
          </a:p>
        </p:txBody>
      </p:sp>
      <p:pic>
        <p:nvPicPr>
          <p:cNvPr id="5" name="Picture 4">
            <a:extLst>
              <a:ext uri="{FF2B5EF4-FFF2-40B4-BE49-F238E27FC236}">
                <a16:creationId xmlns:a16="http://schemas.microsoft.com/office/drawing/2014/main" id="{48193106-8E79-CD01-5549-732585ABB009}"/>
              </a:ext>
            </a:extLst>
          </p:cNvPr>
          <p:cNvPicPr>
            <a:picLocks noChangeAspect="1"/>
          </p:cNvPicPr>
          <p:nvPr/>
        </p:nvPicPr>
        <p:blipFill>
          <a:blip r:embed="rId4"/>
          <a:srcRect l="10726" t="2102" r="13903" b="-2102"/>
          <a:stretch>
            <a:fillRect/>
          </a:stretch>
        </p:blipFill>
        <p:spPr>
          <a:xfrm>
            <a:off x="9982200" y="365125"/>
            <a:ext cx="1371600" cy="1213202"/>
          </a:xfrm>
          <a:prstGeom prst="rect">
            <a:avLst/>
          </a:prstGeom>
        </p:spPr>
      </p:pic>
      <p:pic>
        <p:nvPicPr>
          <p:cNvPr id="6" name="Graphic 5" descr="Traffic cone with solid fill">
            <a:extLst>
              <a:ext uri="{FF2B5EF4-FFF2-40B4-BE49-F238E27FC236}">
                <a16:creationId xmlns:a16="http://schemas.microsoft.com/office/drawing/2014/main" id="{6E17C403-E0F3-3BD6-32B7-88B8719628E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0288" y="570706"/>
            <a:ext cx="914400" cy="914400"/>
          </a:xfrm>
          <a:prstGeom prst="rect">
            <a:avLst/>
          </a:prstGeom>
        </p:spPr>
      </p:pic>
      <p:pic>
        <p:nvPicPr>
          <p:cNvPr id="8" name="Picture 7">
            <a:extLst>
              <a:ext uri="{FF2B5EF4-FFF2-40B4-BE49-F238E27FC236}">
                <a16:creationId xmlns:a16="http://schemas.microsoft.com/office/drawing/2014/main" id="{4B55A769-F478-DF22-3E33-F340E43CEF34}"/>
              </a:ext>
            </a:extLst>
          </p:cNvPr>
          <p:cNvPicPr>
            <a:picLocks noChangeAspect="1"/>
          </p:cNvPicPr>
          <p:nvPr/>
        </p:nvPicPr>
        <p:blipFill>
          <a:blip r:embed="rId6"/>
          <a:stretch>
            <a:fillRect/>
          </a:stretch>
        </p:blipFill>
        <p:spPr>
          <a:xfrm>
            <a:off x="9105586" y="2310289"/>
            <a:ext cx="2248214" cy="1600423"/>
          </a:xfrm>
          <a:prstGeom prst="rect">
            <a:avLst/>
          </a:prstGeom>
          <a:ln>
            <a:solidFill>
              <a:schemeClr val="tx1"/>
            </a:solidFill>
          </a:ln>
        </p:spPr>
      </p:pic>
      <p:sp>
        <p:nvSpPr>
          <p:cNvPr id="9" name="Speech Bubble: Oval 8">
            <a:extLst>
              <a:ext uri="{FF2B5EF4-FFF2-40B4-BE49-F238E27FC236}">
                <a16:creationId xmlns:a16="http://schemas.microsoft.com/office/drawing/2014/main" id="{F1FECCF1-F687-F775-090C-5862D800346C}"/>
              </a:ext>
            </a:extLst>
          </p:cNvPr>
          <p:cNvSpPr/>
          <p:nvPr/>
        </p:nvSpPr>
        <p:spPr>
          <a:xfrm>
            <a:off x="11064449" y="1322703"/>
            <a:ext cx="952462" cy="695298"/>
          </a:xfrm>
          <a:prstGeom prst="wedgeEllipseCallout">
            <a:avLst>
              <a:gd name="adj1" fmla="val -45303"/>
              <a:gd name="adj2" fmla="val -6131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Good job!</a:t>
            </a:r>
            <a:endParaRPr lang="en-MY" sz="1200" dirty="0"/>
          </a:p>
        </p:txBody>
      </p:sp>
      <p:cxnSp>
        <p:nvCxnSpPr>
          <p:cNvPr id="7" name="Straight Arrow Connector 6">
            <a:extLst>
              <a:ext uri="{FF2B5EF4-FFF2-40B4-BE49-F238E27FC236}">
                <a16:creationId xmlns:a16="http://schemas.microsoft.com/office/drawing/2014/main" id="{60BA4387-31B3-78FA-961D-BB4023264A82}"/>
              </a:ext>
            </a:extLst>
          </p:cNvPr>
          <p:cNvCxnSpPr>
            <a:cxnSpLocks/>
          </p:cNvCxnSpPr>
          <p:nvPr/>
        </p:nvCxnSpPr>
        <p:spPr>
          <a:xfrm flipV="1">
            <a:off x="8442475" y="3269974"/>
            <a:ext cx="552438" cy="3081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05637DB7-C110-EF75-3DA8-B8A1F0B87BE1}"/>
              </a:ext>
            </a:extLst>
          </p:cNvPr>
          <p:cNvSpPr/>
          <p:nvPr/>
        </p:nvSpPr>
        <p:spPr>
          <a:xfrm>
            <a:off x="9130986" y="2892047"/>
            <a:ext cx="2197414" cy="648713"/>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MY"/>
          </a:p>
        </p:txBody>
      </p:sp>
    </p:spTree>
    <p:extLst>
      <p:ext uri="{BB962C8B-B14F-4D97-AF65-F5344CB8AC3E}">
        <p14:creationId xmlns:p14="http://schemas.microsoft.com/office/powerpoint/2010/main" val="26212794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736693-A778-A5DD-1250-31F5B00265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3E137D-ADAD-48FD-F767-99448D93A530}"/>
              </a:ext>
            </a:extLst>
          </p:cNvPr>
          <p:cNvSpPr>
            <a:spLocks noGrp="1"/>
          </p:cNvSpPr>
          <p:nvPr>
            <p:ph type="title"/>
          </p:nvPr>
        </p:nvSpPr>
        <p:spPr>
          <a:xfrm>
            <a:off x="761803" y="350196"/>
            <a:ext cx="4646904" cy="1624520"/>
          </a:xfrm>
        </p:spPr>
        <p:txBody>
          <a:bodyPr anchor="ctr">
            <a:normAutofit/>
          </a:bodyPr>
          <a:lstStyle/>
          <a:p>
            <a:r>
              <a:rPr lang="en-US" sz="4000" dirty="0"/>
              <a:t>MILESTONE 3 AGENDA</a:t>
            </a:r>
            <a:endParaRPr lang="en-MY" sz="4000" dirty="0"/>
          </a:p>
        </p:txBody>
      </p:sp>
      <p:sp>
        <p:nvSpPr>
          <p:cNvPr id="3" name="Content Placeholder 2">
            <a:extLst>
              <a:ext uri="{FF2B5EF4-FFF2-40B4-BE49-F238E27FC236}">
                <a16:creationId xmlns:a16="http://schemas.microsoft.com/office/drawing/2014/main" id="{C03A247E-2A45-0999-5DD8-299B46FA4E13}"/>
              </a:ext>
            </a:extLst>
          </p:cNvPr>
          <p:cNvSpPr>
            <a:spLocks noGrp="1"/>
          </p:cNvSpPr>
          <p:nvPr>
            <p:ph idx="1"/>
          </p:nvPr>
        </p:nvSpPr>
        <p:spPr>
          <a:xfrm>
            <a:off x="761802" y="2743200"/>
            <a:ext cx="4646905" cy="3613149"/>
          </a:xfrm>
        </p:spPr>
        <p:txBody>
          <a:bodyPr anchor="t">
            <a:normAutofit/>
          </a:bodyPr>
          <a:lstStyle/>
          <a:p>
            <a:pPr marL="342900" lvl="0" indent="-342900">
              <a:lnSpc>
                <a:spcPct val="107000"/>
              </a:lnSpc>
              <a:spcBef>
                <a:spcPts val="600"/>
              </a:spcBef>
              <a:spcAft>
                <a:spcPts val="600"/>
              </a:spcAft>
              <a:buFont typeface="Symbol" panose="05050102010706020507" pitchFamily="18" charset="2"/>
              <a:buChar char=""/>
            </a:pPr>
            <a:r>
              <a:rPr lang="en-MY" sz="1800" kern="100" dirty="0">
                <a:effectLst/>
                <a:latin typeface="Aptos" panose="020B0004020202020204" pitchFamily="34" charset="0"/>
                <a:ea typeface="Aptos" panose="020B0004020202020204" pitchFamily="34" charset="0"/>
                <a:cs typeface="Times New Roman" panose="02020603050405020304" pitchFamily="18" charset="0"/>
              </a:rPr>
              <a:t>Milestone 2 Recap</a:t>
            </a:r>
          </a:p>
          <a:p>
            <a:pPr marL="342900" indent="-342900">
              <a:lnSpc>
                <a:spcPct val="107000"/>
              </a:lnSpc>
              <a:spcBef>
                <a:spcPts val="600"/>
              </a:spcBef>
              <a:spcAft>
                <a:spcPts val="600"/>
              </a:spcAft>
              <a:buFont typeface="Symbol" panose="05050102010706020507" pitchFamily="18" charset="2"/>
              <a:buChar char=""/>
            </a:pPr>
            <a:r>
              <a:rPr lang="en-MY" sz="1800" dirty="0">
                <a:latin typeface="Aptos" panose="020B0004020202020204" pitchFamily="34" charset="0"/>
                <a:ea typeface="Aptos" panose="020B0004020202020204" pitchFamily="34" charset="0"/>
                <a:cs typeface="Times New Roman" panose="02020603050405020304" pitchFamily="18" charset="0"/>
              </a:rPr>
              <a:t>Revisiting SDG’s data model - Statistical Scenarios and Report Building</a:t>
            </a:r>
            <a:endParaRPr lang="en-MY" sz="18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Bef>
                <a:spcPts val="600"/>
              </a:spcBef>
              <a:spcAft>
                <a:spcPts val="600"/>
              </a:spcAft>
              <a:buFont typeface="Symbol" panose="05050102010706020507" pitchFamily="18" charset="2"/>
              <a:buChar char=""/>
            </a:pPr>
            <a:r>
              <a:rPr lang="en-MY" sz="1800" dirty="0">
                <a:effectLst/>
                <a:latin typeface="Aptos" panose="020B0004020202020204" pitchFamily="34" charset="0"/>
                <a:ea typeface="Aptos" panose="020B0004020202020204" pitchFamily="34" charset="0"/>
                <a:cs typeface="Times New Roman" panose="02020603050405020304" pitchFamily="18" charset="0"/>
              </a:rPr>
              <a:t>RFM Model - Segmentation &amp; insight automation</a:t>
            </a:r>
            <a:endParaRPr lang="en-MY" sz="1800" kern="100" dirty="0">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Bef>
                <a:spcPts val="600"/>
              </a:spcBef>
              <a:spcAft>
                <a:spcPts val="600"/>
              </a:spcAft>
              <a:buFont typeface="Symbol" panose="05050102010706020507" pitchFamily="18" charset="2"/>
              <a:buChar char=""/>
            </a:pPr>
            <a:endParaRPr lang="en-MY"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Bef>
                <a:spcPts val="600"/>
              </a:spcBef>
              <a:spcAft>
                <a:spcPts val="600"/>
              </a:spcAft>
              <a:buFont typeface="Symbol" panose="05050102010706020507" pitchFamily="18" charset="2"/>
              <a:buChar char=""/>
            </a:pPr>
            <a:endParaRPr lang="en-MY"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Bef>
                <a:spcPts val="600"/>
              </a:spcBef>
              <a:spcAft>
                <a:spcPts val="600"/>
              </a:spcAft>
              <a:buFont typeface="Symbol" panose="05050102010706020507" pitchFamily="18" charset="2"/>
              <a:buChar char=""/>
            </a:pPr>
            <a:endParaRPr lang="en-MY" sz="1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descr="Magnifying glass showing decling performance">
            <a:extLst>
              <a:ext uri="{FF2B5EF4-FFF2-40B4-BE49-F238E27FC236}">
                <a16:creationId xmlns:a16="http://schemas.microsoft.com/office/drawing/2014/main" id="{54C81C67-0B65-8566-F720-FDDA0AC9CABE}"/>
              </a:ext>
            </a:extLst>
          </p:cNvPr>
          <p:cNvPicPr>
            <a:picLocks noChangeAspect="1"/>
          </p:cNvPicPr>
          <p:nvPr/>
        </p:nvPicPr>
        <p:blipFill>
          <a:blip r:embed="rId2"/>
          <a:srcRect l="13740" r="26860" b="-2"/>
          <a:stretch>
            <a:fillRect/>
          </a:stretch>
        </p:blipFill>
        <p:spPr>
          <a:xfrm>
            <a:off x="6096000" y="1"/>
            <a:ext cx="6102825" cy="6858000"/>
          </a:xfrm>
          <a:prstGeom prst="rect">
            <a:avLst/>
          </a:prstGeom>
        </p:spPr>
      </p:pic>
      <p:sp>
        <p:nvSpPr>
          <p:cNvPr id="4" name="Slide Number Placeholder 3">
            <a:extLst>
              <a:ext uri="{FF2B5EF4-FFF2-40B4-BE49-F238E27FC236}">
                <a16:creationId xmlns:a16="http://schemas.microsoft.com/office/drawing/2014/main" id="{635597DB-B97D-B395-ED37-51DED2E09CB3}"/>
              </a:ext>
            </a:extLst>
          </p:cNvPr>
          <p:cNvSpPr>
            <a:spLocks noGrp="1"/>
          </p:cNvSpPr>
          <p:nvPr>
            <p:ph type="sldNum" sz="quarter" idx="12"/>
          </p:nvPr>
        </p:nvSpPr>
        <p:spPr/>
        <p:txBody>
          <a:bodyPr/>
          <a:lstStyle/>
          <a:p>
            <a:fld id="{499D393E-937C-43AF-8286-1304B3D101C1}" type="slidenum">
              <a:rPr lang="en-MY" smtClean="0"/>
              <a:t>54</a:t>
            </a:fld>
            <a:endParaRPr lang="en-MY"/>
          </a:p>
        </p:txBody>
      </p:sp>
    </p:spTree>
    <p:extLst>
      <p:ext uri="{BB962C8B-B14F-4D97-AF65-F5344CB8AC3E}">
        <p14:creationId xmlns:p14="http://schemas.microsoft.com/office/powerpoint/2010/main" val="5153601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6E1B1783-DD29-D303-55B8-345881D310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2881C7-97C6-0CFE-2EB3-9A9B17EA76F3}"/>
              </a:ext>
            </a:extLst>
          </p:cNvPr>
          <p:cNvSpPr>
            <a:spLocks noGrp="1"/>
          </p:cNvSpPr>
          <p:nvPr>
            <p:ph type="title"/>
          </p:nvPr>
        </p:nvSpPr>
        <p:spPr>
          <a:xfrm>
            <a:off x="838200" y="365125"/>
            <a:ext cx="10515600" cy="1325563"/>
          </a:xfrm>
        </p:spPr>
        <p:txBody>
          <a:bodyPr>
            <a:noAutofit/>
          </a:bodyPr>
          <a:lstStyle/>
          <a:p>
            <a:r>
              <a:rPr lang="en-MY" sz="3200" dirty="0"/>
              <a:t>LAB 3C: Understanding correlation between Estate Production and Refinery Purchases datasets</a:t>
            </a:r>
          </a:p>
        </p:txBody>
      </p:sp>
      <p:sp>
        <p:nvSpPr>
          <p:cNvPr id="3" name="Content Placeholder 2">
            <a:extLst>
              <a:ext uri="{FF2B5EF4-FFF2-40B4-BE49-F238E27FC236}">
                <a16:creationId xmlns:a16="http://schemas.microsoft.com/office/drawing/2014/main" id="{903BF71B-AEE7-A664-6EF1-11EAD5D59995}"/>
              </a:ext>
            </a:extLst>
          </p:cNvPr>
          <p:cNvSpPr>
            <a:spLocks noGrp="1"/>
          </p:cNvSpPr>
          <p:nvPr>
            <p:ph idx="1"/>
          </p:nvPr>
        </p:nvSpPr>
        <p:spPr>
          <a:xfrm>
            <a:off x="838200" y="1825625"/>
            <a:ext cx="10515600" cy="4351338"/>
          </a:xfrm>
        </p:spPr>
        <p:txBody>
          <a:bodyPr>
            <a:noAutofit/>
          </a:bodyPr>
          <a:lstStyle/>
          <a:p>
            <a:pPr marL="0" indent="0">
              <a:lnSpc>
                <a:spcPct val="160000"/>
              </a:lnSpc>
              <a:spcBef>
                <a:spcPts val="600"/>
              </a:spcBef>
              <a:spcAft>
                <a:spcPts val="600"/>
              </a:spcAft>
              <a:buNone/>
            </a:pPr>
            <a:r>
              <a:rPr lang="en-MY" sz="2400" b="1" kern="100" dirty="0">
                <a:latin typeface="Aptos" panose="020B0004020202020204" pitchFamily="34" charset="0"/>
                <a:ea typeface="Aptos" panose="020B0004020202020204" pitchFamily="34" charset="0"/>
                <a:cs typeface="Times New Roman" panose="02020603050405020304" pitchFamily="18" charset="0"/>
              </a:rPr>
              <a:t>YOUR TASK</a:t>
            </a:r>
          </a:p>
          <a:p>
            <a:pPr>
              <a:lnSpc>
                <a:spcPct val="160000"/>
              </a:lnSpc>
              <a:spcBef>
                <a:spcPts val="600"/>
              </a:spcBef>
              <a:spcAft>
                <a:spcPts val="600"/>
              </a:spcAft>
            </a:pPr>
            <a:r>
              <a:rPr lang="en-MY" sz="2000" kern="100" dirty="0">
                <a:effectLst/>
                <a:latin typeface="Aptos" panose="020B0004020202020204" pitchFamily="34" charset="0"/>
                <a:ea typeface="Aptos" panose="020B0004020202020204" pitchFamily="34" charset="0"/>
                <a:cs typeface="Times New Roman" panose="02020603050405020304" pitchFamily="18" charset="0"/>
              </a:rPr>
              <a:t>Using the same data model, create </a:t>
            </a:r>
            <a:r>
              <a:rPr lang="en-MY" sz="2000" kern="100" dirty="0">
                <a:effectLst/>
                <a:latin typeface="Consolas" panose="020B0609020204030204" pitchFamily="49" charset="0"/>
                <a:ea typeface="Aptos" panose="020B0004020202020204" pitchFamily="34" charset="0"/>
                <a:cs typeface="Times New Roman" panose="02020603050405020304" pitchFamily="18" charset="0"/>
              </a:rPr>
              <a:t>[</a:t>
            </a:r>
            <a:r>
              <a:rPr lang="en-MY" sz="2000" kern="100" dirty="0">
                <a:solidFill>
                  <a:srgbClr val="28377A"/>
                </a:solidFill>
                <a:effectLst/>
                <a:latin typeface="Consolas" panose="020B0609020204030204" pitchFamily="49" charset="0"/>
                <a:ea typeface="Aptos" panose="020B0004020202020204" pitchFamily="34" charset="0"/>
                <a:cs typeface="Times New Roman" panose="02020603050405020304" pitchFamily="18" charset="0"/>
              </a:rPr>
              <a:t>yield</a:t>
            </a:r>
            <a:r>
              <a:rPr lang="en-MY" sz="2000" kern="100" dirty="0">
                <a:effectLst/>
                <a:latin typeface="Consolas" panose="020B0609020204030204" pitchFamily="49" charset="0"/>
                <a:ea typeface="Aptos" panose="020B0004020202020204" pitchFamily="34" charset="0"/>
                <a:cs typeface="Times New Roman" panose="02020603050405020304" pitchFamily="18" charset="0"/>
              </a:rPr>
              <a:t>]</a:t>
            </a:r>
            <a:r>
              <a:rPr lang="en-MY" sz="2000" kern="100" dirty="0">
                <a:effectLst/>
                <a:latin typeface="Aptos" panose="020B0004020202020204" pitchFamily="34" charset="0"/>
                <a:ea typeface="Aptos" panose="020B0004020202020204" pitchFamily="34" charset="0"/>
                <a:cs typeface="Times New Roman" panose="02020603050405020304" pitchFamily="18" charset="0"/>
              </a:rPr>
              <a:t> measure for Production dataset</a:t>
            </a:r>
          </a:p>
          <a:p>
            <a:pPr>
              <a:lnSpc>
                <a:spcPct val="160000"/>
              </a:lnSpc>
              <a:spcBef>
                <a:spcPts val="600"/>
              </a:spcBef>
              <a:spcAft>
                <a:spcPts val="600"/>
              </a:spcAft>
            </a:pPr>
            <a:r>
              <a:rPr lang="en-MY" sz="2000" kern="100" dirty="0">
                <a:effectLst/>
                <a:latin typeface="Aptos" panose="020B0004020202020204" pitchFamily="34" charset="0"/>
                <a:ea typeface="Aptos" panose="020B0004020202020204" pitchFamily="34" charset="0"/>
                <a:cs typeface="Times New Roman" panose="02020603050405020304" pitchFamily="18" charset="0"/>
              </a:rPr>
              <a:t>Visual profiling (histograms, scatterplots)</a:t>
            </a:r>
          </a:p>
          <a:p>
            <a:pPr>
              <a:lnSpc>
                <a:spcPct val="160000"/>
              </a:lnSpc>
              <a:spcBef>
                <a:spcPts val="600"/>
              </a:spcBef>
              <a:spcAft>
                <a:spcPts val="600"/>
              </a:spcAft>
            </a:pPr>
            <a:r>
              <a:rPr lang="en-MY" sz="2000" kern="100" dirty="0">
                <a:latin typeface="Aptos" panose="020B0004020202020204" pitchFamily="34" charset="0"/>
                <a:ea typeface="Aptos" panose="020B0004020202020204" pitchFamily="34" charset="0"/>
                <a:cs typeface="Times New Roman" panose="02020603050405020304" pitchFamily="18" charset="0"/>
              </a:rPr>
              <a:t>Discuss findings, Q&amp;A</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D2A88E1-D8CC-9541-0084-D4BBB5CCB2B7}"/>
              </a:ext>
            </a:extLst>
          </p:cNvPr>
          <p:cNvSpPr>
            <a:spLocks noGrp="1"/>
          </p:cNvSpPr>
          <p:nvPr>
            <p:ph type="sldNum" sz="quarter" idx="12"/>
          </p:nvPr>
        </p:nvSpPr>
        <p:spPr/>
        <p:txBody>
          <a:bodyPr/>
          <a:lstStyle/>
          <a:p>
            <a:fld id="{499D393E-937C-43AF-8286-1304B3D101C1}" type="slidenum">
              <a:rPr lang="en-MY" smtClean="0"/>
              <a:t>55</a:t>
            </a:fld>
            <a:endParaRPr lang="en-MY"/>
          </a:p>
        </p:txBody>
      </p:sp>
    </p:spTree>
    <p:extLst>
      <p:ext uri="{BB962C8B-B14F-4D97-AF65-F5344CB8AC3E}">
        <p14:creationId xmlns:p14="http://schemas.microsoft.com/office/powerpoint/2010/main" val="28080803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BE15821C-F6F8-2DE4-3A67-F40D967716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2964FA-79D6-C7CB-F4FD-8FFFC87C257A}"/>
              </a:ext>
            </a:extLst>
          </p:cNvPr>
          <p:cNvSpPr>
            <a:spLocks noGrp="1"/>
          </p:cNvSpPr>
          <p:nvPr>
            <p:ph type="title"/>
          </p:nvPr>
        </p:nvSpPr>
        <p:spPr/>
        <p:txBody>
          <a:bodyPr>
            <a:normAutofit/>
          </a:bodyPr>
          <a:lstStyle/>
          <a:p>
            <a:r>
              <a:rPr lang="en-US" dirty="0"/>
              <a:t>LAB 4A: Build a DAX-driven report</a:t>
            </a:r>
            <a:br>
              <a:rPr lang="en-US" dirty="0"/>
            </a:br>
            <a:r>
              <a:rPr lang="en-US" dirty="0"/>
              <a:t>(Sales Trend)</a:t>
            </a:r>
            <a:endParaRPr lang="en-MY" dirty="0"/>
          </a:p>
        </p:txBody>
      </p:sp>
      <p:sp>
        <p:nvSpPr>
          <p:cNvPr id="3" name="Content Placeholder 2">
            <a:extLst>
              <a:ext uri="{FF2B5EF4-FFF2-40B4-BE49-F238E27FC236}">
                <a16:creationId xmlns:a16="http://schemas.microsoft.com/office/drawing/2014/main" id="{3DE7BF89-33EE-7AAD-0A91-59675CB66633}"/>
              </a:ext>
            </a:extLst>
          </p:cNvPr>
          <p:cNvSpPr>
            <a:spLocks noGrp="1"/>
          </p:cNvSpPr>
          <p:nvPr>
            <p:ph idx="1"/>
          </p:nvPr>
        </p:nvSpPr>
        <p:spPr/>
        <p:txBody>
          <a:bodyPr/>
          <a:lstStyle/>
          <a:p>
            <a:pPr marL="342900" lvl="0" indent="-342900">
              <a:lnSpc>
                <a:spcPct val="107000"/>
              </a:lnSpc>
              <a:spcBef>
                <a:spcPts val="600"/>
              </a:spcBef>
              <a:spcAft>
                <a:spcPts val="600"/>
              </a:spcAft>
              <a:buFont typeface="Symbol" panose="05050102010706020507" pitchFamily="18" charset="2"/>
              <a:buChar char=""/>
            </a:pPr>
            <a:r>
              <a:rPr lang="en-MY" sz="1800" kern="100" dirty="0">
                <a:effectLst/>
                <a:latin typeface="Aptos" panose="020B0004020202020204" pitchFamily="34" charset="0"/>
                <a:ea typeface="Aptos" panose="020B0004020202020204" pitchFamily="34" charset="0"/>
                <a:cs typeface="Times New Roman" panose="02020603050405020304" pitchFamily="18" charset="0"/>
              </a:rPr>
              <a:t>Calculation of ratios, change metrics, rolling averages beyond simple measures</a:t>
            </a:r>
          </a:p>
        </p:txBody>
      </p:sp>
      <p:sp>
        <p:nvSpPr>
          <p:cNvPr id="4" name="Slide Number Placeholder 3">
            <a:extLst>
              <a:ext uri="{FF2B5EF4-FFF2-40B4-BE49-F238E27FC236}">
                <a16:creationId xmlns:a16="http://schemas.microsoft.com/office/drawing/2014/main" id="{8F4651A4-E4DC-2C61-8AA7-EE5E4C9364A8}"/>
              </a:ext>
            </a:extLst>
          </p:cNvPr>
          <p:cNvSpPr>
            <a:spLocks noGrp="1"/>
          </p:cNvSpPr>
          <p:nvPr>
            <p:ph type="sldNum" sz="quarter" idx="12"/>
          </p:nvPr>
        </p:nvSpPr>
        <p:spPr/>
        <p:txBody>
          <a:bodyPr/>
          <a:lstStyle/>
          <a:p>
            <a:fld id="{499D393E-937C-43AF-8286-1304B3D101C1}" type="slidenum">
              <a:rPr lang="en-MY" smtClean="0"/>
              <a:t>56</a:t>
            </a:fld>
            <a:endParaRPr lang="en-MY"/>
          </a:p>
        </p:txBody>
      </p:sp>
    </p:spTree>
    <p:extLst>
      <p:ext uri="{BB962C8B-B14F-4D97-AF65-F5344CB8AC3E}">
        <p14:creationId xmlns:p14="http://schemas.microsoft.com/office/powerpoint/2010/main" val="19074383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BA5B1-BE40-A2E8-EBC6-2C68B7422382}"/>
              </a:ext>
            </a:extLst>
          </p:cNvPr>
          <p:cNvSpPr>
            <a:spLocks noGrp="1"/>
          </p:cNvSpPr>
          <p:nvPr>
            <p:ph type="title"/>
          </p:nvPr>
        </p:nvSpPr>
        <p:spPr/>
        <p:txBody>
          <a:bodyPr>
            <a:normAutofit/>
          </a:bodyPr>
          <a:lstStyle/>
          <a:p>
            <a:r>
              <a:rPr lang="en-US" dirty="0"/>
              <a:t>LAB 4B: Build a DAX-driven report</a:t>
            </a:r>
            <a:br>
              <a:rPr lang="en-US" dirty="0"/>
            </a:br>
            <a:r>
              <a:rPr lang="en-US" dirty="0"/>
              <a:t>(RFM, cohort logic)</a:t>
            </a:r>
            <a:endParaRPr lang="en-MY" dirty="0"/>
          </a:p>
        </p:txBody>
      </p:sp>
      <p:sp>
        <p:nvSpPr>
          <p:cNvPr id="3" name="Content Placeholder 2">
            <a:extLst>
              <a:ext uri="{FF2B5EF4-FFF2-40B4-BE49-F238E27FC236}">
                <a16:creationId xmlns:a16="http://schemas.microsoft.com/office/drawing/2014/main" id="{3359A413-8089-5C42-6985-81D30F7B7FC1}"/>
              </a:ext>
            </a:extLst>
          </p:cNvPr>
          <p:cNvSpPr>
            <a:spLocks noGrp="1"/>
          </p:cNvSpPr>
          <p:nvPr>
            <p:ph idx="1"/>
          </p:nvPr>
        </p:nvSpPr>
        <p:spPr/>
        <p:txBody>
          <a:bodyPr/>
          <a:lstStyle/>
          <a:p>
            <a:pPr marL="342900" lvl="0" indent="-342900">
              <a:lnSpc>
                <a:spcPct val="107000"/>
              </a:lnSpc>
              <a:spcBef>
                <a:spcPts val="600"/>
              </a:spcBef>
              <a:spcAft>
                <a:spcPts val="600"/>
              </a:spcAft>
              <a:buFont typeface="Symbol" panose="05050102010706020507" pitchFamily="18" charset="2"/>
              <a:buChar char=""/>
            </a:pPr>
            <a:r>
              <a:rPr lang="en-MY" sz="1800" kern="100" dirty="0">
                <a:effectLst/>
                <a:latin typeface="Aptos" panose="020B0004020202020204" pitchFamily="34" charset="0"/>
                <a:ea typeface="Aptos" panose="020B0004020202020204" pitchFamily="34" charset="0"/>
                <a:cs typeface="Times New Roman" panose="02020603050405020304" pitchFamily="18" charset="0"/>
              </a:rPr>
              <a:t>Nested IFs, SWITCH, custom ranking logic</a:t>
            </a:r>
          </a:p>
          <a:p>
            <a:pPr marL="342900" lvl="0" indent="-342900">
              <a:lnSpc>
                <a:spcPct val="107000"/>
              </a:lnSpc>
              <a:spcBef>
                <a:spcPts val="600"/>
              </a:spcBef>
              <a:spcAft>
                <a:spcPts val="600"/>
              </a:spcAft>
              <a:buFont typeface="Symbol" panose="05050102010706020507" pitchFamily="18" charset="2"/>
              <a:buChar char=""/>
            </a:pPr>
            <a:r>
              <a:rPr lang="en-MY" sz="1800" kern="100" dirty="0">
                <a:effectLst/>
                <a:latin typeface="Aptos" panose="020B0004020202020204" pitchFamily="34" charset="0"/>
                <a:ea typeface="Aptos" panose="020B0004020202020204" pitchFamily="34" charset="0"/>
                <a:cs typeface="Times New Roman" panose="02020603050405020304" pitchFamily="18" charset="0"/>
              </a:rPr>
              <a:t>Calculation of ratios, change metrics, rolling averages beyond simple measures</a:t>
            </a:r>
          </a:p>
          <a:p>
            <a:pPr marL="342900" lvl="0" indent="-342900">
              <a:lnSpc>
                <a:spcPct val="107000"/>
              </a:lnSpc>
              <a:spcBef>
                <a:spcPts val="600"/>
              </a:spcBef>
              <a:spcAft>
                <a:spcPts val="600"/>
              </a:spcAft>
              <a:buFont typeface="Symbol" panose="05050102010706020507" pitchFamily="18" charset="2"/>
              <a:buChar char=""/>
            </a:pPr>
            <a:r>
              <a:rPr lang="en-MY" sz="1800" kern="100" dirty="0">
                <a:effectLst/>
                <a:latin typeface="Aptos" panose="020B0004020202020204" pitchFamily="34" charset="0"/>
                <a:ea typeface="Aptos" panose="020B0004020202020204" pitchFamily="34" charset="0"/>
                <a:cs typeface="Times New Roman" panose="02020603050405020304" pitchFamily="18" charset="0"/>
              </a:rPr>
              <a:t>Creating logic for market basket insights</a:t>
            </a:r>
          </a:p>
        </p:txBody>
      </p:sp>
      <p:sp>
        <p:nvSpPr>
          <p:cNvPr id="4" name="Slide Number Placeholder 3">
            <a:extLst>
              <a:ext uri="{FF2B5EF4-FFF2-40B4-BE49-F238E27FC236}">
                <a16:creationId xmlns:a16="http://schemas.microsoft.com/office/drawing/2014/main" id="{06F15614-1E4A-FD0D-4CCF-084A7D283452}"/>
              </a:ext>
            </a:extLst>
          </p:cNvPr>
          <p:cNvSpPr>
            <a:spLocks noGrp="1"/>
          </p:cNvSpPr>
          <p:nvPr>
            <p:ph type="sldNum" sz="quarter" idx="12"/>
          </p:nvPr>
        </p:nvSpPr>
        <p:spPr/>
        <p:txBody>
          <a:bodyPr/>
          <a:lstStyle/>
          <a:p>
            <a:fld id="{499D393E-937C-43AF-8286-1304B3D101C1}" type="slidenum">
              <a:rPr lang="en-MY" smtClean="0"/>
              <a:t>57</a:t>
            </a:fld>
            <a:endParaRPr lang="en-MY"/>
          </a:p>
        </p:txBody>
      </p:sp>
    </p:spTree>
    <p:extLst>
      <p:ext uri="{BB962C8B-B14F-4D97-AF65-F5344CB8AC3E}">
        <p14:creationId xmlns:p14="http://schemas.microsoft.com/office/powerpoint/2010/main" val="6133163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bb255a0-ad92-4173-a1c1-b65c770fd657}" enabled="0" method="" siteId="{4bb255a0-ad92-4173-a1c1-b65c770fd657}" removed="1"/>
</clbl:labelList>
</file>

<file path=docProps/app.xml><?xml version="1.0" encoding="utf-8"?>
<Properties xmlns="http://schemas.openxmlformats.org/officeDocument/2006/extended-properties" xmlns:vt="http://schemas.openxmlformats.org/officeDocument/2006/docPropsVTypes">
  <Template>TM03457515[[fn=View]]</Template>
  <TotalTime>6782</TotalTime>
  <Words>5264</Words>
  <Application>Microsoft Office PowerPoint</Application>
  <PresentationFormat>Widescreen</PresentationFormat>
  <Paragraphs>571</Paragraphs>
  <Slides>57</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Aptos</vt:lpstr>
      <vt:lpstr>Aptos Display</vt:lpstr>
      <vt:lpstr>Arial</vt:lpstr>
      <vt:lpstr>Calibri</vt:lpstr>
      <vt:lpstr>Cambria Math</vt:lpstr>
      <vt:lpstr>Consolas</vt:lpstr>
      <vt:lpstr>Symbol</vt:lpstr>
      <vt:lpstr>Office Theme</vt:lpstr>
      <vt:lpstr>Basic Statistics with Power BI for Data Translators</vt:lpstr>
      <vt:lpstr>MILESTONE 1 AGENDA</vt:lpstr>
      <vt:lpstr>What is statistics?</vt:lpstr>
      <vt:lpstr>Important roles &amp; responsibilities of data translators / business analysts</vt:lpstr>
      <vt:lpstr>Types of Data Analysis</vt:lpstr>
      <vt:lpstr>Measures of central tendency</vt:lpstr>
      <vt:lpstr>Measures of central tendency</vt:lpstr>
      <vt:lpstr>CLU1 – Arithmetic Average</vt:lpstr>
      <vt:lpstr>CLU2 – Median</vt:lpstr>
      <vt:lpstr>CLU3 - Mode</vt:lpstr>
      <vt:lpstr>About harmonic mean &amp; weighted mean</vt:lpstr>
      <vt:lpstr>CLU4 – Harmonic mean</vt:lpstr>
      <vt:lpstr>CLU5 – Weighted mean</vt:lpstr>
      <vt:lpstr>What is a “normal” distribution?</vt:lpstr>
      <vt:lpstr>About standard deviation (σ) and kurtosis</vt:lpstr>
      <vt:lpstr>LAB 1A: Applying measures of central tendency to a copper wire production dataset</vt:lpstr>
      <vt:lpstr>LAB 1A: Applying measures of central tendency to a copper wire production dataset</vt:lpstr>
      <vt:lpstr>LAB 1A: Applying measures of central tendency to a copper wire production dataset</vt:lpstr>
      <vt:lpstr>Regression analysis (ŷ)</vt:lpstr>
      <vt:lpstr>Simple Linear Regression Model</vt:lpstr>
      <vt:lpstr>Simple Linear Regression Equation</vt:lpstr>
      <vt:lpstr>LAB 1B: Calculating simple regression model of copper wire production dataset</vt:lpstr>
      <vt:lpstr>LAB 1B: Calculating simple regression model of copper wire production dataset</vt:lpstr>
      <vt:lpstr>Coefficient of determinant (R^2)</vt:lpstr>
      <vt:lpstr>Correlation coefficient (r)</vt:lpstr>
      <vt:lpstr>LAB 1C: Calculating coefficient of determinant and correlation coefficient of copper wire production dataset</vt:lpstr>
      <vt:lpstr>Clustering vs classification</vt:lpstr>
      <vt:lpstr>Classification (k-NN)</vt:lpstr>
      <vt:lpstr>K-NN algorithm at work: Geo-clustering case study</vt:lpstr>
      <vt:lpstr>K-means at work: Lookalike (LAL) Marketing Case Study</vt:lpstr>
      <vt:lpstr>Forecasting</vt:lpstr>
      <vt:lpstr>Simple Linear Regression as a Forecasting Tool</vt:lpstr>
      <vt:lpstr>Simple Moving Averages (SMA)</vt:lpstr>
      <vt:lpstr>SMA in action</vt:lpstr>
      <vt:lpstr>Weighted Moving Averages (WMA)</vt:lpstr>
      <vt:lpstr>LAB 2: Forecasting retail sales value of beverages</vt:lpstr>
      <vt:lpstr>MILESTONE 2 AGENDA</vt:lpstr>
      <vt:lpstr>Setting expectations from this module onwards…</vt:lpstr>
      <vt:lpstr>DAX Patterns – Averages</vt:lpstr>
      <vt:lpstr>DAX Patterns – Simple Moving Average (Bounded)</vt:lpstr>
      <vt:lpstr>DAX Patterns – Mode</vt:lpstr>
      <vt:lpstr>LAB 3A: Building a semantic model using SDG datasets</vt:lpstr>
      <vt:lpstr>What is Box &amp; Whiskers?</vt:lpstr>
      <vt:lpstr>What is Box &amp; Whiskers for?</vt:lpstr>
      <vt:lpstr>DAX Patterns for Box &amp; Whiskers</vt:lpstr>
      <vt:lpstr>LAB 3B: Understanding spread &amp; identifying anomalies in Crude Palm Oil Refinery (Purchases) Dataset</vt:lpstr>
      <vt:lpstr>LAB 3B: Creating boxplot in Power BI (1/7 – Set up)</vt:lpstr>
      <vt:lpstr>LAB 3B: Creating boxplot in Power BI (2/7 – Including error bars for whiskers)</vt:lpstr>
      <vt:lpstr>LAB 3B: Creating boxplot in Power BI (3/7 – Stacking columns)</vt:lpstr>
      <vt:lpstr>LAB 3B: Creating boxplot in Power BI (4/7 – Rename legends)</vt:lpstr>
      <vt:lpstr>LAB 3B: Creating boxplot in Power BI (5/7 – Customise y-max)</vt:lpstr>
      <vt:lpstr>LAB 3B: Creating boxplot in Power BI (6/7 – Create dynamic y-axes)</vt:lpstr>
      <vt:lpstr>LAB 3B: Creating boxplot in Power BI (7/7 – Splitting IQR into 2 segments)</vt:lpstr>
      <vt:lpstr>MILESTONE 3 AGENDA</vt:lpstr>
      <vt:lpstr>LAB 3C: Understanding correlation between Estate Production and Refinery Purchases datasets</vt:lpstr>
      <vt:lpstr>LAB 4A: Build a DAX-driven report (Sales Trend)</vt:lpstr>
      <vt:lpstr>LAB 4B: Build a DAX-driven report (RFM, cohort logic)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Statistics with Power BI for Data Translators</dc:title>
  <dc:creator>Alex Ooi</dc:creator>
  <cp:lastModifiedBy>Alex Ooi</cp:lastModifiedBy>
  <cp:revision>4</cp:revision>
  <dcterms:created xsi:type="dcterms:W3CDTF">2025-05-11T07:26:52Z</dcterms:created>
  <dcterms:modified xsi:type="dcterms:W3CDTF">2026-05-17T13:42:15Z</dcterms:modified>
</cp:coreProperties>
</file>